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8" r:id="rId3"/>
    <p:sldId id="272" r:id="rId4"/>
    <p:sldId id="273" r:id="rId5"/>
    <p:sldId id="274" r:id="rId6"/>
    <p:sldId id="275" r:id="rId7"/>
    <p:sldId id="276" r:id="rId8"/>
    <p:sldId id="277" r:id="rId9"/>
    <p:sldId id="284" r:id="rId10"/>
    <p:sldId id="285" r:id="rId11"/>
    <p:sldId id="286" r:id="rId12"/>
    <p:sldId id="287" r:id="rId13"/>
    <p:sldId id="288" r:id="rId14"/>
    <p:sldId id="270" r:id="rId15"/>
    <p:sldId id="293" r:id="rId16"/>
    <p:sldId id="265"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134EC1"/>
    <a:srgbClr val="D495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2"/>
    <p:restoredTop sz="87483"/>
  </p:normalViewPr>
  <p:slideViewPr>
    <p:cSldViewPr snapToGrid="0" snapToObjects="1">
      <p:cViewPr varScale="1">
        <p:scale>
          <a:sx n="93" d="100"/>
          <a:sy n="93" d="100"/>
        </p:scale>
        <p:origin x="278" y="53"/>
      </p:cViewPr>
      <p:guideLst>
        <p:guide orient="horz" pos="2160"/>
        <p:guide pos="39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F8645D-7094-454A-9272-DBF2E8D56680}" type="datetimeFigureOut">
              <a:rPr kumimoji="1" lang="ja-JP" altLang="en-US" smtClean="0"/>
              <a:t>2026/2/16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ACA35-4236-754B-83C3-BD6D1D3ABF4D}" type="slidenum">
              <a:rPr kumimoji="1" lang="ja-JP" altLang="en-US" smtClean="0"/>
              <a:t>‹#›</a:t>
            </a:fld>
            <a:endParaRPr kumimoji="1" lang="ja-JP" altLang="en-US"/>
          </a:p>
        </p:txBody>
      </p:sp>
    </p:spTree>
    <p:extLst>
      <p:ext uri="{BB962C8B-B14F-4D97-AF65-F5344CB8AC3E}">
        <p14:creationId xmlns:p14="http://schemas.microsoft.com/office/powerpoint/2010/main" val="5811279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1</a:t>
            </a:fld>
            <a:endParaRPr kumimoji="1" lang="ja-JP" altLang="en-US"/>
          </a:p>
        </p:txBody>
      </p:sp>
    </p:spTree>
    <p:extLst>
      <p:ext uri="{BB962C8B-B14F-4D97-AF65-F5344CB8AC3E}">
        <p14:creationId xmlns:p14="http://schemas.microsoft.com/office/powerpoint/2010/main" val="2466371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2</a:t>
            </a:fld>
            <a:endParaRPr kumimoji="1" lang="ja-JP" altLang="en-US"/>
          </a:p>
        </p:txBody>
      </p:sp>
    </p:spTree>
    <p:extLst>
      <p:ext uri="{BB962C8B-B14F-4D97-AF65-F5344CB8AC3E}">
        <p14:creationId xmlns:p14="http://schemas.microsoft.com/office/powerpoint/2010/main" val="3459135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3</a:t>
            </a:fld>
            <a:endParaRPr kumimoji="1" lang="ja-JP" altLang="en-US"/>
          </a:p>
        </p:txBody>
      </p:sp>
    </p:spTree>
    <p:extLst>
      <p:ext uri="{BB962C8B-B14F-4D97-AF65-F5344CB8AC3E}">
        <p14:creationId xmlns:p14="http://schemas.microsoft.com/office/powerpoint/2010/main" val="613753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各業務要件毎に說明、フロー図などを作ることもある。</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4</a:t>
            </a:fld>
            <a:endParaRPr kumimoji="1" lang="ja-JP" altLang="en-US"/>
          </a:p>
        </p:txBody>
      </p:sp>
    </p:spTree>
    <p:extLst>
      <p:ext uri="{BB962C8B-B14F-4D97-AF65-F5344CB8AC3E}">
        <p14:creationId xmlns:p14="http://schemas.microsoft.com/office/powerpoint/2010/main" val="2949749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ここでは一覧にしているが、</a:t>
            </a:r>
            <a:r>
              <a:rPr kumimoji="1" lang="en-US" altLang="ja-JP" dirty="0"/>
              <a:t>UI</a:t>
            </a:r>
            <a:r>
              <a:rPr kumimoji="1" lang="ja-JP" altLang="en-US"/>
              <a:t>や帳票など、目に見えるものを「外部機能要件」、</a:t>
            </a:r>
            <a:r>
              <a:rPr kumimoji="1" lang="en-US" altLang="ja-JP" dirty="0"/>
              <a:t>API</a:t>
            </a:r>
            <a:r>
              <a:rPr kumimoji="1" lang="ja-JP" altLang="en-US"/>
              <a:t>やバッチなど、目に見えないものを「内部機能要件」として定義するのが一般的。</a:t>
            </a:r>
            <a:br>
              <a:rPr kumimoji="1" lang="en-US" altLang="ja-JP" dirty="0"/>
            </a:br>
            <a:r>
              <a:rPr kumimoji="1" lang="ja-JP" altLang="en-US"/>
              <a:t>各機能毎に說明資料、フロー図などをつくることもある。</a:t>
            </a:r>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6</a:t>
            </a:fld>
            <a:endParaRPr kumimoji="1" lang="ja-JP" altLang="en-US"/>
          </a:p>
        </p:txBody>
      </p:sp>
    </p:spTree>
    <p:extLst>
      <p:ext uri="{BB962C8B-B14F-4D97-AF65-F5344CB8AC3E}">
        <p14:creationId xmlns:p14="http://schemas.microsoft.com/office/powerpoint/2010/main" val="4166164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 altLang="ja-JP" sz="1200" b="0" i="0" kern="1200" dirty="0">
                <a:solidFill>
                  <a:schemeClr val="tx1"/>
                </a:solidFill>
                <a:effectLst/>
                <a:latin typeface="+mn-lt"/>
                <a:ea typeface="+mn-ea"/>
                <a:cs typeface="+mn-cs"/>
              </a:rPr>
              <a:t>FURPS+,RASIS,</a:t>
            </a:r>
            <a:r>
              <a:rPr kumimoji="1" lang="ja-JP" altLang="en-US" sz="1200" b="0" i="0" kern="1200">
                <a:solidFill>
                  <a:schemeClr val="tx1"/>
                </a:solidFill>
                <a:effectLst/>
                <a:latin typeface="+mn-lt"/>
                <a:ea typeface="+mn-ea"/>
                <a:cs typeface="+mn-cs"/>
              </a:rPr>
              <a:t> </a:t>
            </a:r>
            <a:r>
              <a:rPr kumimoji="1" lang="en" altLang="ja-JP" sz="1200" b="0" i="0" kern="1200" dirty="0">
                <a:solidFill>
                  <a:schemeClr val="tx1"/>
                </a:solidFill>
                <a:effectLst/>
                <a:latin typeface="+mn-lt"/>
                <a:ea typeface="+mn-ea"/>
                <a:cs typeface="+mn-cs"/>
              </a:rPr>
              <a:t>JIS X25010</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2013(ISO/IEC 25010</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2011) </a:t>
            </a:r>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8</a:t>
            </a:fld>
            <a:endParaRPr kumimoji="1" lang="ja-JP" altLang="en-US"/>
          </a:p>
        </p:txBody>
      </p:sp>
    </p:spTree>
    <p:extLst>
      <p:ext uri="{BB962C8B-B14F-4D97-AF65-F5344CB8AC3E}">
        <p14:creationId xmlns:p14="http://schemas.microsoft.com/office/powerpoint/2010/main" val="1734448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9</a:t>
            </a:fld>
            <a:endParaRPr kumimoji="1" lang="ja-JP" altLang="en-US"/>
          </a:p>
        </p:txBody>
      </p:sp>
    </p:spTree>
    <p:extLst>
      <p:ext uri="{BB962C8B-B14F-4D97-AF65-F5344CB8AC3E}">
        <p14:creationId xmlns:p14="http://schemas.microsoft.com/office/powerpoint/2010/main" val="4270488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10</a:t>
            </a:fld>
            <a:endParaRPr kumimoji="1" lang="ja-JP" altLang="en-US"/>
          </a:p>
        </p:txBody>
      </p:sp>
    </p:spTree>
    <p:extLst>
      <p:ext uri="{BB962C8B-B14F-4D97-AF65-F5344CB8AC3E}">
        <p14:creationId xmlns:p14="http://schemas.microsoft.com/office/powerpoint/2010/main" val="74597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 altLang="ja-JP" dirty="0"/>
              <a:t>https://</a:t>
            </a:r>
            <a:r>
              <a:rPr kumimoji="1" lang="en" altLang="ja-JP" dirty="0" err="1"/>
              <a:t>www.ipa.go.jp</a:t>
            </a:r>
            <a:r>
              <a:rPr kumimoji="1" lang="en" altLang="ja-JP" dirty="0"/>
              <a:t>/security/vuln/</a:t>
            </a:r>
            <a:r>
              <a:rPr kumimoji="1" lang="en" altLang="ja-JP" dirty="0" err="1"/>
              <a:t>websecurity.html</a:t>
            </a:r>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11</a:t>
            </a:fld>
            <a:endParaRPr kumimoji="1" lang="ja-JP" altLang="en-US"/>
          </a:p>
        </p:txBody>
      </p:sp>
    </p:spTree>
    <p:extLst>
      <p:ext uri="{BB962C8B-B14F-4D97-AF65-F5344CB8AC3E}">
        <p14:creationId xmlns:p14="http://schemas.microsoft.com/office/powerpoint/2010/main" val="2403987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 altLang="ja-JP" sz="1200" b="0" i="0" kern="1200" dirty="0">
                <a:solidFill>
                  <a:schemeClr val="tx1"/>
                </a:solidFill>
                <a:effectLst/>
                <a:latin typeface="+mn-lt"/>
                <a:ea typeface="+mn-ea"/>
                <a:cs typeface="+mn-cs"/>
              </a:rPr>
              <a:t>FURPS+</a:t>
            </a:r>
            <a:r>
              <a:rPr kumimoji="1" lang="ja-JP" altLang="en-US" sz="1200" b="0" i="0" kern="1200">
                <a:solidFill>
                  <a:schemeClr val="tx1"/>
                </a:solidFill>
                <a:effectLst/>
                <a:latin typeface="+mn-lt"/>
                <a:ea typeface="+mn-ea"/>
                <a:cs typeface="+mn-cs"/>
              </a:rPr>
              <a:t>や</a:t>
            </a:r>
            <a:r>
              <a:rPr kumimoji="1" lang="en" altLang="ja-JP" sz="1200" b="0" i="0" kern="1200" dirty="0">
                <a:solidFill>
                  <a:schemeClr val="tx1"/>
                </a:solidFill>
                <a:effectLst/>
                <a:latin typeface="+mn-lt"/>
                <a:ea typeface="+mn-ea"/>
                <a:cs typeface="+mn-cs"/>
              </a:rPr>
              <a:t>JIS X25010</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2013(ISO/IEC 25010</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2011) RASIS</a:t>
            </a:r>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12</a:t>
            </a:fld>
            <a:endParaRPr kumimoji="1" lang="ja-JP" altLang="en-US"/>
          </a:p>
        </p:txBody>
      </p:sp>
    </p:spTree>
    <p:extLst>
      <p:ext uri="{BB962C8B-B14F-4D97-AF65-F5344CB8AC3E}">
        <p14:creationId xmlns:p14="http://schemas.microsoft.com/office/powerpoint/2010/main" val="1181384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 altLang="ja-JP" sz="1200" b="0" i="0" kern="1200" dirty="0">
                <a:solidFill>
                  <a:schemeClr val="tx1"/>
                </a:solidFill>
                <a:effectLst/>
                <a:latin typeface="+mn-lt"/>
                <a:ea typeface="+mn-ea"/>
                <a:cs typeface="+mn-cs"/>
              </a:rPr>
              <a:t>FURPS+</a:t>
            </a:r>
            <a:r>
              <a:rPr kumimoji="1" lang="ja-JP" altLang="en-US" sz="1200" b="0" i="0" kern="1200">
                <a:solidFill>
                  <a:schemeClr val="tx1"/>
                </a:solidFill>
                <a:effectLst/>
                <a:latin typeface="+mn-lt"/>
                <a:ea typeface="+mn-ea"/>
                <a:cs typeface="+mn-cs"/>
              </a:rPr>
              <a:t>や</a:t>
            </a:r>
            <a:r>
              <a:rPr kumimoji="1" lang="en" altLang="ja-JP" sz="1200" b="0" i="0" kern="1200" dirty="0">
                <a:solidFill>
                  <a:schemeClr val="tx1"/>
                </a:solidFill>
                <a:effectLst/>
                <a:latin typeface="+mn-lt"/>
                <a:ea typeface="+mn-ea"/>
                <a:cs typeface="+mn-cs"/>
              </a:rPr>
              <a:t>JIS X25010</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2013(ISO/IEC 25010</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2011) RASIS</a:t>
            </a:r>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13</a:t>
            </a:fld>
            <a:endParaRPr kumimoji="1" lang="ja-JP" altLang="en-US"/>
          </a:p>
        </p:txBody>
      </p:sp>
    </p:spTree>
    <p:extLst>
      <p:ext uri="{BB962C8B-B14F-4D97-AF65-F5344CB8AC3E}">
        <p14:creationId xmlns:p14="http://schemas.microsoft.com/office/powerpoint/2010/main" val="894989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639ACA35-4236-754B-83C3-BD6D1D3ABF4D}" type="slidenum">
              <a:rPr kumimoji="1" lang="ja-JP" altLang="en-US" smtClean="0"/>
              <a:t>16</a:t>
            </a:fld>
            <a:endParaRPr kumimoji="1" lang="ja-JP" altLang="en-US"/>
          </a:p>
        </p:txBody>
      </p:sp>
    </p:spTree>
    <p:extLst>
      <p:ext uri="{BB962C8B-B14F-4D97-AF65-F5344CB8AC3E}">
        <p14:creationId xmlns:p14="http://schemas.microsoft.com/office/powerpoint/2010/main" val="939714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41784B-4C97-A842-A51F-E9FC1FC001DD}"/>
              </a:ext>
            </a:extLst>
          </p:cNvPr>
          <p:cNvSpPr>
            <a:spLocks noGrp="1"/>
          </p:cNvSpPr>
          <p:nvPr>
            <p:ph type="ctrTitle"/>
          </p:nvPr>
        </p:nvSpPr>
        <p:spPr>
          <a:xfrm>
            <a:off x="838200" y="2058886"/>
            <a:ext cx="10515598" cy="742857"/>
          </a:xfrm>
        </p:spPr>
        <p:txBody>
          <a:bodyPr anchor="ctr">
            <a:normAutofit/>
          </a:bodyPr>
          <a:lstStyle>
            <a:lvl1pPr algn="ctr">
              <a:defRPr sz="44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3B15453-7AA7-5F45-B574-393DFC7D296C}"/>
              </a:ext>
            </a:extLst>
          </p:cNvPr>
          <p:cNvSpPr>
            <a:spLocks noGrp="1"/>
          </p:cNvSpPr>
          <p:nvPr>
            <p:ph type="subTitle" idx="1" hasCustomPrompt="1"/>
          </p:nvPr>
        </p:nvSpPr>
        <p:spPr>
          <a:xfrm>
            <a:off x="1523999" y="3965714"/>
            <a:ext cx="9144000" cy="1655762"/>
          </a:xfrm>
        </p:spPr>
        <p:txBody>
          <a:bodyPr anchor="ct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en-US" altLang="ja-JP" dirty="0"/>
              <a:t>bluecode</a:t>
            </a:r>
            <a:r>
              <a:rPr kumimoji="1" lang="ja-JP" altLang="en-US"/>
              <a:t>株式会社</a:t>
            </a:r>
          </a:p>
        </p:txBody>
      </p:sp>
      <p:sp>
        <p:nvSpPr>
          <p:cNvPr id="4" name="日付プレースホルダー 3">
            <a:extLst>
              <a:ext uri="{FF2B5EF4-FFF2-40B4-BE49-F238E27FC236}">
                <a16:creationId xmlns:a16="http://schemas.microsoft.com/office/drawing/2014/main" id="{2AA1454B-EB1E-9D45-9C70-2971D0A16E5E}"/>
              </a:ext>
            </a:extLst>
          </p:cNvPr>
          <p:cNvSpPr>
            <a:spLocks noGrp="1"/>
          </p:cNvSpPr>
          <p:nvPr>
            <p:ph type="dt" sz="half" idx="10"/>
          </p:nvPr>
        </p:nvSpPr>
        <p:spPr>
          <a:xfrm>
            <a:off x="838200" y="6386830"/>
            <a:ext cx="2743200" cy="365125"/>
          </a:xfrm>
        </p:spPr>
        <p:txBody>
          <a:bodyPr/>
          <a:lstStyle/>
          <a:p>
            <a:fld id="{EC28EDEB-BADD-A949-A37D-344F76CBFC94}" type="datetime1">
              <a:rPr kumimoji="1" lang="ja-JP" altLang="en-US" smtClean="0"/>
              <a:t>2026/2/16</a:t>
            </a:fld>
            <a:endParaRPr kumimoji="1" lang="ja-JP" altLang="en-US"/>
          </a:p>
        </p:txBody>
      </p:sp>
      <p:sp>
        <p:nvSpPr>
          <p:cNvPr id="6" name="スライド番号プレースホルダー 5">
            <a:extLst>
              <a:ext uri="{FF2B5EF4-FFF2-40B4-BE49-F238E27FC236}">
                <a16:creationId xmlns:a16="http://schemas.microsoft.com/office/drawing/2014/main" id="{C8F4D7D2-2426-464B-8D7B-87C4EBB67D2E}"/>
              </a:ext>
            </a:extLst>
          </p:cNvPr>
          <p:cNvSpPr>
            <a:spLocks noGrp="1"/>
          </p:cNvSpPr>
          <p:nvPr>
            <p:ph type="sldNum" sz="quarter" idx="12"/>
          </p:nvPr>
        </p:nvSpPr>
        <p:spPr>
          <a:xfrm>
            <a:off x="8610600" y="6386830"/>
            <a:ext cx="2743200" cy="365125"/>
          </a:xfrm>
        </p:spPr>
        <p:txBody>
          <a:bodyPr/>
          <a:lstStyle/>
          <a:p>
            <a:fld id="{462052E6-07CA-9B46-B866-FDE18BF74505}"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683A8AF0-EEB5-6C4E-9263-64DC090B51F5}"/>
              </a:ext>
            </a:extLst>
          </p:cNvPr>
          <p:cNvSpPr/>
          <p:nvPr userDrawn="1"/>
        </p:nvSpPr>
        <p:spPr>
          <a:xfrm>
            <a:off x="838200" y="2801743"/>
            <a:ext cx="10515599" cy="70666"/>
          </a:xfrm>
          <a:prstGeom prst="rect">
            <a:avLst/>
          </a:prstGeom>
          <a:solidFill>
            <a:srgbClr val="134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フッター プレースホルダー 4">
            <a:extLst>
              <a:ext uri="{FF2B5EF4-FFF2-40B4-BE49-F238E27FC236}">
                <a16:creationId xmlns:a16="http://schemas.microsoft.com/office/drawing/2014/main" id="{3BF2BF30-7FDD-818C-A939-51A3D7AC2B74}"/>
              </a:ext>
            </a:extLst>
          </p:cNvPr>
          <p:cNvSpPr>
            <a:spLocks noGrp="1"/>
          </p:cNvSpPr>
          <p:nvPr>
            <p:ph type="ftr" sz="quarter" idx="11"/>
          </p:nvPr>
        </p:nvSpPr>
        <p:spPr>
          <a:xfrm>
            <a:off x="4038600" y="6386830"/>
            <a:ext cx="4114800" cy="365125"/>
          </a:xfrm>
        </p:spPr>
        <p:txBody>
          <a:bodyPr/>
          <a:lstStyle/>
          <a:p>
            <a:r>
              <a:rPr lang="en-US" altLang="ja-JP" dirty="0"/>
              <a:t>bluecode inc.</a:t>
            </a:r>
            <a:endParaRPr lang="ja-JP" altLang="en-US"/>
          </a:p>
        </p:txBody>
      </p:sp>
    </p:spTree>
    <p:extLst>
      <p:ext uri="{BB962C8B-B14F-4D97-AF65-F5344CB8AC3E}">
        <p14:creationId xmlns:p14="http://schemas.microsoft.com/office/powerpoint/2010/main" val="336011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D013073-5F8E-204D-96F7-C4CC28FAAFFE}"/>
              </a:ext>
            </a:extLst>
          </p:cNvPr>
          <p:cNvSpPr/>
          <p:nvPr userDrawn="1"/>
        </p:nvSpPr>
        <p:spPr>
          <a:xfrm>
            <a:off x="11251096" y="6341111"/>
            <a:ext cx="543339" cy="516889"/>
          </a:xfrm>
          <a:prstGeom prst="rect">
            <a:avLst/>
          </a:prstGeom>
          <a:solidFill>
            <a:srgbClr val="134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2" name="タイトル 1">
            <a:extLst>
              <a:ext uri="{FF2B5EF4-FFF2-40B4-BE49-F238E27FC236}">
                <a16:creationId xmlns:a16="http://schemas.microsoft.com/office/drawing/2014/main" id="{7AB3C7C5-E79F-0B47-B08A-7D62EFE45441}"/>
              </a:ext>
            </a:extLst>
          </p:cNvPr>
          <p:cNvSpPr>
            <a:spLocks noGrp="1"/>
          </p:cNvSpPr>
          <p:nvPr>
            <p:ph type="title"/>
          </p:nvPr>
        </p:nvSpPr>
        <p:spPr>
          <a:xfrm>
            <a:off x="397565" y="196162"/>
            <a:ext cx="11396870" cy="504451"/>
          </a:xfrm>
        </p:spPr>
        <p:txBody>
          <a:bodyPr>
            <a:normAutofit/>
          </a:bodyPr>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40AC78C-3506-E648-9747-5B4816F31F41}"/>
              </a:ext>
            </a:extLst>
          </p:cNvPr>
          <p:cNvSpPr>
            <a:spLocks noGrp="1"/>
          </p:cNvSpPr>
          <p:nvPr>
            <p:ph idx="1"/>
          </p:nvPr>
        </p:nvSpPr>
        <p:spPr>
          <a:xfrm>
            <a:off x="397565" y="805967"/>
            <a:ext cx="11396870" cy="553514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D3ADF0C-14D2-6E4C-B739-5125B307E219}"/>
              </a:ext>
            </a:extLst>
          </p:cNvPr>
          <p:cNvSpPr>
            <a:spLocks noGrp="1"/>
          </p:cNvSpPr>
          <p:nvPr>
            <p:ph type="dt" sz="half" idx="10"/>
          </p:nvPr>
        </p:nvSpPr>
        <p:spPr>
          <a:xfrm>
            <a:off x="397565" y="6386830"/>
            <a:ext cx="2743200" cy="365125"/>
          </a:xfrm>
        </p:spPr>
        <p:txBody>
          <a:bodyPr/>
          <a:lstStyle/>
          <a:p>
            <a:fld id="{952987D4-63BE-1D49-9FA4-4DF8DCD0E85B}" type="datetime1">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BA69470A-1FD3-D947-9EA7-396A4272CEDE}"/>
              </a:ext>
            </a:extLst>
          </p:cNvPr>
          <p:cNvSpPr>
            <a:spLocks noGrp="1"/>
          </p:cNvSpPr>
          <p:nvPr>
            <p:ph type="ftr" sz="quarter" idx="11"/>
          </p:nvPr>
        </p:nvSpPr>
        <p:spPr>
          <a:xfrm>
            <a:off x="4038600" y="6386830"/>
            <a:ext cx="4114800" cy="365125"/>
          </a:xfrm>
        </p:spPr>
        <p:txBody>
          <a:bodyPr/>
          <a:lstStyle/>
          <a:p>
            <a:r>
              <a:rPr lang="en-US" altLang="ja-JP" dirty="0"/>
              <a:t>bluecode inc.</a:t>
            </a:r>
            <a:endParaRPr lang="ja-JP" altLang="en-US"/>
          </a:p>
        </p:txBody>
      </p:sp>
      <p:sp>
        <p:nvSpPr>
          <p:cNvPr id="6" name="スライド番号プレースホルダー 5">
            <a:extLst>
              <a:ext uri="{FF2B5EF4-FFF2-40B4-BE49-F238E27FC236}">
                <a16:creationId xmlns:a16="http://schemas.microsoft.com/office/drawing/2014/main" id="{99ABDFF7-C130-2548-ABCB-FFFDE44B9158}"/>
              </a:ext>
            </a:extLst>
          </p:cNvPr>
          <p:cNvSpPr>
            <a:spLocks noGrp="1"/>
          </p:cNvSpPr>
          <p:nvPr>
            <p:ph type="sldNum" sz="quarter" idx="12"/>
          </p:nvPr>
        </p:nvSpPr>
        <p:spPr>
          <a:xfrm>
            <a:off x="11251095" y="6386830"/>
            <a:ext cx="543339" cy="365125"/>
          </a:xfrm>
        </p:spPr>
        <p:txBody>
          <a:bodyPr/>
          <a:lstStyle>
            <a:lvl1pPr algn="ctr">
              <a:defRPr>
                <a:solidFill>
                  <a:schemeClr val="bg1"/>
                </a:solidFill>
              </a:defRPr>
            </a:lvl1pPr>
          </a:lstStyle>
          <a:p>
            <a:fld id="{462052E6-07CA-9B46-B866-FDE18BF74505}" type="slidenum">
              <a:rPr lang="ja-JP" altLang="en-US" smtClean="0"/>
              <a:pPr/>
              <a:t>‹#›</a:t>
            </a:fld>
            <a:endParaRPr lang="ja-JP" altLang="en-US"/>
          </a:p>
        </p:txBody>
      </p:sp>
      <p:sp>
        <p:nvSpPr>
          <p:cNvPr id="7" name="正方形/長方形 6">
            <a:extLst>
              <a:ext uri="{FF2B5EF4-FFF2-40B4-BE49-F238E27FC236}">
                <a16:creationId xmlns:a16="http://schemas.microsoft.com/office/drawing/2014/main" id="{E8115502-DA04-EF4E-9533-E4783D4FEFBF}"/>
              </a:ext>
            </a:extLst>
          </p:cNvPr>
          <p:cNvSpPr/>
          <p:nvPr userDrawn="1"/>
        </p:nvSpPr>
        <p:spPr>
          <a:xfrm>
            <a:off x="397565" y="730430"/>
            <a:ext cx="8791259"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BC247F8A-64A6-7D4B-8FB2-0950C7E15D07}"/>
              </a:ext>
            </a:extLst>
          </p:cNvPr>
          <p:cNvSpPr/>
          <p:nvPr userDrawn="1"/>
        </p:nvSpPr>
        <p:spPr>
          <a:xfrm>
            <a:off x="9188824" y="730430"/>
            <a:ext cx="2605611" cy="45719"/>
          </a:xfrm>
          <a:prstGeom prst="rect">
            <a:avLst/>
          </a:prstGeom>
          <a:solidFill>
            <a:srgbClr val="134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55567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19087-08F3-C447-AF65-1A7E05C4DA6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A87E87D-56A3-5D4F-B594-9B44380F7A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8BBB792-812D-EA44-9493-60708746D16D}"/>
              </a:ext>
            </a:extLst>
          </p:cNvPr>
          <p:cNvSpPr>
            <a:spLocks noGrp="1"/>
          </p:cNvSpPr>
          <p:nvPr>
            <p:ph type="dt" sz="half" idx="10"/>
          </p:nvPr>
        </p:nvSpPr>
        <p:spPr/>
        <p:txBody>
          <a:bodyPr/>
          <a:lstStyle/>
          <a:p>
            <a:fld id="{B2544A8E-76F0-BD45-8F86-1DA220873064}" type="datetime1">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87E6F7FF-4793-5848-9A91-1307043856C9}"/>
              </a:ext>
            </a:extLst>
          </p:cNvPr>
          <p:cNvSpPr>
            <a:spLocks noGrp="1"/>
          </p:cNvSpPr>
          <p:nvPr>
            <p:ph type="ftr" sz="quarter" idx="11"/>
          </p:nvPr>
        </p:nvSpPr>
        <p:spPr/>
        <p:txBody>
          <a:bodyPr/>
          <a:lstStyle/>
          <a:p>
            <a:r>
              <a:rPr lang="en-US" altLang="ja-JP" dirty="0"/>
              <a:t>bluecode inc.</a:t>
            </a:r>
            <a:endParaRPr lang="ja-JP" altLang="en-US"/>
          </a:p>
        </p:txBody>
      </p:sp>
      <p:sp>
        <p:nvSpPr>
          <p:cNvPr id="6" name="スライド番号プレースホルダー 5">
            <a:extLst>
              <a:ext uri="{FF2B5EF4-FFF2-40B4-BE49-F238E27FC236}">
                <a16:creationId xmlns:a16="http://schemas.microsoft.com/office/drawing/2014/main" id="{A72FE743-148A-224C-A2C7-0C9DD51532EC}"/>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417604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65667-C887-B240-B575-6971DE7DB01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66D6C50-7432-E745-9CBA-2B16315D846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DA81660-9CBB-7C45-A9D0-2BAD015773E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0D922FD-1E82-274B-9770-F2F791F09FC9}"/>
              </a:ext>
            </a:extLst>
          </p:cNvPr>
          <p:cNvSpPr>
            <a:spLocks noGrp="1"/>
          </p:cNvSpPr>
          <p:nvPr>
            <p:ph type="dt" sz="half" idx="10"/>
          </p:nvPr>
        </p:nvSpPr>
        <p:spPr/>
        <p:txBody>
          <a:bodyPr/>
          <a:lstStyle/>
          <a:p>
            <a:fld id="{DEADBC7F-D19A-0343-968E-7A0CB7326BD0}" type="datetime1">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6998DE4C-E2C7-2E4E-879E-53FEC10E043C}"/>
              </a:ext>
            </a:extLst>
          </p:cNvPr>
          <p:cNvSpPr>
            <a:spLocks noGrp="1"/>
          </p:cNvSpPr>
          <p:nvPr>
            <p:ph type="ftr" sz="quarter" idx="11"/>
          </p:nvPr>
        </p:nvSpPr>
        <p:spPr/>
        <p:txBody>
          <a:bodyPr/>
          <a:lstStyle/>
          <a:p>
            <a:r>
              <a:rPr lang="en-US" altLang="ja-JP" dirty="0"/>
              <a:t>bluecode inc.</a:t>
            </a:r>
            <a:endParaRPr lang="ja-JP" altLang="en-US"/>
          </a:p>
        </p:txBody>
      </p:sp>
      <p:sp>
        <p:nvSpPr>
          <p:cNvPr id="7" name="スライド番号プレースホルダー 6">
            <a:extLst>
              <a:ext uri="{FF2B5EF4-FFF2-40B4-BE49-F238E27FC236}">
                <a16:creationId xmlns:a16="http://schemas.microsoft.com/office/drawing/2014/main" id="{7FE505ED-F819-AE49-AD59-A41CBBF4E694}"/>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326983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0C66-7488-B84E-94E2-292E150FE4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9997CB-62D1-184D-B2A8-B22C75DAB9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9935119-6F35-0640-B700-1F021EF4092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13400A3-25D2-524A-8F89-F2F536E39A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A06E982-011E-6B44-BF07-1EB62A2EBB3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EAAE6FA-8763-7547-B17B-37F7660B2D12}"/>
              </a:ext>
            </a:extLst>
          </p:cNvPr>
          <p:cNvSpPr>
            <a:spLocks noGrp="1"/>
          </p:cNvSpPr>
          <p:nvPr>
            <p:ph type="dt" sz="half" idx="10"/>
          </p:nvPr>
        </p:nvSpPr>
        <p:spPr/>
        <p:txBody>
          <a:bodyPr/>
          <a:lstStyle/>
          <a:p>
            <a:fld id="{938E50F6-BF54-3B43-9E7F-30C13CAE09A7}" type="datetime1">
              <a:rPr kumimoji="1" lang="ja-JP" altLang="en-US" smtClean="0"/>
              <a:t>2026/2/16</a:t>
            </a:fld>
            <a:endParaRPr kumimoji="1" lang="ja-JP" altLang="en-US"/>
          </a:p>
        </p:txBody>
      </p:sp>
      <p:sp>
        <p:nvSpPr>
          <p:cNvPr id="8" name="フッター プレースホルダー 7">
            <a:extLst>
              <a:ext uri="{FF2B5EF4-FFF2-40B4-BE49-F238E27FC236}">
                <a16:creationId xmlns:a16="http://schemas.microsoft.com/office/drawing/2014/main" id="{2DED77A2-42F9-3B4E-9257-74AA9E6A818B}"/>
              </a:ext>
            </a:extLst>
          </p:cNvPr>
          <p:cNvSpPr>
            <a:spLocks noGrp="1"/>
          </p:cNvSpPr>
          <p:nvPr>
            <p:ph type="ftr" sz="quarter" idx="11"/>
          </p:nvPr>
        </p:nvSpPr>
        <p:spPr/>
        <p:txBody>
          <a:bodyPr/>
          <a:lstStyle/>
          <a:p>
            <a:r>
              <a:rPr lang="en-US" altLang="ja-JP" dirty="0"/>
              <a:t>bluecode inc.</a:t>
            </a:r>
            <a:endParaRPr lang="ja-JP" altLang="en-US"/>
          </a:p>
        </p:txBody>
      </p:sp>
      <p:sp>
        <p:nvSpPr>
          <p:cNvPr id="9" name="スライド番号プレースホルダー 8">
            <a:extLst>
              <a:ext uri="{FF2B5EF4-FFF2-40B4-BE49-F238E27FC236}">
                <a16:creationId xmlns:a16="http://schemas.microsoft.com/office/drawing/2014/main" id="{088A29A9-8A2A-A14B-B5D5-FC1C4B4EA6EA}"/>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146765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2ECC5F-C96A-BE4C-8B42-13ECD65E9E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0ECC02A-68D5-5D4A-9344-6688F38F03BF}"/>
              </a:ext>
            </a:extLst>
          </p:cNvPr>
          <p:cNvSpPr>
            <a:spLocks noGrp="1"/>
          </p:cNvSpPr>
          <p:nvPr>
            <p:ph type="dt" sz="half" idx="10"/>
          </p:nvPr>
        </p:nvSpPr>
        <p:spPr/>
        <p:txBody>
          <a:bodyPr/>
          <a:lstStyle/>
          <a:p>
            <a:fld id="{9166D2AC-C96B-C441-A7EE-EFB2ABD252C0}" type="datetime1">
              <a:rPr kumimoji="1" lang="ja-JP" altLang="en-US" smtClean="0"/>
              <a:t>2026/2/16</a:t>
            </a:fld>
            <a:endParaRPr kumimoji="1" lang="ja-JP" altLang="en-US"/>
          </a:p>
        </p:txBody>
      </p:sp>
      <p:sp>
        <p:nvSpPr>
          <p:cNvPr id="4" name="フッター プレースホルダー 3">
            <a:extLst>
              <a:ext uri="{FF2B5EF4-FFF2-40B4-BE49-F238E27FC236}">
                <a16:creationId xmlns:a16="http://schemas.microsoft.com/office/drawing/2014/main" id="{A7F7F00A-CFCB-304E-A691-44227BF102FB}"/>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324064E1-CAB3-B442-A9FD-64C972B34898}"/>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656005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6EFA031-9A6A-7C47-89B9-30C071247370}"/>
              </a:ext>
            </a:extLst>
          </p:cNvPr>
          <p:cNvSpPr>
            <a:spLocks noGrp="1"/>
          </p:cNvSpPr>
          <p:nvPr>
            <p:ph type="dt" sz="half" idx="10"/>
          </p:nvPr>
        </p:nvSpPr>
        <p:spPr/>
        <p:txBody>
          <a:bodyPr/>
          <a:lstStyle/>
          <a:p>
            <a:fld id="{A883AB25-9BC2-5A46-A04D-5327E4F35EB2}" type="datetime1">
              <a:rPr kumimoji="1" lang="ja-JP" altLang="en-US" smtClean="0"/>
              <a:t>2026/2/16</a:t>
            </a:fld>
            <a:endParaRPr kumimoji="1" lang="ja-JP" altLang="en-US"/>
          </a:p>
        </p:txBody>
      </p:sp>
      <p:sp>
        <p:nvSpPr>
          <p:cNvPr id="3" name="フッター プレースホルダー 2">
            <a:extLst>
              <a:ext uri="{FF2B5EF4-FFF2-40B4-BE49-F238E27FC236}">
                <a16:creationId xmlns:a16="http://schemas.microsoft.com/office/drawing/2014/main" id="{B7AF362C-477C-2D47-B721-62A372494144}"/>
              </a:ext>
            </a:extLst>
          </p:cNvPr>
          <p:cNvSpPr>
            <a:spLocks noGrp="1"/>
          </p:cNvSpPr>
          <p:nvPr>
            <p:ph type="ftr" sz="quarter" idx="11"/>
          </p:nvPr>
        </p:nvSpPr>
        <p:spPr/>
        <p:txBody>
          <a:bodyPr/>
          <a:lstStyle/>
          <a:p>
            <a:r>
              <a:rPr lang="en-US" altLang="ja-JP" dirty="0"/>
              <a:t>bluecode inc.</a:t>
            </a:r>
            <a:endParaRPr lang="ja-JP" altLang="en-US"/>
          </a:p>
        </p:txBody>
      </p:sp>
      <p:sp>
        <p:nvSpPr>
          <p:cNvPr id="4" name="スライド番号プレースホルダー 3">
            <a:extLst>
              <a:ext uri="{FF2B5EF4-FFF2-40B4-BE49-F238E27FC236}">
                <a16:creationId xmlns:a16="http://schemas.microsoft.com/office/drawing/2014/main" id="{914FD4AA-B12A-5344-B12C-93482E29E72F}"/>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2403970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98EB18-F44C-5B47-BA81-5869FB32837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76CB805-EE3A-9941-9B12-95CCFD5629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6B04B39-E005-1B44-90D2-C8B523707C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82BAB93-9DB0-544D-917A-0263F093AC41}"/>
              </a:ext>
            </a:extLst>
          </p:cNvPr>
          <p:cNvSpPr>
            <a:spLocks noGrp="1"/>
          </p:cNvSpPr>
          <p:nvPr>
            <p:ph type="dt" sz="half" idx="10"/>
          </p:nvPr>
        </p:nvSpPr>
        <p:spPr/>
        <p:txBody>
          <a:bodyPr/>
          <a:lstStyle/>
          <a:p>
            <a:fld id="{B874B335-064C-984F-9B19-9EDC8B133EDF}" type="datetime1">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39A7E16A-ADBE-DF4B-8757-481FB11F8605}"/>
              </a:ext>
            </a:extLst>
          </p:cNvPr>
          <p:cNvSpPr>
            <a:spLocks noGrp="1"/>
          </p:cNvSpPr>
          <p:nvPr>
            <p:ph type="ftr" sz="quarter" idx="11"/>
          </p:nvPr>
        </p:nvSpPr>
        <p:spPr/>
        <p:txBody>
          <a:bodyPr/>
          <a:lstStyle/>
          <a:p>
            <a:r>
              <a:rPr lang="en-US" altLang="ja-JP" dirty="0"/>
              <a:t>bluecode inc.</a:t>
            </a:r>
            <a:endParaRPr lang="ja-JP" altLang="en-US"/>
          </a:p>
        </p:txBody>
      </p:sp>
      <p:sp>
        <p:nvSpPr>
          <p:cNvPr id="7" name="スライド番号プレースホルダー 6">
            <a:extLst>
              <a:ext uri="{FF2B5EF4-FFF2-40B4-BE49-F238E27FC236}">
                <a16:creationId xmlns:a16="http://schemas.microsoft.com/office/drawing/2014/main" id="{5EBC8098-6B75-C149-B698-69687C0354DC}"/>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182925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4BF09B-6036-574D-BBB2-3DA730C002C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066FB75-A475-0F48-9537-782EFFA56E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EC566E14-4C3A-2149-90F6-0972351600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BE010DD-1114-9D41-8D65-EE010249631F}"/>
              </a:ext>
            </a:extLst>
          </p:cNvPr>
          <p:cNvSpPr>
            <a:spLocks noGrp="1"/>
          </p:cNvSpPr>
          <p:nvPr>
            <p:ph type="dt" sz="half" idx="10"/>
          </p:nvPr>
        </p:nvSpPr>
        <p:spPr/>
        <p:txBody>
          <a:bodyPr/>
          <a:lstStyle/>
          <a:p>
            <a:fld id="{954BFCF7-E666-6144-BAA7-34E70595AF75}" type="datetime1">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16DC0700-471A-4849-B5B4-22D6B36AE084}"/>
              </a:ext>
            </a:extLst>
          </p:cNvPr>
          <p:cNvSpPr>
            <a:spLocks noGrp="1"/>
          </p:cNvSpPr>
          <p:nvPr>
            <p:ph type="ftr" sz="quarter" idx="11"/>
          </p:nvPr>
        </p:nvSpPr>
        <p:spPr/>
        <p:txBody>
          <a:bodyPr/>
          <a:lstStyle/>
          <a:p>
            <a:r>
              <a:rPr lang="en-US" altLang="ja-JP" dirty="0"/>
              <a:t>bluecode inc.</a:t>
            </a:r>
            <a:endParaRPr lang="ja-JP" altLang="en-US"/>
          </a:p>
        </p:txBody>
      </p:sp>
      <p:sp>
        <p:nvSpPr>
          <p:cNvPr id="7" name="スライド番号プレースホルダー 6">
            <a:extLst>
              <a:ext uri="{FF2B5EF4-FFF2-40B4-BE49-F238E27FC236}">
                <a16:creationId xmlns:a16="http://schemas.microsoft.com/office/drawing/2014/main" id="{365320C6-F1F1-D44B-857C-744C071C4FBA}"/>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3244866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D6B60-CAA6-0441-AA00-C83FCB7220F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EEDCDB4-EA27-B649-814F-729E086D7E6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24CCE19-FFFA-C742-83EC-FD6C94D80C0D}"/>
              </a:ext>
            </a:extLst>
          </p:cNvPr>
          <p:cNvSpPr>
            <a:spLocks noGrp="1"/>
          </p:cNvSpPr>
          <p:nvPr>
            <p:ph type="dt" sz="half" idx="10"/>
          </p:nvPr>
        </p:nvSpPr>
        <p:spPr/>
        <p:txBody>
          <a:bodyPr/>
          <a:lstStyle/>
          <a:p>
            <a:fld id="{6553D067-023C-7441-9D68-F6D230C546B7}" type="datetime1">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70470F16-91CC-9F43-A813-F44F22B1DF2A}"/>
              </a:ext>
            </a:extLst>
          </p:cNvPr>
          <p:cNvSpPr>
            <a:spLocks noGrp="1"/>
          </p:cNvSpPr>
          <p:nvPr>
            <p:ph type="ftr" sz="quarter" idx="11"/>
          </p:nvPr>
        </p:nvSpPr>
        <p:spPr/>
        <p:txBody>
          <a:bodyPr/>
          <a:lstStyle/>
          <a:p>
            <a:r>
              <a:rPr lang="en-US" altLang="ja-JP" dirty="0"/>
              <a:t>bluecode inc.</a:t>
            </a:r>
            <a:endParaRPr lang="ja-JP" altLang="en-US"/>
          </a:p>
        </p:txBody>
      </p:sp>
      <p:sp>
        <p:nvSpPr>
          <p:cNvPr id="6" name="スライド番号プレースホルダー 5">
            <a:extLst>
              <a:ext uri="{FF2B5EF4-FFF2-40B4-BE49-F238E27FC236}">
                <a16:creationId xmlns:a16="http://schemas.microsoft.com/office/drawing/2014/main" id="{19C244F3-F0F9-CE49-A15C-3F6C9984F668}"/>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973390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90425CA-DF6C-D049-B0F7-38A0F0B4C26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7A9F20D-5F3B-B944-97E2-CA110EBB79D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E6151E1-0B93-B04F-A400-0FC7CC807CE2}"/>
              </a:ext>
            </a:extLst>
          </p:cNvPr>
          <p:cNvSpPr>
            <a:spLocks noGrp="1"/>
          </p:cNvSpPr>
          <p:nvPr>
            <p:ph type="dt" sz="half" idx="10"/>
          </p:nvPr>
        </p:nvSpPr>
        <p:spPr/>
        <p:txBody>
          <a:bodyPr/>
          <a:lstStyle/>
          <a:p>
            <a:fld id="{F94B4445-EA75-9B46-9B2E-BE02F9884A6B}" type="datetime1">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427C1B08-8F72-B14B-A771-8F8163197DF8}"/>
              </a:ext>
            </a:extLst>
          </p:cNvPr>
          <p:cNvSpPr>
            <a:spLocks noGrp="1"/>
          </p:cNvSpPr>
          <p:nvPr>
            <p:ph type="ftr" sz="quarter" idx="11"/>
          </p:nvPr>
        </p:nvSpPr>
        <p:spPr/>
        <p:txBody>
          <a:bodyPr/>
          <a:lstStyle/>
          <a:p>
            <a:r>
              <a:rPr lang="en-US" altLang="ja-JP" dirty="0"/>
              <a:t>bluecode inc.</a:t>
            </a:r>
            <a:endParaRPr lang="ja-JP" altLang="en-US"/>
          </a:p>
        </p:txBody>
      </p:sp>
      <p:sp>
        <p:nvSpPr>
          <p:cNvPr id="6" name="スライド番号プレースホルダー 5">
            <a:extLst>
              <a:ext uri="{FF2B5EF4-FFF2-40B4-BE49-F238E27FC236}">
                <a16:creationId xmlns:a16="http://schemas.microsoft.com/office/drawing/2014/main" id="{40321529-C59F-694B-9D57-F8261B227171}"/>
              </a:ext>
            </a:extLst>
          </p:cNvPr>
          <p:cNvSpPr>
            <a:spLocks noGrp="1"/>
          </p:cNvSpPr>
          <p:nvPr>
            <p:ph type="sldNum" sz="quarter" idx="12"/>
          </p:nvPr>
        </p:nvSpPr>
        <p:spPr/>
        <p:txBody>
          <a:bodyPr/>
          <a:lstStyle/>
          <a:p>
            <a:fld id="{462052E6-07CA-9B46-B866-FDE18BF74505}" type="slidenum">
              <a:rPr kumimoji="1" lang="ja-JP" altLang="en-US" smtClean="0"/>
              <a:t>‹#›</a:t>
            </a:fld>
            <a:endParaRPr kumimoji="1" lang="ja-JP" altLang="en-US"/>
          </a:p>
        </p:txBody>
      </p:sp>
    </p:spTree>
    <p:extLst>
      <p:ext uri="{BB962C8B-B14F-4D97-AF65-F5344CB8AC3E}">
        <p14:creationId xmlns:p14="http://schemas.microsoft.com/office/powerpoint/2010/main" val="249013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384990A-6A82-7D4A-8249-EE4F995029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78DA022-1E64-0644-8828-CEA2F88734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640296C-8207-2143-9130-743BF6F06C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eiryo UI" panose="020B0604030504040204" pitchFamily="34" charset="-128"/>
                <a:ea typeface="Meiryo UI" panose="020B0604030504040204" pitchFamily="34" charset="-128"/>
              </a:defRPr>
            </a:lvl1pPr>
          </a:lstStyle>
          <a:p>
            <a:fld id="{1EC3668C-4672-9D42-BA67-D988628B8251}" type="datetime1">
              <a:rPr lang="ja-JP" altLang="en-US" smtClean="0"/>
              <a:pPr/>
              <a:t>2026/2/16</a:t>
            </a:fld>
            <a:endParaRPr lang="ja-JP" altLang="en-US"/>
          </a:p>
        </p:txBody>
      </p:sp>
      <p:sp>
        <p:nvSpPr>
          <p:cNvPr id="5" name="フッター プレースホルダー 4">
            <a:extLst>
              <a:ext uri="{FF2B5EF4-FFF2-40B4-BE49-F238E27FC236}">
                <a16:creationId xmlns:a16="http://schemas.microsoft.com/office/drawing/2014/main" id="{A257BC24-807F-7445-A274-97D5C63BD7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eiryo UI" panose="020B0604030504040204" pitchFamily="34" charset="-128"/>
                <a:ea typeface="Meiryo UI" panose="020B0604030504040204" pitchFamily="34" charset="-128"/>
              </a:defRPr>
            </a:lvl1pPr>
          </a:lstStyle>
          <a:p>
            <a:r>
              <a:rPr lang="en-US" altLang="ja-JP" dirty="0"/>
              <a:t>bluecode inc.</a:t>
            </a:r>
            <a:endParaRPr lang="ja-JP" altLang="en-US"/>
          </a:p>
        </p:txBody>
      </p:sp>
      <p:sp>
        <p:nvSpPr>
          <p:cNvPr id="6" name="スライド番号プレースホルダー 5">
            <a:extLst>
              <a:ext uri="{FF2B5EF4-FFF2-40B4-BE49-F238E27FC236}">
                <a16:creationId xmlns:a16="http://schemas.microsoft.com/office/drawing/2014/main" id="{DB8B9EAC-1314-584C-89D0-2F28120927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eiryo UI" panose="020B0604030504040204" pitchFamily="34" charset="-128"/>
                <a:ea typeface="Meiryo UI" panose="020B0604030504040204" pitchFamily="34" charset="-128"/>
              </a:defRPr>
            </a:lvl1pPr>
          </a:lstStyle>
          <a:p>
            <a:fld id="{462052E6-07CA-9B46-B866-FDE18BF74505}" type="slidenum">
              <a:rPr lang="ja-JP" altLang="en-US" smtClean="0"/>
              <a:pPr/>
              <a:t>‹#›</a:t>
            </a:fld>
            <a:endParaRPr lang="ja-JP" altLang="en-US"/>
          </a:p>
        </p:txBody>
      </p:sp>
    </p:spTree>
    <p:extLst>
      <p:ext uri="{BB962C8B-B14F-4D97-AF65-F5344CB8AC3E}">
        <p14:creationId xmlns:p14="http://schemas.microsoft.com/office/powerpoint/2010/main" val="3430206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eiryo UI" panose="020B0604030504040204" pitchFamily="34" charset="-128"/>
          <a:ea typeface="Meiryo UI" panose="020B0604030504040204"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34" charset="-128"/>
          <a:ea typeface="Meiryo UI"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34" charset="-128"/>
          <a:ea typeface="Meiryo UI"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34" charset="-128"/>
          <a:ea typeface="Meiryo UI"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AED40B-1B23-6948-89B3-220CD171B003}"/>
              </a:ext>
            </a:extLst>
          </p:cNvPr>
          <p:cNvSpPr>
            <a:spLocks noGrp="1"/>
          </p:cNvSpPr>
          <p:nvPr>
            <p:ph type="ctrTitle"/>
          </p:nvPr>
        </p:nvSpPr>
        <p:spPr>
          <a:xfrm>
            <a:off x="838200" y="1622324"/>
            <a:ext cx="10515598" cy="1179420"/>
          </a:xfrm>
        </p:spPr>
        <p:txBody>
          <a:bodyPr>
            <a:normAutofit fontScale="90000"/>
          </a:bodyPr>
          <a:lstStyle/>
          <a:p>
            <a:pPr>
              <a:lnSpc>
                <a:spcPct val="100000"/>
              </a:lnSpc>
            </a:pPr>
            <a:r>
              <a:rPr lang="ja-JP" altLang="en-US" sz="3100" dirty="0"/>
              <a:t>勤怠管理</a:t>
            </a:r>
            <a:r>
              <a:rPr lang="en-US" altLang="ja-JP" sz="3100" dirty="0"/>
              <a:t>Slack</a:t>
            </a:r>
            <a:br>
              <a:rPr lang="en-US" altLang="ja-JP" sz="3100" dirty="0"/>
            </a:br>
            <a:r>
              <a:rPr lang="ja-JP" altLang="en-US" dirty="0"/>
              <a:t>要件定義書</a:t>
            </a:r>
            <a:endParaRPr kumimoji="1" lang="ja-JP" altLang="en-US" sz="3600" dirty="0"/>
          </a:p>
        </p:txBody>
      </p:sp>
      <p:sp>
        <p:nvSpPr>
          <p:cNvPr id="3" name="字幕 2">
            <a:extLst>
              <a:ext uri="{FF2B5EF4-FFF2-40B4-BE49-F238E27FC236}">
                <a16:creationId xmlns:a16="http://schemas.microsoft.com/office/drawing/2014/main" id="{1AE313A0-35E2-4F4C-BEDF-EC600745265F}"/>
              </a:ext>
            </a:extLst>
          </p:cNvPr>
          <p:cNvSpPr>
            <a:spLocks noGrp="1"/>
          </p:cNvSpPr>
          <p:nvPr>
            <p:ph type="subTitle" idx="1"/>
          </p:nvPr>
        </p:nvSpPr>
        <p:spPr/>
        <p:txBody>
          <a:bodyPr/>
          <a:lstStyle/>
          <a:p>
            <a:r>
              <a:rPr kumimoji="1" lang="en-US" altLang="ja-JP" dirty="0"/>
              <a:t>2026</a:t>
            </a:r>
            <a:r>
              <a:rPr kumimoji="1" lang="ja-JP" altLang="en-US" dirty="0"/>
              <a:t>年</a:t>
            </a:r>
            <a:r>
              <a:rPr kumimoji="1" lang="en-US" altLang="ja-JP" dirty="0"/>
              <a:t>2</a:t>
            </a:r>
            <a:r>
              <a:rPr kumimoji="1" lang="ja-JP" altLang="en-US" dirty="0"/>
              <a:t>月</a:t>
            </a:r>
            <a:r>
              <a:rPr lang="en-US" altLang="ja-JP" dirty="0"/>
              <a:t>16</a:t>
            </a:r>
            <a:r>
              <a:rPr kumimoji="1" lang="ja-JP" altLang="en-US" dirty="0"/>
              <a:t>日版</a:t>
            </a:r>
            <a:endParaRPr kumimoji="1" lang="en-US" altLang="ja-JP" dirty="0"/>
          </a:p>
          <a:p>
            <a:r>
              <a:rPr kumimoji="1" lang="ja-JP" altLang="en-US" dirty="0"/>
              <a:t>株式会社</a:t>
            </a:r>
            <a:r>
              <a:rPr kumimoji="1" lang="en-US" altLang="ja-JP" dirty="0"/>
              <a:t>DSR</a:t>
            </a:r>
          </a:p>
        </p:txBody>
      </p:sp>
      <p:sp>
        <p:nvSpPr>
          <p:cNvPr id="5" name="スライド番号プレースホルダー 4">
            <a:extLst>
              <a:ext uri="{FF2B5EF4-FFF2-40B4-BE49-F238E27FC236}">
                <a16:creationId xmlns:a16="http://schemas.microsoft.com/office/drawing/2014/main" id="{6B3D9C38-E1BA-D14B-B9C5-31A6CE1F9907}"/>
              </a:ext>
            </a:extLst>
          </p:cNvPr>
          <p:cNvSpPr>
            <a:spLocks noGrp="1"/>
          </p:cNvSpPr>
          <p:nvPr>
            <p:ph type="sldNum" sz="quarter" idx="12"/>
          </p:nvPr>
        </p:nvSpPr>
        <p:spPr/>
        <p:txBody>
          <a:bodyPr/>
          <a:lstStyle/>
          <a:p>
            <a:fld id="{462052E6-07CA-9B46-B866-FDE18BF74505}" type="slidenum">
              <a:rPr kumimoji="1" lang="ja-JP" altLang="en-US" smtClean="0"/>
              <a:t>1</a:t>
            </a:fld>
            <a:endParaRPr kumimoji="1" lang="ja-JP" altLang="en-US"/>
          </a:p>
        </p:txBody>
      </p:sp>
      <p:sp>
        <p:nvSpPr>
          <p:cNvPr id="6" name="フッター プレースホルダー 3">
            <a:extLst>
              <a:ext uri="{FF2B5EF4-FFF2-40B4-BE49-F238E27FC236}">
                <a16:creationId xmlns:a16="http://schemas.microsoft.com/office/drawing/2014/main" id="{5FBFB5DD-EB3C-50C1-A08D-9CD0C1A77BCD}"/>
              </a:ext>
            </a:extLst>
          </p:cNvPr>
          <p:cNvSpPr>
            <a:spLocks noGrp="1"/>
          </p:cNvSpPr>
          <p:nvPr>
            <p:ph type="ftr" sz="quarter" idx="11"/>
          </p:nvPr>
        </p:nvSpPr>
        <p:spPr>
          <a:xfrm>
            <a:off x="4038600" y="6386830"/>
            <a:ext cx="4114800" cy="365125"/>
          </a:xfrm>
        </p:spPr>
        <p:txBody>
          <a:bodyPr/>
          <a:lstStyle/>
          <a:p>
            <a:r>
              <a:rPr lang="ja-JP" altLang="en-US" dirty="0"/>
              <a:t>ＤＳＲ</a:t>
            </a:r>
            <a:r>
              <a:rPr lang="en" altLang="ja-JP" dirty="0"/>
              <a:t>.</a:t>
            </a:r>
            <a:endParaRPr lang="ja-JP" altLang="en-US" dirty="0"/>
          </a:p>
        </p:txBody>
      </p:sp>
    </p:spTree>
    <p:extLst>
      <p:ext uri="{BB962C8B-B14F-4D97-AF65-F5344CB8AC3E}">
        <p14:creationId xmlns:p14="http://schemas.microsoft.com/office/powerpoint/2010/main" val="3877803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AD7DD-A7F5-E145-99FC-E6D32A41BEFF}"/>
              </a:ext>
            </a:extLst>
          </p:cNvPr>
          <p:cNvSpPr>
            <a:spLocks noGrp="1"/>
          </p:cNvSpPr>
          <p:nvPr>
            <p:ph type="title"/>
          </p:nvPr>
        </p:nvSpPr>
        <p:spPr/>
        <p:txBody>
          <a:bodyPr>
            <a:normAutofit fontScale="90000"/>
          </a:bodyPr>
          <a:lstStyle/>
          <a:p>
            <a:r>
              <a:rPr kumimoji="1" lang="ja-JP" altLang="en-US"/>
              <a:t>目次</a:t>
            </a:r>
          </a:p>
        </p:txBody>
      </p:sp>
      <p:sp>
        <p:nvSpPr>
          <p:cNvPr id="3" name="コンテンツ プレースホルダー 2">
            <a:extLst>
              <a:ext uri="{FF2B5EF4-FFF2-40B4-BE49-F238E27FC236}">
                <a16:creationId xmlns:a16="http://schemas.microsoft.com/office/drawing/2014/main" id="{9AE0E797-C1FC-4E49-8C48-D1B9DDC12259}"/>
              </a:ext>
            </a:extLst>
          </p:cNvPr>
          <p:cNvSpPr>
            <a:spLocks noGrp="1"/>
          </p:cNvSpPr>
          <p:nvPr>
            <p:ph idx="1"/>
          </p:nvPr>
        </p:nvSpPr>
        <p:spPr/>
        <p:txBody>
          <a:bodyPr>
            <a:normAutofit fontScale="92500" lnSpcReduction="10000"/>
          </a:bodyPr>
          <a:lstStyle/>
          <a:p>
            <a:pPr>
              <a:lnSpc>
                <a:spcPct val="120000"/>
              </a:lnSpc>
            </a:pPr>
            <a:r>
              <a:rPr kumimoji="1" lang="ja-JP" altLang="en-US" dirty="0"/>
              <a:t>システム化の目的と範囲</a:t>
            </a:r>
            <a:endParaRPr kumimoji="1" lang="en-US" altLang="ja-JP" dirty="0"/>
          </a:p>
          <a:p>
            <a:pPr>
              <a:lnSpc>
                <a:spcPct val="120000"/>
              </a:lnSpc>
            </a:pPr>
            <a:r>
              <a:rPr kumimoji="1" lang="ja-JP" altLang="en-US" dirty="0"/>
              <a:t>業務要件（一覧）</a:t>
            </a:r>
            <a:endParaRPr kumimoji="1" lang="en-US" altLang="ja-JP" dirty="0"/>
          </a:p>
          <a:p>
            <a:pPr>
              <a:lnSpc>
                <a:spcPct val="120000"/>
              </a:lnSpc>
            </a:pPr>
            <a:r>
              <a:rPr lang="ja-JP" altLang="en-US" dirty="0"/>
              <a:t>業務要件（フロー）</a:t>
            </a:r>
            <a:endParaRPr kumimoji="1" lang="en-US" altLang="ja-JP" dirty="0"/>
          </a:p>
          <a:p>
            <a:pPr>
              <a:lnSpc>
                <a:spcPct val="120000"/>
              </a:lnSpc>
            </a:pPr>
            <a:r>
              <a:rPr lang="ja-JP" altLang="en-US" dirty="0"/>
              <a:t>機能要件（一覧）</a:t>
            </a:r>
            <a:endParaRPr lang="en-US" altLang="ja-JP" dirty="0"/>
          </a:p>
          <a:p>
            <a:pPr lvl="1">
              <a:lnSpc>
                <a:spcPct val="120000"/>
              </a:lnSpc>
            </a:pPr>
            <a:r>
              <a:rPr lang="ja-JP" altLang="en-US" dirty="0"/>
              <a:t>参考：機能と配置イメージ</a:t>
            </a:r>
            <a:endParaRPr lang="en-US" altLang="ja-JP" dirty="0"/>
          </a:p>
          <a:p>
            <a:pPr>
              <a:lnSpc>
                <a:spcPct val="120000"/>
              </a:lnSpc>
            </a:pPr>
            <a:r>
              <a:rPr lang="ja-JP" altLang="en-US" dirty="0"/>
              <a:t>非機能要件（一覧）</a:t>
            </a:r>
            <a:endParaRPr kumimoji="1" lang="en-US" altLang="ja-JP" dirty="0"/>
          </a:p>
          <a:p>
            <a:pPr lvl="1">
              <a:lnSpc>
                <a:spcPct val="120000"/>
              </a:lnSpc>
            </a:pPr>
            <a:r>
              <a:rPr kumimoji="1" lang="ja-JP" altLang="en-US" dirty="0"/>
              <a:t>可用性</a:t>
            </a:r>
            <a:endParaRPr kumimoji="1" lang="en-US" altLang="ja-JP" dirty="0"/>
          </a:p>
          <a:p>
            <a:pPr lvl="1">
              <a:lnSpc>
                <a:spcPct val="120000"/>
              </a:lnSpc>
            </a:pPr>
            <a:r>
              <a:rPr lang="ja-JP" altLang="en-US" dirty="0"/>
              <a:t>性能</a:t>
            </a:r>
            <a:endParaRPr lang="en-US" altLang="ja-JP" dirty="0"/>
          </a:p>
          <a:p>
            <a:pPr lvl="1">
              <a:lnSpc>
                <a:spcPct val="120000"/>
              </a:lnSpc>
            </a:pPr>
            <a:r>
              <a:rPr lang="ja-JP" altLang="en-US" dirty="0"/>
              <a:t>セキュリティー</a:t>
            </a:r>
            <a:endParaRPr kumimoji="1" lang="en-US" altLang="ja-JP" dirty="0"/>
          </a:p>
          <a:p>
            <a:pPr lvl="1">
              <a:lnSpc>
                <a:spcPct val="120000"/>
              </a:lnSpc>
            </a:pPr>
            <a:r>
              <a:rPr lang="ja-JP" altLang="en-US" dirty="0"/>
              <a:t>移行性</a:t>
            </a:r>
            <a:endParaRPr lang="en-US" altLang="ja-JP" dirty="0"/>
          </a:p>
          <a:p>
            <a:pPr lvl="1">
              <a:lnSpc>
                <a:spcPct val="120000"/>
              </a:lnSpc>
            </a:pPr>
            <a:r>
              <a:rPr lang="ja-JP" altLang="en-US" dirty="0"/>
              <a:t>プロジェクト上の留意事項</a:t>
            </a:r>
            <a:endParaRPr lang="en-US" altLang="ja-JP" dirty="0"/>
          </a:p>
          <a:p>
            <a:pPr lvl="1">
              <a:lnSpc>
                <a:spcPct val="120000"/>
              </a:lnSpc>
            </a:pPr>
            <a:endParaRPr kumimoji="1" lang="en-US" altLang="ja-JP" dirty="0"/>
          </a:p>
          <a:p>
            <a:pPr lvl="1">
              <a:lnSpc>
                <a:spcPct val="120000"/>
              </a:lnSpc>
            </a:pPr>
            <a:endParaRPr kumimoji="1" lang="ja-JP" altLang="en-US" dirty="0"/>
          </a:p>
        </p:txBody>
      </p:sp>
      <p:sp>
        <p:nvSpPr>
          <p:cNvPr id="4" name="フッター プレースホルダー 3">
            <a:extLst>
              <a:ext uri="{FF2B5EF4-FFF2-40B4-BE49-F238E27FC236}">
                <a16:creationId xmlns:a16="http://schemas.microsoft.com/office/drawing/2014/main" id="{6BF0EDA0-0453-A844-90B2-3AE0D99991D5}"/>
              </a:ext>
            </a:extLst>
          </p:cNvPr>
          <p:cNvSpPr>
            <a:spLocks noGrp="1"/>
          </p:cNvSpPr>
          <p:nvPr>
            <p:ph type="ftr" sz="quarter" idx="11"/>
          </p:nvPr>
        </p:nvSpPr>
        <p:spPr/>
        <p:txBody>
          <a:bodyPr/>
          <a:lstStyle/>
          <a:p>
            <a:r>
              <a:rPr lang="en-US" altLang="ja-JP" dirty="0"/>
              <a:t>DSR.</a:t>
            </a:r>
            <a:endParaRPr lang="ja-JP" altLang="en-US" dirty="0"/>
          </a:p>
        </p:txBody>
      </p:sp>
      <p:sp>
        <p:nvSpPr>
          <p:cNvPr id="5" name="スライド番号プレースホルダー 4">
            <a:extLst>
              <a:ext uri="{FF2B5EF4-FFF2-40B4-BE49-F238E27FC236}">
                <a16:creationId xmlns:a16="http://schemas.microsoft.com/office/drawing/2014/main" id="{445D0F1A-A5A9-8441-BFC8-4DEDE66E7190}"/>
              </a:ext>
            </a:extLst>
          </p:cNvPr>
          <p:cNvSpPr>
            <a:spLocks noGrp="1"/>
          </p:cNvSpPr>
          <p:nvPr>
            <p:ph type="sldNum" sz="quarter" idx="12"/>
          </p:nvPr>
        </p:nvSpPr>
        <p:spPr/>
        <p:txBody>
          <a:bodyPr/>
          <a:lstStyle/>
          <a:p>
            <a:fld id="{462052E6-07CA-9B46-B866-FDE18BF74505}" type="slidenum">
              <a:rPr lang="ja-JP" altLang="en-US" smtClean="0"/>
              <a:pPr/>
              <a:t>2</a:t>
            </a:fld>
            <a:endParaRPr lang="ja-JP" altLang="en-US"/>
          </a:p>
        </p:txBody>
      </p:sp>
      <p:sp>
        <p:nvSpPr>
          <p:cNvPr id="6" name="テキスト ボックス 5">
            <a:extLst>
              <a:ext uri="{FF2B5EF4-FFF2-40B4-BE49-F238E27FC236}">
                <a16:creationId xmlns:a16="http://schemas.microsoft.com/office/drawing/2014/main" id="{13613228-1B69-4A6D-9146-21A5E2FA65BD}"/>
              </a:ext>
            </a:extLst>
          </p:cNvPr>
          <p:cNvSpPr txBox="1"/>
          <p:nvPr/>
        </p:nvSpPr>
        <p:spPr>
          <a:xfrm>
            <a:off x="6882063" y="1434164"/>
            <a:ext cx="4090737" cy="1015663"/>
          </a:xfrm>
          <a:prstGeom prst="rect">
            <a:avLst/>
          </a:prstGeom>
          <a:noFill/>
        </p:spPr>
        <p:txBody>
          <a:bodyPr wrap="square" rtlCol="0">
            <a:spAutoFit/>
          </a:bodyPr>
          <a:lstStyle/>
          <a:p>
            <a:pPr algn="l"/>
            <a:r>
              <a:rPr kumimoji="1" lang="ja-JP" altLang="en-US" sz="1200" dirty="0">
                <a:latin typeface="Meiryo UI" panose="020B0604030504040204" pitchFamily="34" charset="-128"/>
                <a:ea typeface="Meiryo UI" panose="020B0604030504040204" pitchFamily="34" charset="-128"/>
              </a:rPr>
              <a:t>手間だが書類作成することの目的</a:t>
            </a:r>
            <a:endParaRPr kumimoji="1" lang="en-US" altLang="ja-JP" sz="1200" dirty="0">
              <a:latin typeface="Meiryo UI" panose="020B0604030504040204" pitchFamily="34" charset="-128"/>
              <a:ea typeface="Meiryo UI" panose="020B0604030504040204" pitchFamily="34" charset="-128"/>
            </a:endParaRPr>
          </a:p>
          <a:p>
            <a:pPr algn="l"/>
            <a:endParaRPr lang="en-US" altLang="ja-JP" sz="1200" dirty="0">
              <a:latin typeface="Meiryo UI" panose="020B0604030504040204" pitchFamily="34" charset="-128"/>
              <a:ea typeface="Meiryo UI" panose="020B0604030504040204" pitchFamily="34" charset="-128"/>
            </a:endParaRPr>
          </a:p>
          <a:p>
            <a:pPr algn="l"/>
            <a:r>
              <a:rPr kumimoji="1" lang="ja-JP" altLang="en-US" sz="1200" dirty="0">
                <a:latin typeface="Meiryo UI" panose="020B0604030504040204" pitchFamily="34" charset="-128"/>
                <a:ea typeface="Meiryo UI" panose="020B0604030504040204" pitchFamily="34" charset="-128"/>
              </a:rPr>
              <a:t>・今のままでは実用レベルに到達しない</a:t>
            </a:r>
            <a:endParaRPr kumimoji="1" lang="en-US" altLang="ja-JP" sz="1200" dirty="0">
              <a:latin typeface="Meiryo UI" panose="020B0604030504040204" pitchFamily="34" charset="-128"/>
              <a:ea typeface="Meiryo UI" panose="020B0604030504040204" pitchFamily="34" charset="-128"/>
            </a:endParaRPr>
          </a:p>
          <a:p>
            <a:pPr algn="l"/>
            <a:r>
              <a:rPr lang="ja-JP" altLang="en-US" sz="1200" dirty="0">
                <a:latin typeface="Meiryo UI" panose="020B0604030504040204" pitchFamily="34" charset="-128"/>
                <a:ea typeface="Meiryo UI" panose="020B0604030504040204" pitchFamily="34" charset="-128"/>
              </a:rPr>
              <a:t>（</a:t>
            </a:r>
            <a:r>
              <a:rPr lang="en-US" altLang="ja-JP" sz="1200" dirty="0">
                <a:latin typeface="Meiryo UI" panose="020B0604030504040204" pitchFamily="34" charset="-128"/>
                <a:ea typeface="Meiryo UI" panose="020B0604030504040204" pitchFamily="34" charset="-128"/>
              </a:rPr>
              <a:t>Slack</a:t>
            </a:r>
            <a:r>
              <a:rPr lang="ja-JP" altLang="en-US" sz="1200" dirty="0">
                <a:latin typeface="Meiryo UI" panose="020B0604030504040204" pitchFamily="34" charset="-128"/>
                <a:ea typeface="Meiryo UI" panose="020B0604030504040204" pitchFamily="34" charset="-128"/>
              </a:rPr>
              <a:t>の内容だけ</a:t>
            </a:r>
            <a:r>
              <a:rPr lang="ja-JP" altLang="en-US" sz="1200" dirty="0" err="1">
                <a:latin typeface="Meiryo UI" panose="020B0604030504040204" pitchFamily="34" charset="-128"/>
                <a:ea typeface="Meiryo UI" panose="020B0604030504040204" pitchFamily="34" charset="-128"/>
              </a:rPr>
              <a:t>じ</a:t>
            </a:r>
            <a:r>
              <a:rPr lang="ja-JP" altLang="en-US" sz="1200" dirty="0">
                <a:latin typeface="Meiryo UI" panose="020B0604030504040204" pitchFamily="34" charset="-128"/>
                <a:ea typeface="Meiryo UI" panose="020B0604030504040204" pitchFamily="34" charset="-128"/>
              </a:rPr>
              <a:t>では不十分）</a:t>
            </a:r>
            <a:endParaRPr kumimoji="1" lang="en-US" altLang="ja-JP" sz="1200" dirty="0">
              <a:latin typeface="Meiryo UI" panose="020B0604030504040204" pitchFamily="34" charset="-128"/>
              <a:ea typeface="Meiryo UI" panose="020B0604030504040204" pitchFamily="34" charset="-128"/>
            </a:endParaRPr>
          </a:p>
          <a:p>
            <a:pPr algn="l"/>
            <a:r>
              <a:rPr kumimoji="1" lang="ja-JP" altLang="en-US" sz="1200" dirty="0">
                <a:latin typeface="Meiryo UI" panose="020B0604030504040204" pitchFamily="34" charset="-128"/>
                <a:ea typeface="Meiryo UI" panose="020B0604030504040204" pitchFamily="34" charset="-128"/>
              </a:rPr>
              <a:t>・</a:t>
            </a:r>
          </a:p>
        </p:txBody>
      </p:sp>
    </p:spTree>
    <p:extLst>
      <p:ext uri="{BB962C8B-B14F-4D97-AF65-F5344CB8AC3E}">
        <p14:creationId xmlns:p14="http://schemas.microsoft.com/office/powerpoint/2010/main" val="2701889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7059C-E517-8255-61B8-32979F66A540}"/>
              </a:ext>
            </a:extLst>
          </p:cNvPr>
          <p:cNvSpPr>
            <a:spLocks noGrp="1"/>
          </p:cNvSpPr>
          <p:nvPr>
            <p:ph type="title"/>
          </p:nvPr>
        </p:nvSpPr>
        <p:spPr/>
        <p:txBody>
          <a:bodyPr>
            <a:normAutofit fontScale="90000"/>
          </a:bodyPr>
          <a:lstStyle/>
          <a:p>
            <a:r>
              <a:rPr kumimoji="1" lang="ja-JP" altLang="en-US"/>
              <a:t>システム化の目的と範囲</a:t>
            </a:r>
          </a:p>
        </p:txBody>
      </p:sp>
      <p:sp>
        <p:nvSpPr>
          <p:cNvPr id="3" name="コンテンツ プレースホルダー 2">
            <a:extLst>
              <a:ext uri="{FF2B5EF4-FFF2-40B4-BE49-F238E27FC236}">
                <a16:creationId xmlns:a16="http://schemas.microsoft.com/office/drawing/2014/main" id="{6AB1D15F-63AC-4BA7-2699-8643F5CD23F3}"/>
              </a:ext>
            </a:extLst>
          </p:cNvPr>
          <p:cNvSpPr>
            <a:spLocks noGrp="1"/>
          </p:cNvSpPr>
          <p:nvPr>
            <p:ph idx="1"/>
          </p:nvPr>
        </p:nvSpPr>
        <p:spPr>
          <a:xfrm>
            <a:off x="397565" y="805965"/>
            <a:ext cx="11396870" cy="3111974"/>
          </a:xfrm>
        </p:spPr>
        <p:txBody>
          <a:bodyPr>
            <a:normAutofit fontScale="77500" lnSpcReduction="20000"/>
          </a:bodyPr>
          <a:lstStyle/>
          <a:p>
            <a:pPr>
              <a:lnSpc>
                <a:spcPct val="120000"/>
              </a:lnSpc>
            </a:pPr>
            <a:r>
              <a:rPr kumimoji="1" lang="ja-JP" altLang="en-US" dirty="0"/>
              <a:t>目的</a:t>
            </a:r>
            <a:endParaRPr kumimoji="1" lang="en-US" altLang="ja-JP" dirty="0"/>
          </a:p>
          <a:p>
            <a:pPr lvl="1">
              <a:lnSpc>
                <a:spcPct val="120000"/>
              </a:lnSpc>
            </a:pPr>
            <a:r>
              <a:rPr lang="ja-JP" altLang="en-US" dirty="0"/>
              <a:t>現在、</a:t>
            </a:r>
            <a:r>
              <a:rPr lang="en-US" altLang="ja-JP" dirty="0"/>
              <a:t>Slack</a:t>
            </a:r>
            <a:r>
              <a:rPr lang="ja-JP" altLang="en-US" dirty="0"/>
              <a:t>やメールで報告される勤怠管理を一元化することで業務の効率化をはかる</a:t>
            </a:r>
            <a:endParaRPr lang="en-US" altLang="ja-JP" dirty="0"/>
          </a:p>
          <a:p>
            <a:pPr lvl="2">
              <a:lnSpc>
                <a:spcPct val="120000"/>
              </a:lnSpc>
            </a:pPr>
            <a:r>
              <a:rPr lang="ja-JP" altLang="en-US" dirty="0"/>
              <a:t>特に以下の課題解決をはかる</a:t>
            </a:r>
            <a:endParaRPr lang="en-US" altLang="ja-JP" dirty="0"/>
          </a:p>
          <a:p>
            <a:pPr lvl="3">
              <a:lnSpc>
                <a:spcPct val="120000"/>
              </a:lnSpc>
            </a:pPr>
            <a:r>
              <a:rPr lang="ja-JP" altLang="en-US" dirty="0"/>
              <a:t>１）</a:t>
            </a:r>
            <a:r>
              <a:rPr lang="en-US" altLang="ja-JP" dirty="0"/>
              <a:t>Excel</a:t>
            </a:r>
            <a:r>
              <a:rPr lang="ja-JP" altLang="en-US" dirty="0"/>
              <a:t>や</a:t>
            </a:r>
            <a:r>
              <a:rPr lang="en-US" altLang="ja-JP" dirty="0"/>
              <a:t>Slack</a:t>
            </a:r>
            <a:r>
              <a:rPr lang="ja-JP" altLang="en-US" dirty="0"/>
              <a:t>確認による勤怠の把握 → 勤怠の出力先を</a:t>
            </a:r>
            <a:r>
              <a:rPr lang="en-US" altLang="ja-JP" dirty="0"/>
              <a:t>Slack</a:t>
            </a:r>
            <a:r>
              <a:rPr lang="ja-JP" altLang="en-US" dirty="0"/>
              <a:t>のみにすることで確認の手間を削減</a:t>
            </a:r>
            <a:endParaRPr lang="en-US" altLang="ja-JP" dirty="0"/>
          </a:p>
          <a:p>
            <a:pPr lvl="3">
              <a:lnSpc>
                <a:spcPct val="120000"/>
              </a:lnSpc>
            </a:pPr>
            <a:r>
              <a:rPr lang="ja-JP" altLang="en-US" dirty="0"/>
              <a:t>２</a:t>
            </a:r>
            <a:r>
              <a:rPr kumimoji="1" lang="ja-JP" altLang="en-US" dirty="0"/>
              <a:t>）</a:t>
            </a:r>
            <a:r>
              <a:rPr lang="ja-JP" altLang="en-US" dirty="0"/>
              <a:t>変更となった勤怠の</a:t>
            </a:r>
            <a:r>
              <a:rPr kumimoji="1" lang="en-US" altLang="ja-JP" dirty="0"/>
              <a:t>Excel</a:t>
            </a:r>
            <a:r>
              <a:rPr kumimoji="1" lang="ja-JP" altLang="en-US" dirty="0"/>
              <a:t>再入力業務</a:t>
            </a:r>
            <a:r>
              <a:rPr kumimoji="1" lang="en-US" altLang="ja-JP" dirty="0"/>
              <a:t> </a:t>
            </a:r>
            <a:r>
              <a:rPr kumimoji="1" lang="ja-JP" altLang="en-US" dirty="0"/>
              <a:t>→</a:t>
            </a:r>
            <a:r>
              <a:rPr kumimoji="1" lang="en-US" altLang="ja-JP" dirty="0"/>
              <a:t> Slack</a:t>
            </a:r>
            <a:r>
              <a:rPr lang="ja-JP" altLang="en-US" dirty="0"/>
              <a:t>と</a:t>
            </a:r>
            <a:r>
              <a:rPr lang="en-US" altLang="ja-JP" dirty="0"/>
              <a:t>Excel</a:t>
            </a:r>
            <a:r>
              <a:rPr lang="ja-JP" altLang="en-US" dirty="0"/>
              <a:t>を連携させることにより</a:t>
            </a:r>
            <a:r>
              <a:rPr kumimoji="1" lang="ja-JP" altLang="en-US" dirty="0"/>
              <a:t>自動入力を実現</a:t>
            </a:r>
            <a:endParaRPr kumimoji="1" lang="en-US" altLang="ja-JP" dirty="0"/>
          </a:p>
          <a:p>
            <a:pPr lvl="2">
              <a:lnSpc>
                <a:spcPct val="120000"/>
              </a:lnSpc>
            </a:pPr>
            <a:r>
              <a:rPr lang="ja-JP" altLang="en-US" dirty="0"/>
              <a:t>その他</a:t>
            </a:r>
            <a:endParaRPr lang="en-US" altLang="ja-JP" dirty="0"/>
          </a:p>
          <a:p>
            <a:pPr lvl="3">
              <a:lnSpc>
                <a:spcPct val="120000"/>
              </a:lnSpc>
            </a:pPr>
            <a:r>
              <a:rPr lang="ja-JP" altLang="en-US" dirty="0"/>
              <a:t>スマホ対応も合わせて実施</a:t>
            </a:r>
            <a:endParaRPr lang="en-US" altLang="ja-JP" dirty="0"/>
          </a:p>
          <a:p>
            <a:pPr lvl="3">
              <a:lnSpc>
                <a:spcPct val="120000"/>
              </a:lnSpc>
            </a:pPr>
            <a:r>
              <a:rPr lang="ja-JP" altLang="en-US" dirty="0"/>
              <a:t>一元化の実現と同時に、現在の手動による</a:t>
            </a:r>
            <a:r>
              <a:rPr lang="en-US" altLang="ja-JP" dirty="0"/>
              <a:t>Excel</a:t>
            </a:r>
            <a:r>
              <a:rPr lang="ja-JP" altLang="en-US" dirty="0"/>
              <a:t>更新は電話連絡の時のみとする</a:t>
            </a:r>
            <a:endParaRPr lang="en-US" altLang="ja-JP" dirty="0"/>
          </a:p>
          <a:p>
            <a:pPr>
              <a:lnSpc>
                <a:spcPct val="120000"/>
              </a:lnSpc>
            </a:pPr>
            <a:r>
              <a:rPr lang="ja-JP" altLang="en-US" dirty="0"/>
              <a:t>範囲</a:t>
            </a:r>
            <a:endParaRPr lang="en-US" altLang="ja-JP" dirty="0"/>
          </a:p>
          <a:p>
            <a:pPr lvl="3">
              <a:lnSpc>
                <a:spcPct val="120000"/>
              </a:lnSpc>
            </a:pPr>
            <a:endParaRPr kumimoji="1" lang="ja-JP" altLang="en-US" dirty="0"/>
          </a:p>
        </p:txBody>
      </p:sp>
      <p:sp>
        <p:nvSpPr>
          <p:cNvPr id="4" name="フッター プレースホルダー 3">
            <a:extLst>
              <a:ext uri="{FF2B5EF4-FFF2-40B4-BE49-F238E27FC236}">
                <a16:creationId xmlns:a16="http://schemas.microsoft.com/office/drawing/2014/main" id="{005BD7D9-5248-B2C6-AC4B-B32462E66762}"/>
              </a:ext>
            </a:extLst>
          </p:cNvPr>
          <p:cNvSpPr>
            <a:spLocks noGrp="1"/>
          </p:cNvSpPr>
          <p:nvPr>
            <p:ph type="ftr" sz="quarter" idx="11"/>
          </p:nvPr>
        </p:nvSpPr>
        <p:spPr/>
        <p:txBody>
          <a:bodyPr/>
          <a:lstStyle/>
          <a:p>
            <a:r>
              <a:rPr lang="en-US" altLang="ja-JP" dirty="0"/>
              <a:t>DSR.</a:t>
            </a:r>
            <a:endParaRPr lang="ja-JP" altLang="en-US" dirty="0"/>
          </a:p>
        </p:txBody>
      </p:sp>
      <p:sp>
        <p:nvSpPr>
          <p:cNvPr id="5" name="スライド番号プレースホルダー 4">
            <a:extLst>
              <a:ext uri="{FF2B5EF4-FFF2-40B4-BE49-F238E27FC236}">
                <a16:creationId xmlns:a16="http://schemas.microsoft.com/office/drawing/2014/main" id="{CEB1836C-3D81-6C09-9C13-DD6DA76D7410}"/>
              </a:ext>
            </a:extLst>
          </p:cNvPr>
          <p:cNvSpPr>
            <a:spLocks noGrp="1"/>
          </p:cNvSpPr>
          <p:nvPr>
            <p:ph type="sldNum" sz="quarter" idx="12"/>
          </p:nvPr>
        </p:nvSpPr>
        <p:spPr/>
        <p:txBody>
          <a:bodyPr/>
          <a:lstStyle/>
          <a:p>
            <a:fld id="{462052E6-07CA-9B46-B866-FDE18BF74505}" type="slidenum">
              <a:rPr lang="ja-JP" altLang="en-US" smtClean="0"/>
              <a:pPr/>
              <a:t>3</a:t>
            </a:fld>
            <a:endParaRPr lang="ja-JP" altLang="en-US"/>
          </a:p>
        </p:txBody>
      </p:sp>
      <p:sp>
        <p:nvSpPr>
          <p:cNvPr id="8" name="正方形/長方形 7">
            <a:extLst>
              <a:ext uri="{FF2B5EF4-FFF2-40B4-BE49-F238E27FC236}">
                <a16:creationId xmlns:a16="http://schemas.microsoft.com/office/drawing/2014/main" id="{50AB83EF-4CD5-C2A7-A468-9A7D468F48E0}"/>
              </a:ext>
            </a:extLst>
          </p:cNvPr>
          <p:cNvSpPr/>
          <p:nvPr/>
        </p:nvSpPr>
        <p:spPr>
          <a:xfrm>
            <a:off x="2704699" y="4326269"/>
            <a:ext cx="2201005" cy="331679"/>
          </a:xfrm>
          <a:prstGeom prst="rect">
            <a:avLst/>
          </a:prstGeom>
          <a:solidFill>
            <a:srgbClr val="44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Slack</a:t>
            </a:r>
            <a:endParaRPr kumimoji="1" lang="ja-JP" altLang="en-US" sz="1200" dirty="0">
              <a:latin typeface="Meiryo UI" panose="020B0604030504040204" pitchFamily="34" charset="-128"/>
              <a:ea typeface="Meiryo UI" panose="020B0604030504040204" pitchFamily="34" charset="-128"/>
            </a:endParaRPr>
          </a:p>
        </p:txBody>
      </p:sp>
      <p:sp>
        <p:nvSpPr>
          <p:cNvPr id="9" name="正方形/長方形 8">
            <a:extLst>
              <a:ext uri="{FF2B5EF4-FFF2-40B4-BE49-F238E27FC236}">
                <a16:creationId xmlns:a16="http://schemas.microsoft.com/office/drawing/2014/main" id="{6D1D2A8D-7350-25D8-6F03-4273998B6F5A}"/>
              </a:ext>
            </a:extLst>
          </p:cNvPr>
          <p:cNvSpPr/>
          <p:nvPr/>
        </p:nvSpPr>
        <p:spPr>
          <a:xfrm>
            <a:off x="2704699" y="5216896"/>
            <a:ext cx="2201005" cy="331679"/>
          </a:xfrm>
          <a:prstGeom prst="rect">
            <a:avLst/>
          </a:prstGeom>
          <a:solidFill>
            <a:srgbClr val="44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Meiryo UI" panose="020B0604030504040204" pitchFamily="34" charset="-128"/>
                <a:ea typeface="Meiryo UI" panose="020B0604030504040204" pitchFamily="34" charset="-128"/>
              </a:rPr>
              <a:t>メール</a:t>
            </a:r>
          </a:p>
        </p:txBody>
      </p:sp>
      <p:sp>
        <p:nvSpPr>
          <p:cNvPr id="11" name="正方形/長方形 10">
            <a:extLst>
              <a:ext uri="{FF2B5EF4-FFF2-40B4-BE49-F238E27FC236}">
                <a16:creationId xmlns:a16="http://schemas.microsoft.com/office/drawing/2014/main" id="{74F793F1-5367-CE44-5C60-CE4E73CE4600}"/>
              </a:ext>
            </a:extLst>
          </p:cNvPr>
          <p:cNvSpPr/>
          <p:nvPr/>
        </p:nvSpPr>
        <p:spPr>
          <a:xfrm>
            <a:off x="8092423" y="4902767"/>
            <a:ext cx="717340" cy="5457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Excel</a:t>
            </a:r>
            <a:endParaRPr kumimoji="1" lang="ja-JP" altLang="en-US" sz="1200" dirty="0">
              <a:latin typeface="Meiryo UI" panose="020B0604030504040204" pitchFamily="34" charset="-128"/>
              <a:ea typeface="Meiryo UI" panose="020B0604030504040204" pitchFamily="34" charset="-128"/>
            </a:endParaRPr>
          </a:p>
        </p:txBody>
      </p:sp>
      <p:cxnSp>
        <p:nvCxnSpPr>
          <p:cNvPr id="13" name="直線矢印コネクタ 12">
            <a:extLst>
              <a:ext uri="{FF2B5EF4-FFF2-40B4-BE49-F238E27FC236}">
                <a16:creationId xmlns:a16="http://schemas.microsoft.com/office/drawing/2014/main" id="{0F951DB8-C50F-4BCA-1952-FA599ED342E3}"/>
              </a:ext>
            </a:extLst>
          </p:cNvPr>
          <p:cNvCxnSpPr>
            <a:cxnSpLocks/>
          </p:cNvCxnSpPr>
          <p:nvPr/>
        </p:nvCxnSpPr>
        <p:spPr>
          <a:xfrm flipV="1">
            <a:off x="1278918" y="4507139"/>
            <a:ext cx="1382189" cy="4495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0C47647A-CCB6-7721-A57A-78155EC5584D}"/>
              </a:ext>
            </a:extLst>
          </p:cNvPr>
          <p:cNvCxnSpPr>
            <a:cxnSpLocks/>
            <a:stCxn id="9" idx="3"/>
          </p:cNvCxnSpPr>
          <p:nvPr/>
        </p:nvCxnSpPr>
        <p:spPr>
          <a:xfrm flipV="1">
            <a:off x="4905704" y="5313454"/>
            <a:ext cx="1482710" cy="69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B4C47F4-BD10-F362-9CF9-51DBF210BFEB}"/>
              </a:ext>
            </a:extLst>
          </p:cNvPr>
          <p:cNvCxnSpPr>
            <a:cxnSpLocks/>
            <a:endCxn id="56" idx="3"/>
          </p:cNvCxnSpPr>
          <p:nvPr/>
        </p:nvCxnSpPr>
        <p:spPr>
          <a:xfrm flipH="1">
            <a:off x="9920244" y="5184391"/>
            <a:ext cx="7277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7" name="グループ化 36">
            <a:extLst>
              <a:ext uri="{FF2B5EF4-FFF2-40B4-BE49-F238E27FC236}">
                <a16:creationId xmlns:a16="http://schemas.microsoft.com/office/drawing/2014/main" id="{4B37B916-41C7-BF39-1188-0C8E5377FF2F}"/>
              </a:ext>
            </a:extLst>
          </p:cNvPr>
          <p:cNvGrpSpPr/>
          <p:nvPr/>
        </p:nvGrpSpPr>
        <p:grpSpPr>
          <a:xfrm>
            <a:off x="10737056" y="4956681"/>
            <a:ext cx="352052" cy="426055"/>
            <a:chOff x="9762124" y="4277710"/>
            <a:chExt cx="451856" cy="546838"/>
          </a:xfrm>
        </p:grpSpPr>
        <p:sp>
          <p:nvSpPr>
            <p:cNvPr id="35" name="円/楕円 34">
              <a:extLst>
                <a:ext uri="{FF2B5EF4-FFF2-40B4-BE49-F238E27FC236}">
                  <a16:creationId xmlns:a16="http://schemas.microsoft.com/office/drawing/2014/main" id="{C77923E6-1457-F061-295E-0D928B750FEA}"/>
                </a:ext>
              </a:extLst>
            </p:cNvPr>
            <p:cNvSpPr/>
            <p:nvPr/>
          </p:nvSpPr>
          <p:spPr>
            <a:xfrm>
              <a:off x="9858703" y="4277710"/>
              <a:ext cx="258699" cy="2586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片側の 2 つの角を丸めた四角形 35">
              <a:extLst>
                <a:ext uri="{FF2B5EF4-FFF2-40B4-BE49-F238E27FC236}">
                  <a16:creationId xmlns:a16="http://schemas.microsoft.com/office/drawing/2014/main" id="{EDE10DC8-3881-7B0B-A75C-682C7FF9FFA9}"/>
                </a:ext>
              </a:extLst>
            </p:cNvPr>
            <p:cNvSpPr/>
            <p:nvPr/>
          </p:nvSpPr>
          <p:spPr>
            <a:xfrm>
              <a:off x="9762124" y="4565849"/>
              <a:ext cx="451856" cy="258699"/>
            </a:xfrm>
            <a:prstGeom prst="round2SameRect">
              <a:avLst>
                <a:gd name="adj1" fmla="val 5000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8" name="グループ化 37">
            <a:extLst>
              <a:ext uri="{FF2B5EF4-FFF2-40B4-BE49-F238E27FC236}">
                <a16:creationId xmlns:a16="http://schemas.microsoft.com/office/drawing/2014/main" id="{7628929B-4EF2-0257-47CE-E58AA3CAB311}"/>
              </a:ext>
            </a:extLst>
          </p:cNvPr>
          <p:cNvGrpSpPr/>
          <p:nvPr/>
        </p:nvGrpSpPr>
        <p:grpSpPr>
          <a:xfrm>
            <a:off x="865508" y="4701210"/>
            <a:ext cx="352052" cy="426055"/>
            <a:chOff x="9762124" y="4277710"/>
            <a:chExt cx="451856" cy="546838"/>
          </a:xfrm>
          <a:solidFill>
            <a:srgbClr val="00B050"/>
          </a:solidFill>
        </p:grpSpPr>
        <p:sp>
          <p:nvSpPr>
            <p:cNvPr id="39" name="円/楕円 38">
              <a:extLst>
                <a:ext uri="{FF2B5EF4-FFF2-40B4-BE49-F238E27FC236}">
                  <a16:creationId xmlns:a16="http://schemas.microsoft.com/office/drawing/2014/main" id="{93042DDF-9E68-9926-E428-A0CA741ADF8D}"/>
                </a:ext>
              </a:extLst>
            </p:cNvPr>
            <p:cNvSpPr/>
            <p:nvPr/>
          </p:nvSpPr>
          <p:spPr>
            <a:xfrm>
              <a:off x="9858703" y="4277710"/>
              <a:ext cx="258699" cy="2586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片側の 2 つの角を丸めた四角形 39">
              <a:extLst>
                <a:ext uri="{FF2B5EF4-FFF2-40B4-BE49-F238E27FC236}">
                  <a16:creationId xmlns:a16="http://schemas.microsoft.com/office/drawing/2014/main" id="{4D82E5E6-7025-F013-27C3-62CFBD7B5801}"/>
                </a:ext>
              </a:extLst>
            </p:cNvPr>
            <p:cNvSpPr/>
            <p:nvPr/>
          </p:nvSpPr>
          <p:spPr>
            <a:xfrm>
              <a:off x="9762124" y="4565849"/>
              <a:ext cx="451856" cy="258699"/>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5" name="正方形/長方形 44">
            <a:extLst>
              <a:ext uri="{FF2B5EF4-FFF2-40B4-BE49-F238E27FC236}">
                <a16:creationId xmlns:a16="http://schemas.microsoft.com/office/drawing/2014/main" id="{3EA41E7D-9E02-1F83-F480-07AD1DA3303E}"/>
              </a:ext>
            </a:extLst>
          </p:cNvPr>
          <p:cNvSpPr/>
          <p:nvPr/>
        </p:nvSpPr>
        <p:spPr>
          <a:xfrm>
            <a:off x="2334922" y="4088524"/>
            <a:ext cx="4940690" cy="1584482"/>
          </a:xfrm>
          <a:prstGeom prst="rect">
            <a:avLst/>
          </a:prstGeom>
          <a:noFill/>
          <a:ln w="19050">
            <a:solidFill>
              <a:srgbClr val="FF0000"/>
            </a:solidFill>
            <a:prstDash val="dash"/>
          </a:ln>
        </p:spPr>
        <p:style>
          <a:lnRef idx="2">
            <a:schemeClr val="accent2"/>
          </a:lnRef>
          <a:fillRef idx="1">
            <a:schemeClr val="lt1"/>
          </a:fillRef>
          <a:effectRef idx="0">
            <a:schemeClr val="accent2"/>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endParaRPr kumimoji="1" lang="ja-JP" altLang="en-US"/>
          </a:p>
        </p:txBody>
      </p:sp>
      <p:sp>
        <p:nvSpPr>
          <p:cNvPr id="47" name="テキスト ボックス 46">
            <a:extLst>
              <a:ext uri="{FF2B5EF4-FFF2-40B4-BE49-F238E27FC236}">
                <a16:creationId xmlns:a16="http://schemas.microsoft.com/office/drawing/2014/main" id="{039D6CFA-C142-ABDD-C6E1-3FC7FAE78D76}"/>
              </a:ext>
            </a:extLst>
          </p:cNvPr>
          <p:cNvSpPr txBox="1"/>
          <p:nvPr/>
        </p:nvSpPr>
        <p:spPr>
          <a:xfrm>
            <a:off x="786475" y="5171510"/>
            <a:ext cx="492443" cy="276999"/>
          </a:xfrm>
          <a:prstGeom prst="rect">
            <a:avLst/>
          </a:prstGeom>
          <a:noFill/>
        </p:spPr>
        <p:txBody>
          <a:bodyPr wrap="none" rtlCol="0">
            <a:spAutoFit/>
          </a:bodyPr>
          <a:lstStyle/>
          <a:p>
            <a:r>
              <a:rPr lang="ja-JP" altLang="en-US" sz="1200" dirty="0">
                <a:latin typeface="Meiryo UI" panose="020B0604030504040204" pitchFamily="34" charset="-128"/>
                <a:ea typeface="Meiryo UI" panose="020B0604030504040204" pitchFamily="34" charset="-128"/>
              </a:rPr>
              <a:t>社員</a:t>
            </a:r>
            <a:endParaRPr kumimoji="1" lang="ja-JP" altLang="en-US" sz="1200" dirty="0">
              <a:latin typeface="Meiryo UI" panose="020B0604030504040204" pitchFamily="34" charset="-128"/>
              <a:ea typeface="Meiryo UI" panose="020B0604030504040204" pitchFamily="34" charset="-128"/>
            </a:endParaRPr>
          </a:p>
        </p:txBody>
      </p:sp>
      <p:sp>
        <p:nvSpPr>
          <p:cNvPr id="48" name="テキスト ボックス 47">
            <a:extLst>
              <a:ext uri="{FF2B5EF4-FFF2-40B4-BE49-F238E27FC236}">
                <a16:creationId xmlns:a16="http://schemas.microsoft.com/office/drawing/2014/main" id="{5A6DB7F2-8B12-AFFD-95BF-FB973A4200B8}"/>
              </a:ext>
            </a:extLst>
          </p:cNvPr>
          <p:cNvSpPr txBox="1"/>
          <p:nvPr/>
        </p:nvSpPr>
        <p:spPr>
          <a:xfrm>
            <a:off x="10589916" y="5396007"/>
            <a:ext cx="646331" cy="276999"/>
          </a:xfrm>
          <a:prstGeom prst="rect">
            <a:avLst/>
          </a:prstGeom>
          <a:noFill/>
        </p:spPr>
        <p:txBody>
          <a:bodyPr wrap="none" rtlCol="0">
            <a:spAutoFit/>
          </a:bodyPr>
          <a:lstStyle/>
          <a:p>
            <a:r>
              <a:rPr kumimoji="1" lang="ja-JP" altLang="en-US" sz="1200" dirty="0">
                <a:latin typeface="Meiryo UI" panose="020B0604030504040204" pitchFamily="34" charset="-128"/>
                <a:ea typeface="Meiryo UI" panose="020B0604030504040204" pitchFamily="34" charset="-128"/>
              </a:rPr>
              <a:t>部門長</a:t>
            </a:r>
          </a:p>
        </p:txBody>
      </p:sp>
      <p:sp>
        <p:nvSpPr>
          <p:cNvPr id="49" name="テキスト ボックス 48">
            <a:extLst>
              <a:ext uri="{FF2B5EF4-FFF2-40B4-BE49-F238E27FC236}">
                <a16:creationId xmlns:a16="http://schemas.microsoft.com/office/drawing/2014/main" id="{9D36B515-5A30-C6AA-D087-0B2065BBFB35}"/>
              </a:ext>
            </a:extLst>
          </p:cNvPr>
          <p:cNvSpPr txBox="1"/>
          <p:nvPr/>
        </p:nvSpPr>
        <p:spPr>
          <a:xfrm>
            <a:off x="5719206" y="4154380"/>
            <a:ext cx="1482711" cy="276999"/>
          </a:xfrm>
          <a:prstGeom prst="rect">
            <a:avLst/>
          </a:prstGeom>
          <a:noFill/>
        </p:spPr>
        <p:txBody>
          <a:bodyPr wrap="square" rtlCol="0">
            <a:spAutoFit/>
          </a:bodyPr>
          <a:lstStyle/>
          <a:p>
            <a:r>
              <a:rPr kumimoji="1" lang="ja-JP" altLang="en-US" sz="1200" dirty="0">
                <a:latin typeface="Meiryo UI" panose="020B0604030504040204" pitchFamily="34" charset="-128"/>
                <a:ea typeface="Meiryo UI" panose="020B0604030504040204" pitchFamily="34" charset="-128"/>
              </a:rPr>
              <a:t>勤怠管理の一元化</a:t>
            </a:r>
          </a:p>
        </p:txBody>
      </p:sp>
      <p:sp>
        <p:nvSpPr>
          <p:cNvPr id="50" name="テキスト ボックス 49">
            <a:extLst>
              <a:ext uri="{FF2B5EF4-FFF2-40B4-BE49-F238E27FC236}">
                <a16:creationId xmlns:a16="http://schemas.microsoft.com/office/drawing/2014/main" id="{4884E436-E3F7-5C0B-2E15-C8D98AEBFAEA}"/>
              </a:ext>
            </a:extLst>
          </p:cNvPr>
          <p:cNvSpPr txBox="1"/>
          <p:nvPr/>
        </p:nvSpPr>
        <p:spPr>
          <a:xfrm>
            <a:off x="1518111" y="4358341"/>
            <a:ext cx="800219" cy="276999"/>
          </a:xfrm>
          <a:prstGeom prst="rect">
            <a:avLst/>
          </a:prstGeom>
          <a:noFill/>
        </p:spPr>
        <p:txBody>
          <a:bodyPr wrap="none" rtlCol="0">
            <a:spAutoFit/>
          </a:bodyPr>
          <a:lstStyle/>
          <a:p>
            <a:r>
              <a:rPr kumimoji="1" lang="ja-JP" altLang="en-US" sz="1200" dirty="0">
                <a:latin typeface="Meiryo UI" panose="020B0604030504040204" pitchFamily="34" charset="-128"/>
                <a:ea typeface="Meiryo UI" panose="020B0604030504040204" pitchFamily="34" charset="-128"/>
              </a:rPr>
              <a:t>勤怠連絡</a:t>
            </a:r>
          </a:p>
        </p:txBody>
      </p:sp>
      <p:sp>
        <p:nvSpPr>
          <p:cNvPr id="51" name="テキスト ボックス 50">
            <a:extLst>
              <a:ext uri="{FF2B5EF4-FFF2-40B4-BE49-F238E27FC236}">
                <a16:creationId xmlns:a16="http://schemas.microsoft.com/office/drawing/2014/main" id="{2A9612E7-6481-507F-291E-76377A1C1E3B}"/>
              </a:ext>
            </a:extLst>
          </p:cNvPr>
          <p:cNvSpPr txBox="1"/>
          <p:nvPr/>
        </p:nvSpPr>
        <p:spPr>
          <a:xfrm>
            <a:off x="9969492" y="4722726"/>
            <a:ext cx="800219" cy="461665"/>
          </a:xfrm>
          <a:prstGeom prst="rect">
            <a:avLst/>
          </a:prstGeom>
          <a:noFill/>
        </p:spPr>
        <p:txBody>
          <a:bodyPr wrap="none" rtlCol="0">
            <a:spAutoFit/>
          </a:bodyPr>
          <a:lstStyle/>
          <a:p>
            <a:pPr algn="ctr"/>
            <a:r>
              <a:rPr lang="ja-JP" altLang="en-US" sz="1200" dirty="0">
                <a:latin typeface="Meiryo UI" panose="020B0604030504040204" pitchFamily="34" charset="-128"/>
                <a:ea typeface="Meiryo UI" panose="020B0604030504040204" pitchFamily="34" charset="-128"/>
              </a:rPr>
              <a:t>確認</a:t>
            </a:r>
            <a:endParaRPr lang="en-US" altLang="ja-JP" sz="1200" dirty="0">
              <a:latin typeface="Meiryo UI" panose="020B0604030504040204" pitchFamily="34" charset="-128"/>
              <a:ea typeface="Meiryo UI" panose="020B0604030504040204" pitchFamily="34" charset="-128"/>
            </a:endParaRPr>
          </a:p>
          <a:p>
            <a:pPr algn="ctr"/>
            <a:r>
              <a:rPr kumimoji="1" lang="ja-JP" altLang="en-US" sz="1200" dirty="0">
                <a:latin typeface="Meiryo UI" panose="020B0604030504040204" pitchFamily="34" charset="-128"/>
                <a:ea typeface="Meiryo UI" panose="020B0604030504040204" pitchFamily="34" charset="-128"/>
              </a:rPr>
              <a:t>（日次）</a:t>
            </a:r>
          </a:p>
        </p:txBody>
      </p:sp>
      <p:sp>
        <p:nvSpPr>
          <p:cNvPr id="79" name="テキスト ボックス 78">
            <a:extLst>
              <a:ext uri="{FF2B5EF4-FFF2-40B4-BE49-F238E27FC236}">
                <a16:creationId xmlns:a16="http://schemas.microsoft.com/office/drawing/2014/main" id="{0E4C73C1-FDD5-BB1A-5C7D-D732F5056379}"/>
              </a:ext>
            </a:extLst>
          </p:cNvPr>
          <p:cNvSpPr txBox="1"/>
          <p:nvPr/>
        </p:nvSpPr>
        <p:spPr>
          <a:xfrm>
            <a:off x="7490885" y="4772015"/>
            <a:ext cx="451266" cy="369332"/>
          </a:xfrm>
          <a:prstGeom prst="rect">
            <a:avLst/>
          </a:prstGeom>
          <a:noFill/>
        </p:spPr>
        <p:txBody>
          <a:bodyPr wrap="square" rtlCol="0">
            <a:spAutoFit/>
          </a:bodyPr>
          <a:lstStyle/>
          <a:p>
            <a:r>
              <a:rPr lang="ja-JP" altLang="en-US" sz="900" dirty="0">
                <a:latin typeface="Meiryo UI" panose="020B0604030504040204" pitchFamily="34" charset="-128"/>
                <a:ea typeface="Meiryo UI" panose="020B0604030504040204" pitchFamily="34" charset="-128"/>
              </a:rPr>
              <a:t>自動</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入力</a:t>
            </a:r>
            <a:endParaRPr kumimoji="1" lang="ja-JP" altLang="en-US" sz="900" dirty="0">
              <a:latin typeface="Meiryo UI" panose="020B0604030504040204" pitchFamily="34" charset="-128"/>
              <a:ea typeface="Meiryo UI" panose="020B0604030504040204" pitchFamily="34" charset="-128"/>
            </a:endParaRPr>
          </a:p>
        </p:txBody>
      </p:sp>
      <p:sp>
        <p:nvSpPr>
          <p:cNvPr id="43" name="正方形/長方形 42">
            <a:extLst>
              <a:ext uri="{FF2B5EF4-FFF2-40B4-BE49-F238E27FC236}">
                <a16:creationId xmlns:a16="http://schemas.microsoft.com/office/drawing/2014/main" id="{69BF3C74-7E89-4C63-AE3C-1822C9271C94}"/>
              </a:ext>
            </a:extLst>
          </p:cNvPr>
          <p:cNvSpPr/>
          <p:nvPr/>
        </p:nvSpPr>
        <p:spPr>
          <a:xfrm>
            <a:off x="2704699" y="4701210"/>
            <a:ext cx="2201005" cy="441650"/>
          </a:xfrm>
          <a:prstGeom prst="rect">
            <a:avLst/>
          </a:prstGeom>
          <a:solidFill>
            <a:srgbClr val="44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Slack</a:t>
            </a:r>
            <a:r>
              <a:rPr lang="ja-JP" altLang="en-US" sz="1200" dirty="0">
                <a:latin typeface="Meiryo UI" panose="020B0604030504040204" pitchFamily="34" charset="-128"/>
                <a:ea typeface="Meiryo UI" panose="020B0604030504040204" pitchFamily="34" charset="-128"/>
              </a:rPr>
              <a:t> </a:t>
            </a:r>
            <a:endParaRPr lang="en-US" altLang="ja-JP" sz="1200" dirty="0">
              <a:latin typeface="Meiryo UI" panose="020B0604030504040204" pitchFamily="34" charset="-128"/>
              <a:ea typeface="Meiryo UI" panose="020B0604030504040204" pitchFamily="34" charset="-128"/>
            </a:endParaRPr>
          </a:p>
          <a:p>
            <a:pPr algn="ctr"/>
            <a:r>
              <a:rPr kumimoji="1" lang="en-US" altLang="ja-JP" sz="1200" dirty="0">
                <a:latin typeface="Meiryo UI" panose="020B0604030504040204" pitchFamily="34" charset="-128"/>
                <a:ea typeface="Meiryo UI" panose="020B0604030504040204" pitchFamily="34" charset="-128"/>
              </a:rPr>
              <a:t>(</a:t>
            </a:r>
            <a:r>
              <a:rPr kumimoji="1" lang="ja-JP" altLang="en-US" sz="1200" dirty="0">
                <a:latin typeface="Meiryo UI" panose="020B0604030504040204" pitchFamily="34" charset="-128"/>
                <a:ea typeface="Meiryo UI" panose="020B0604030504040204" pitchFamily="34" charset="-128"/>
              </a:rPr>
              <a:t>上とは別の</a:t>
            </a:r>
            <a:r>
              <a:rPr lang="ja-JP" altLang="en-US" sz="1200" dirty="0">
                <a:latin typeface="Meiryo UI" panose="020B0604030504040204" pitchFamily="34" charset="-128"/>
                <a:ea typeface="Meiryo UI" panose="020B0604030504040204" pitchFamily="34" charset="-128"/>
              </a:rPr>
              <a:t>ワークスペース</a:t>
            </a:r>
            <a:r>
              <a:rPr kumimoji="1" lang="en-US" altLang="ja-JP" sz="1200" dirty="0">
                <a:latin typeface="Meiryo UI" panose="020B0604030504040204" pitchFamily="34" charset="-128"/>
                <a:ea typeface="Meiryo UI" panose="020B0604030504040204" pitchFamily="34" charset="-128"/>
              </a:rPr>
              <a:t>)</a:t>
            </a:r>
            <a:endParaRPr kumimoji="1" lang="ja-JP" altLang="en-US" sz="1200" dirty="0">
              <a:latin typeface="Meiryo UI" panose="020B0604030504040204" pitchFamily="34" charset="-128"/>
              <a:ea typeface="Meiryo UI" panose="020B0604030504040204" pitchFamily="34" charset="-128"/>
            </a:endParaRPr>
          </a:p>
        </p:txBody>
      </p:sp>
      <p:cxnSp>
        <p:nvCxnSpPr>
          <p:cNvPr id="52" name="直線矢印コネクタ 51">
            <a:extLst>
              <a:ext uri="{FF2B5EF4-FFF2-40B4-BE49-F238E27FC236}">
                <a16:creationId xmlns:a16="http://schemas.microsoft.com/office/drawing/2014/main" id="{0C1D9D48-F5D4-4270-BB7A-B210D405D975}"/>
              </a:ext>
            </a:extLst>
          </p:cNvPr>
          <p:cNvCxnSpPr>
            <a:cxnSpLocks/>
          </p:cNvCxnSpPr>
          <p:nvPr/>
        </p:nvCxnSpPr>
        <p:spPr>
          <a:xfrm flipV="1">
            <a:off x="1261152" y="4872777"/>
            <a:ext cx="1399955" cy="94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正方形/長方形 55">
            <a:extLst>
              <a:ext uri="{FF2B5EF4-FFF2-40B4-BE49-F238E27FC236}">
                <a16:creationId xmlns:a16="http://schemas.microsoft.com/office/drawing/2014/main" id="{38381D16-4DED-47D2-8125-924D0A28FDC4}"/>
              </a:ext>
            </a:extLst>
          </p:cNvPr>
          <p:cNvSpPr/>
          <p:nvPr/>
        </p:nvSpPr>
        <p:spPr>
          <a:xfrm>
            <a:off x="9202904" y="4911520"/>
            <a:ext cx="717340" cy="5457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Meiryo UI" panose="020B0604030504040204" pitchFamily="34" charset="-128"/>
                <a:ea typeface="Meiryo UI" panose="020B0604030504040204" pitchFamily="34" charset="-128"/>
              </a:rPr>
              <a:t>メール</a:t>
            </a:r>
            <a:endParaRPr lang="en-US" altLang="ja-JP" sz="1200" dirty="0">
              <a:latin typeface="Meiryo UI" panose="020B0604030504040204" pitchFamily="34" charset="-128"/>
              <a:ea typeface="Meiryo UI" panose="020B0604030504040204" pitchFamily="34" charset="-128"/>
            </a:endParaRPr>
          </a:p>
          <a:p>
            <a:pPr algn="ctr"/>
            <a:r>
              <a:rPr kumimoji="1" lang="en-US" altLang="ja-JP" sz="1200" dirty="0">
                <a:latin typeface="Meiryo UI" panose="020B0604030504040204" pitchFamily="34" charset="-128"/>
                <a:ea typeface="Meiryo UI" panose="020B0604030504040204" pitchFamily="34" charset="-128"/>
              </a:rPr>
              <a:t>Slack</a:t>
            </a:r>
            <a:endParaRPr kumimoji="1" lang="ja-JP" altLang="en-US" sz="1200" dirty="0">
              <a:latin typeface="Meiryo UI" panose="020B0604030504040204" pitchFamily="34" charset="-128"/>
              <a:ea typeface="Meiryo UI" panose="020B0604030504040204" pitchFamily="34" charset="-128"/>
            </a:endParaRPr>
          </a:p>
        </p:txBody>
      </p:sp>
      <p:cxnSp>
        <p:nvCxnSpPr>
          <p:cNvPr id="57" name="直線矢印コネクタ 56">
            <a:extLst>
              <a:ext uri="{FF2B5EF4-FFF2-40B4-BE49-F238E27FC236}">
                <a16:creationId xmlns:a16="http://schemas.microsoft.com/office/drawing/2014/main" id="{22CD174E-F9A5-41AE-80B4-11445602D06A}"/>
              </a:ext>
            </a:extLst>
          </p:cNvPr>
          <p:cNvCxnSpPr>
            <a:cxnSpLocks/>
          </p:cNvCxnSpPr>
          <p:nvPr/>
        </p:nvCxnSpPr>
        <p:spPr>
          <a:xfrm>
            <a:off x="1300552" y="4967121"/>
            <a:ext cx="1340631" cy="415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正方形/長方形 59">
            <a:extLst>
              <a:ext uri="{FF2B5EF4-FFF2-40B4-BE49-F238E27FC236}">
                <a16:creationId xmlns:a16="http://schemas.microsoft.com/office/drawing/2014/main" id="{89E1172A-A639-4915-B049-4772A7DBB1B5}"/>
              </a:ext>
            </a:extLst>
          </p:cNvPr>
          <p:cNvSpPr/>
          <p:nvPr/>
        </p:nvSpPr>
        <p:spPr>
          <a:xfrm>
            <a:off x="2704698" y="5732367"/>
            <a:ext cx="2201005" cy="331679"/>
          </a:xfrm>
          <a:prstGeom prst="rect">
            <a:avLst/>
          </a:prstGeom>
          <a:solidFill>
            <a:srgbClr val="44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Meiryo UI" panose="020B0604030504040204" pitchFamily="34" charset="-128"/>
                <a:ea typeface="Meiryo UI" panose="020B0604030504040204" pitchFamily="34" charset="-128"/>
              </a:rPr>
              <a:t>電話</a:t>
            </a:r>
            <a:endParaRPr kumimoji="1" lang="ja-JP" altLang="en-US" sz="1200" dirty="0">
              <a:latin typeface="Meiryo UI" panose="020B0604030504040204" pitchFamily="34" charset="-128"/>
              <a:ea typeface="Meiryo UI" panose="020B0604030504040204" pitchFamily="34" charset="-128"/>
            </a:endParaRPr>
          </a:p>
        </p:txBody>
      </p:sp>
      <p:sp>
        <p:nvSpPr>
          <p:cNvPr id="64" name="テキスト ボックス 63">
            <a:extLst>
              <a:ext uri="{FF2B5EF4-FFF2-40B4-BE49-F238E27FC236}">
                <a16:creationId xmlns:a16="http://schemas.microsoft.com/office/drawing/2014/main" id="{61CAA137-EE70-4749-877F-CBE03A64F27C}"/>
              </a:ext>
            </a:extLst>
          </p:cNvPr>
          <p:cNvSpPr txBox="1"/>
          <p:nvPr/>
        </p:nvSpPr>
        <p:spPr>
          <a:xfrm>
            <a:off x="7999827" y="5532586"/>
            <a:ext cx="451266" cy="369332"/>
          </a:xfrm>
          <a:prstGeom prst="rect">
            <a:avLst/>
          </a:prstGeom>
          <a:noFill/>
        </p:spPr>
        <p:txBody>
          <a:bodyPr wrap="square" rtlCol="0">
            <a:spAutoFit/>
          </a:bodyPr>
          <a:lstStyle/>
          <a:p>
            <a:r>
              <a:rPr lang="ja-JP" altLang="en-US" sz="900" dirty="0">
                <a:latin typeface="Meiryo UI" panose="020B0604030504040204" pitchFamily="34" charset="-128"/>
                <a:ea typeface="Meiryo UI" panose="020B0604030504040204" pitchFamily="34" charset="-128"/>
              </a:rPr>
              <a:t>手動</a:t>
            </a:r>
            <a:endParaRPr lang="en-US" altLang="ja-JP" sz="900" dirty="0">
              <a:latin typeface="Meiryo UI" panose="020B0604030504040204" pitchFamily="34" charset="-128"/>
              <a:ea typeface="Meiryo UI" panose="020B0604030504040204" pitchFamily="34" charset="-128"/>
            </a:endParaRPr>
          </a:p>
          <a:p>
            <a:r>
              <a:rPr lang="ja-JP" altLang="en-US" sz="900" dirty="0">
                <a:latin typeface="Meiryo UI" panose="020B0604030504040204" pitchFamily="34" charset="-128"/>
                <a:ea typeface="Meiryo UI" panose="020B0604030504040204" pitchFamily="34" charset="-128"/>
              </a:rPr>
              <a:t>入力</a:t>
            </a:r>
            <a:endParaRPr kumimoji="1" lang="ja-JP" altLang="en-US" sz="900" dirty="0">
              <a:latin typeface="Meiryo UI" panose="020B0604030504040204" pitchFamily="34" charset="-128"/>
              <a:ea typeface="Meiryo UI" panose="020B0604030504040204" pitchFamily="34" charset="-128"/>
            </a:endParaRPr>
          </a:p>
        </p:txBody>
      </p:sp>
      <p:cxnSp>
        <p:nvCxnSpPr>
          <p:cNvPr id="65" name="直線矢印コネクタ 64">
            <a:extLst>
              <a:ext uri="{FF2B5EF4-FFF2-40B4-BE49-F238E27FC236}">
                <a16:creationId xmlns:a16="http://schemas.microsoft.com/office/drawing/2014/main" id="{C8D43C73-4331-467D-97B0-B342DD4490EE}"/>
              </a:ext>
            </a:extLst>
          </p:cNvPr>
          <p:cNvCxnSpPr>
            <a:cxnSpLocks/>
            <a:stCxn id="43" idx="3"/>
          </p:cNvCxnSpPr>
          <p:nvPr/>
        </p:nvCxnSpPr>
        <p:spPr>
          <a:xfrm>
            <a:off x="4905704" y="4922035"/>
            <a:ext cx="1482710" cy="294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正方形/長方形 77">
            <a:extLst>
              <a:ext uri="{FF2B5EF4-FFF2-40B4-BE49-F238E27FC236}">
                <a16:creationId xmlns:a16="http://schemas.microsoft.com/office/drawing/2014/main" id="{77F169D9-D6FF-491E-9367-215AA9BDC821}"/>
              </a:ext>
            </a:extLst>
          </p:cNvPr>
          <p:cNvSpPr/>
          <p:nvPr/>
        </p:nvSpPr>
        <p:spPr>
          <a:xfrm>
            <a:off x="6460562" y="4894262"/>
            <a:ext cx="683173" cy="554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latin typeface="Meiryo UI" panose="020B0604030504040204" pitchFamily="34" charset="-128"/>
                <a:ea typeface="Meiryo UI" panose="020B0604030504040204" pitchFamily="34" charset="-128"/>
              </a:rPr>
              <a:t>DB</a:t>
            </a:r>
            <a:endParaRPr kumimoji="1" lang="ja-JP" altLang="en-US" sz="1200" dirty="0">
              <a:latin typeface="Meiryo UI" panose="020B0604030504040204" pitchFamily="34" charset="-128"/>
              <a:ea typeface="Meiryo UI" panose="020B0604030504040204" pitchFamily="34" charset="-128"/>
            </a:endParaRPr>
          </a:p>
        </p:txBody>
      </p:sp>
      <p:cxnSp>
        <p:nvCxnSpPr>
          <p:cNvPr id="84" name="直線矢印コネクタ 83">
            <a:extLst>
              <a:ext uri="{FF2B5EF4-FFF2-40B4-BE49-F238E27FC236}">
                <a16:creationId xmlns:a16="http://schemas.microsoft.com/office/drawing/2014/main" id="{853B3008-2A01-480A-947A-459819D21D92}"/>
              </a:ext>
            </a:extLst>
          </p:cNvPr>
          <p:cNvCxnSpPr>
            <a:cxnSpLocks/>
            <a:stCxn id="8" idx="3"/>
          </p:cNvCxnSpPr>
          <p:nvPr/>
        </p:nvCxnSpPr>
        <p:spPr>
          <a:xfrm>
            <a:off x="4905704" y="4492109"/>
            <a:ext cx="1482710" cy="635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59759FCF-03B1-46B1-AB80-963BE79C8156}"/>
              </a:ext>
            </a:extLst>
          </p:cNvPr>
          <p:cNvCxnSpPr>
            <a:cxnSpLocks/>
            <a:stCxn id="78" idx="3"/>
            <a:endCxn id="11" idx="1"/>
          </p:cNvCxnSpPr>
          <p:nvPr/>
        </p:nvCxnSpPr>
        <p:spPr>
          <a:xfrm>
            <a:off x="7143735" y="5171510"/>
            <a:ext cx="948688" cy="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0CDE1251-3753-4B24-B8A6-1BE031B6EA45}"/>
              </a:ext>
            </a:extLst>
          </p:cNvPr>
          <p:cNvCxnSpPr>
            <a:cxnSpLocks/>
            <a:endCxn id="56" idx="1"/>
          </p:cNvCxnSpPr>
          <p:nvPr/>
        </p:nvCxnSpPr>
        <p:spPr>
          <a:xfrm>
            <a:off x="8809763" y="5179113"/>
            <a:ext cx="393141" cy="5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吹き出し: 円形 94">
            <a:extLst>
              <a:ext uri="{FF2B5EF4-FFF2-40B4-BE49-F238E27FC236}">
                <a16:creationId xmlns:a16="http://schemas.microsoft.com/office/drawing/2014/main" id="{82BA8962-D9C5-4E71-B449-CA1729BDAFB2}"/>
              </a:ext>
            </a:extLst>
          </p:cNvPr>
          <p:cNvSpPr/>
          <p:nvPr/>
        </p:nvSpPr>
        <p:spPr>
          <a:xfrm>
            <a:off x="786475" y="5823462"/>
            <a:ext cx="1531855" cy="558265"/>
          </a:xfrm>
          <a:prstGeom prst="wedgeEllipseCallout">
            <a:avLst>
              <a:gd name="adj1" fmla="val 81833"/>
              <a:gd name="adj2" fmla="val -115087"/>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Meiryo UI" panose="020B0604030504040204" pitchFamily="34" charset="-128"/>
                <a:ea typeface="Meiryo UI" panose="020B0604030504040204" pitchFamily="34" charset="-128"/>
              </a:rPr>
              <a:t>勤怠アプリ用の</a:t>
            </a:r>
            <a:r>
              <a:rPr kumimoji="1" lang="ja-JP" altLang="en-US" sz="1200" dirty="0">
                <a:latin typeface="Meiryo UI" panose="020B0604030504040204" pitchFamily="34" charset="-128"/>
                <a:ea typeface="Meiryo UI" panose="020B0604030504040204" pitchFamily="34" charset="-128"/>
              </a:rPr>
              <a:t>メールアドレス</a:t>
            </a:r>
          </a:p>
        </p:txBody>
      </p:sp>
      <p:cxnSp>
        <p:nvCxnSpPr>
          <p:cNvPr id="96" name="直線矢印コネクタ 95">
            <a:extLst>
              <a:ext uri="{FF2B5EF4-FFF2-40B4-BE49-F238E27FC236}">
                <a16:creationId xmlns:a16="http://schemas.microsoft.com/office/drawing/2014/main" id="{7BDF80F2-7A74-4CE1-8E06-3D8B4405D82D}"/>
              </a:ext>
            </a:extLst>
          </p:cNvPr>
          <p:cNvCxnSpPr>
            <a:cxnSpLocks/>
          </p:cNvCxnSpPr>
          <p:nvPr/>
        </p:nvCxnSpPr>
        <p:spPr>
          <a:xfrm>
            <a:off x="1278918" y="4967121"/>
            <a:ext cx="1353633" cy="931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コネクタ: カギ線 100">
            <a:extLst>
              <a:ext uri="{FF2B5EF4-FFF2-40B4-BE49-F238E27FC236}">
                <a16:creationId xmlns:a16="http://schemas.microsoft.com/office/drawing/2014/main" id="{983EC386-411B-418C-8776-DEC29049F8B5}"/>
              </a:ext>
            </a:extLst>
          </p:cNvPr>
          <p:cNvCxnSpPr>
            <a:cxnSpLocks/>
            <a:stCxn id="60" idx="3"/>
            <a:endCxn id="11" idx="2"/>
          </p:cNvCxnSpPr>
          <p:nvPr/>
        </p:nvCxnSpPr>
        <p:spPr>
          <a:xfrm flipV="1">
            <a:off x="4905703" y="5448509"/>
            <a:ext cx="3545390" cy="4496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吹き出し: 円形 104">
            <a:extLst>
              <a:ext uri="{FF2B5EF4-FFF2-40B4-BE49-F238E27FC236}">
                <a16:creationId xmlns:a16="http://schemas.microsoft.com/office/drawing/2014/main" id="{156F2D14-F44A-434A-AC7C-792F3ACAE307}"/>
              </a:ext>
            </a:extLst>
          </p:cNvPr>
          <p:cNvSpPr/>
          <p:nvPr/>
        </p:nvSpPr>
        <p:spPr>
          <a:xfrm>
            <a:off x="2119649" y="4015372"/>
            <a:ext cx="1297628" cy="311645"/>
          </a:xfrm>
          <a:prstGeom prst="wedgeEllipseCallout">
            <a:avLst>
              <a:gd name="adj1" fmla="val 43504"/>
              <a:gd name="adj2" fmla="val 8146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latin typeface="Meiryo UI" panose="020B0604030504040204" pitchFamily="34" charset="-128"/>
                <a:ea typeface="Meiryo UI" panose="020B0604030504040204" pitchFamily="34" charset="-128"/>
              </a:rPr>
              <a:t>3/4/5</a:t>
            </a:r>
            <a:r>
              <a:rPr lang="ja-JP" altLang="en-US" sz="1200" dirty="0">
                <a:latin typeface="Meiryo UI" panose="020B0604030504040204" pitchFamily="34" charset="-128"/>
                <a:ea typeface="Meiryo UI" panose="020B0604030504040204" pitchFamily="34" charset="-128"/>
              </a:rPr>
              <a:t>課</a:t>
            </a:r>
            <a:endParaRPr kumimoji="1" lang="ja-JP" altLang="en-US" sz="1200" dirty="0">
              <a:latin typeface="Meiryo UI" panose="020B0604030504040204" pitchFamily="34" charset="-128"/>
              <a:ea typeface="Meiryo UI" panose="020B0604030504040204" pitchFamily="34" charset="-128"/>
            </a:endParaRPr>
          </a:p>
        </p:txBody>
      </p:sp>
      <p:sp>
        <p:nvSpPr>
          <p:cNvPr id="106" name="吹き出し: 円形 105">
            <a:extLst>
              <a:ext uri="{FF2B5EF4-FFF2-40B4-BE49-F238E27FC236}">
                <a16:creationId xmlns:a16="http://schemas.microsoft.com/office/drawing/2014/main" id="{2265A66A-F48B-4169-A6D0-F20FDEA617F6}"/>
              </a:ext>
            </a:extLst>
          </p:cNvPr>
          <p:cNvSpPr/>
          <p:nvPr/>
        </p:nvSpPr>
        <p:spPr>
          <a:xfrm>
            <a:off x="3624668" y="4478346"/>
            <a:ext cx="1297628" cy="311645"/>
          </a:xfrm>
          <a:prstGeom prst="wedgeEllipseCallout">
            <a:avLst>
              <a:gd name="adj1" fmla="val 43504"/>
              <a:gd name="adj2" fmla="val 8146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latin typeface="Meiryo UI" panose="020B0604030504040204" pitchFamily="34" charset="-128"/>
                <a:ea typeface="Meiryo UI" panose="020B0604030504040204" pitchFamily="34" charset="-128"/>
              </a:rPr>
              <a:t>5</a:t>
            </a:r>
            <a:r>
              <a:rPr lang="ja-JP" altLang="en-US" sz="1200" dirty="0">
                <a:latin typeface="Meiryo UI" panose="020B0604030504040204" pitchFamily="34" charset="-128"/>
                <a:ea typeface="Meiryo UI" panose="020B0604030504040204" pitchFamily="34" charset="-128"/>
              </a:rPr>
              <a:t>課</a:t>
            </a:r>
            <a:endParaRPr kumimoji="1" lang="ja-JP" altLang="en-US" sz="1200" dirty="0">
              <a:latin typeface="Meiryo UI" panose="020B0604030504040204" pitchFamily="34" charset="-128"/>
              <a:ea typeface="Meiryo UI" panose="020B0604030504040204" pitchFamily="34" charset="-128"/>
            </a:endParaRPr>
          </a:p>
        </p:txBody>
      </p:sp>
      <p:sp>
        <p:nvSpPr>
          <p:cNvPr id="107" name="正方形/長方形 106">
            <a:extLst>
              <a:ext uri="{FF2B5EF4-FFF2-40B4-BE49-F238E27FC236}">
                <a16:creationId xmlns:a16="http://schemas.microsoft.com/office/drawing/2014/main" id="{F5B1E927-9AFA-4F53-99C0-C090EF04D417}"/>
              </a:ext>
            </a:extLst>
          </p:cNvPr>
          <p:cNvSpPr/>
          <p:nvPr/>
        </p:nvSpPr>
        <p:spPr>
          <a:xfrm>
            <a:off x="7386733" y="4102021"/>
            <a:ext cx="1496774" cy="1584482"/>
          </a:xfrm>
          <a:prstGeom prst="rect">
            <a:avLst/>
          </a:prstGeom>
          <a:noFill/>
          <a:ln w="19050">
            <a:solidFill>
              <a:srgbClr val="FF0000"/>
            </a:solidFill>
            <a:prstDash val="dash"/>
          </a:ln>
        </p:spPr>
        <p:style>
          <a:lnRef idx="2">
            <a:schemeClr val="accent2"/>
          </a:lnRef>
          <a:fillRef idx="1">
            <a:schemeClr val="lt1"/>
          </a:fillRef>
          <a:effectRef idx="0">
            <a:schemeClr val="accent2"/>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endParaRPr kumimoji="1" lang="ja-JP" altLang="en-US"/>
          </a:p>
        </p:txBody>
      </p:sp>
    </p:spTree>
    <p:extLst>
      <p:ext uri="{BB962C8B-B14F-4D97-AF65-F5344CB8AC3E}">
        <p14:creationId xmlns:p14="http://schemas.microsoft.com/office/powerpoint/2010/main" val="2830729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89FD0E-D345-859D-7265-32B3A5260935}"/>
              </a:ext>
            </a:extLst>
          </p:cNvPr>
          <p:cNvSpPr>
            <a:spLocks noGrp="1"/>
          </p:cNvSpPr>
          <p:nvPr>
            <p:ph type="title"/>
          </p:nvPr>
        </p:nvSpPr>
        <p:spPr/>
        <p:txBody>
          <a:bodyPr>
            <a:normAutofit fontScale="90000"/>
          </a:bodyPr>
          <a:lstStyle/>
          <a:p>
            <a:r>
              <a:rPr kumimoji="1" lang="ja-JP" altLang="en-US"/>
              <a:t>業務要件（一覧）</a:t>
            </a:r>
          </a:p>
        </p:txBody>
      </p:sp>
      <p:sp>
        <p:nvSpPr>
          <p:cNvPr id="3" name="コンテンツ プレースホルダー 2">
            <a:extLst>
              <a:ext uri="{FF2B5EF4-FFF2-40B4-BE49-F238E27FC236}">
                <a16:creationId xmlns:a16="http://schemas.microsoft.com/office/drawing/2014/main" id="{D68FFE96-7C8A-508D-4610-2043375AC4B3}"/>
              </a:ext>
            </a:extLst>
          </p:cNvPr>
          <p:cNvSpPr>
            <a:spLocks noGrp="1"/>
          </p:cNvSpPr>
          <p:nvPr>
            <p:ph idx="1"/>
          </p:nvPr>
        </p:nvSpPr>
        <p:spPr>
          <a:xfrm>
            <a:off x="397565" y="805967"/>
            <a:ext cx="11396870" cy="504451"/>
          </a:xfrm>
        </p:spPr>
        <p:txBody>
          <a:bodyPr>
            <a:normAutofit/>
          </a:bodyPr>
          <a:lstStyle/>
          <a:p>
            <a:pPr>
              <a:lnSpc>
                <a:spcPct val="120000"/>
              </a:lnSpc>
            </a:pPr>
            <a:r>
              <a:rPr kumimoji="1" lang="ja-JP" altLang="en-US" sz="2000"/>
              <a:t>本システムは以下の業務を実現するものとする（システム化以外の業務も含む）</a:t>
            </a:r>
          </a:p>
        </p:txBody>
      </p:sp>
      <p:sp>
        <p:nvSpPr>
          <p:cNvPr id="4" name="フッター プレースホルダー 3">
            <a:extLst>
              <a:ext uri="{FF2B5EF4-FFF2-40B4-BE49-F238E27FC236}">
                <a16:creationId xmlns:a16="http://schemas.microsoft.com/office/drawing/2014/main" id="{BF217963-A4F3-C64E-33F3-5496CE8294D2}"/>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9A57BEB4-A314-1AA7-1DCA-47BCB5DD9F70}"/>
              </a:ext>
            </a:extLst>
          </p:cNvPr>
          <p:cNvSpPr>
            <a:spLocks noGrp="1"/>
          </p:cNvSpPr>
          <p:nvPr>
            <p:ph type="sldNum" sz="quarter" idx="12"/>
          </p:nvPr>
        </p:nvSpPr>
        <p:spPr/>
        <p:txBody>
          <a:bodyPr/>
          <a:lstStyle/>
          <a:p>
            <a:fld id="{462052E6-07CA-9B46-B866-FDE18BF74505}" type="slidenum">
              <a:rPr lang="ja-JP" altLang="en-US" smtClean="0"/>
              <a:pPr/>
              <a:t>4</a:t>
            </a:fld>
            <a:endParaRPr lang="ja-JP" altLang="en-US"/>
          </a:p>
        </p:txBody>
      </p:sp>
      <p:sp>
        <p:nvSpPr>
          <p:cNvPr id="6" name="正方形/長方形 5">
            <a:extLst>
              <a:ext uri="{FF2B5EF4-FFF2-40B4-BE49-F238E27FC236}">
                <a16:creationId xmlns:a16="http://schemas.microsoft.com/office/drawing/2014/main" id="{823EB91C-030C-F5A6-7521-D116735291A5}"/>
              </a:ext>
            </a:extLst>
          </p:cNvPr>
          <p:cNvSpPr/>
          <p:nvPr/>
        </p:nvSpPr>
        <p:spPr>
          <a:xfrm>
            <a:off x="462456" y="1325939"/>
            <a:ext cx="830316" cy="60960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管理番号</a:t>
            </a:r>
          </a:p>
        </p:txBody>
      </p:sp>
      <p:sp>
        <p:nvSpPr>
          <p:cNvPr id="7" name="正方形/長方形 6">
            <a:extLst>
              <a:ext uri="{FF2B5EF4-FFF2-40B4-BE49-F238E27FC236}">
                <a16:creationId xmlns:a16="http://schemas.microsoft.com/office/drawing/2014/main" id="{15659A48-80C9-E6D2-B2FD-20E29CB52B28}"/>
              </a:ext>
            </a:extLst>
          </p:cNvPr>
          <p:cNvSpPr/>
          <p:nvPr/>
        </p:nvSpPr>
        <p:spPr>
          <a:xfrm>
            <a:off x="1292771" y="1325939"/>
            <a:ext cx="2554013" cy="60960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業務</a:t>
            </a:r>
          </a:p>
        </p:txBody>
      </p:sp>
      <p:sp>
        <p:nvSpPr>
          <p:cNvPr id="9" name="正方形/長方形 8">
            <a:extLst>
              <a:ext uri="{FF2B5EF4-FFF2-40B4-BE49-F238E27FC236}">
                <a16:creationId xmlns:a16="http://schemas.microsoft.com/office/drawing/2014/main" id="{7B778F37-B23C-B15D-E9CB-8B512C5FB00E}"/>
              </a:ext>
            </a:extLst>
          </p:cNvPr>
          <p:cNvSpPr/>
          <p:nvPr/>
        </p:nvSpPr>
        <p:spPr>
          <a:xfrm>
            <a:off x="3846785" y="1325939"/>
            <a:ext cx="5591846" cy="60960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說明</a:t>
            </a:r>
          </a:p>
        </p:txBody>
      </p:sp>
      <p:sp>
        <p:nvSpPr>
          <p:cNvPr id="10" name="正方形/長方形 9">
            <a:extLst>
              <a:ext uri="{FF2B5EF4-FFF2-40B4-BE49-F238E27FC236}">
                <a16:creationId xmlns:a16="http://schemas.microsoft.com/office/drawing/2014/main" id="{B0F0D529-975F-A4C3-0E79-7E402A5385C5}"/>
              </a:ext>
            </a:extLst>
          </p:cNvPr>
          <p:cNvSpPr/>
          <p:nvPr/>
        </p:nvSpPr>
        <p:spPr>
          <a:xfrm>
            <a:off x="462456" y="1935539"/>
            <a:ext cx="830316"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a:t>
            </a:r>
            <a:r>
              <a:rPr kumimoji="1" lang="en-US" altLang="ja-JP" sz="1200" dirty="0">
                <a:latin typeface="Meiryo UI" panose="020B0604030504040204" pitchFamily="34" charset="-128"/>
                <a:ea typeface="Meiryo UI" panose="020B0604030504040204" pitchFamily="34" charset="-128"/>
              </a:rPr>
              <a:t>-01</a:t>
            </a:r>
            <a:endParaRPr kumimoji="1" lang="ja-JP" altLang="en-US" sz="120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45FC06C0-1FBD-58C9-1B0A-97E2582F4DB1}"/>
              </a:ext>
            </a:extLst>
          </p:cNvPr>
          <p:cNvSpPr/>
          <p:nvPr/>
        </p:nvSpPr>
        <p:spPr>
          <a:xfrm>
            <a:off x="1292771" y="1935539"/>
            <a:ext cx="2554013"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問合せの送信</a:t>
            </a:r>
          </a:p>
        </p:txBody>
      </p:sp>
      <p:sp>
        <p:nvSpPr>
          <p:cNvPr id="12" name="正方形/長方形 11">
            <a:extLst>
              <a:ext uri="{FF2B5EF4-FFF2-40B4-BE49-F238E27FC236}">
                <a16:creationId xmlns:a16="http://schemas.microsoft.com/office/drawing/2014/main" id="{7011101B-88F5-A6A2-6002-81B84379DC57}"/>
              </a:ext>
            </a:extLst>
          </p:cNvPr>
          <p:cNvSpPr/>
          <p:nvPr/>
        </p:nvSpPr>
        <p:spPr>
          <a:xfrm>
            <a:off x="3846785" y="1935539"/>
            <a:ext cx="5591846"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お客様が</a:t>
            </a:r>
            <a:r>
              <a:rPr kumimoji="1" lang="en-US" altLang="ja-JP" sz="1200" dirty="0">
                <a:latin typeface="Meiryo UI" panose="020B0604030504040204" pitchFamily="34" charset="-128"/>
                <a:ea typeface="Meiryo UI" panose="020B0604030504040204" pitchFamily="34" charset="-128"/>
              </a:rPr>
              <a:t>PC</a:t>
            </a:r>
            <a:r>
              <a:rPr kumimoji="1" lang="ja-JP" altLang="en-US" sz="1200">
                <a:latin typeface="Meiryo UI" panose="020B0604030504040204" pitchFamily="34" charset="-128"/>
                <a:ea typeface="Meiryo UI" panose="020B0604030504040204" pitchFamily="34" charset="-128"/>
              </a:rPr>
              <a:t>やスマホから問合せページでいつでも自由に問合せができる。</a:t>
            </a:r>
            <a:endParaRPr kumimoji="1" lang="en-US" altLang="ja-JP" sz="1200" dirty="0">
              <a:latin typeface="Meiryo UI" panose="020B0604030504040204" pitchFamily="34" charset="-128"/>
              <a:ea typeface="Meiryo UI" panose="020B0604030504040204" pitchFamily="34" charset="-128"/>
            </a:endParaRPr>
          </a:p>
          <a:p>
            <a:r>
              <a:rPr kumimoji="1" lang="ja-JP" altLang="en-US" sz="1200">
                <a:latin typeface="Meiryo UI" panose="020B0604030504040204" pitchFamily="34" charset="-128"/>
                <a:ea typeface="Meiryo UI" panose="020B0604030504040204" pitchFamily="34" charset="-128"/>
              </a:rPr>
              <a:t>問合せ時に入力してもらう項目は「お名前」、「</a:t>
            </a:r>
            <a:r>
              <a:rPr kumimoji="1" lang="en-US" altLang="ja-JP" sz="1200" dirty="0">
                <a:latin typeface="Meiryo UI" panose="020B0604030504040204" pitchFamily="34" charset="-128"/>
                <a:ea typeface="Meiryo UI" panose="020B0604030504040204" pitchFamily="34" charset="-128"/>
              </a:rPr>
              <a:t>Email</a:t>
            </a:r>
            <a:r>
              <a:rPr kumimoji="1" lang="ja-JP" altLang="en-US" sz="1200">
                <a:latin typeface="Meiryo UI" panose="020B0604030504040204" pitchFamily="34" charset="-128"/>
                <a:ea typeface="Meiryo UI" panose="020B0604030504040204" pitchFamily="34" charset="-128"/>
              </a:rPr>
              <a:t>」、「問合せ内容」の３つを想定。</a:t>
            </a:r>
            <a:endParaRPr kumimoji="1" lang="en-US" altLang="ja-JP" sz="1200" dirty="0">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3DA1D693-9ED7-B022-6530-E4621BA69074}"/>
              </a:ext>
            </a:extLst>
          </p:cNvPr>
          <p:cNvSpPr/>
          <p:nvPr/>
        </p:nvSpPr>
        <p:spPr>
          <a:xfrm>
            <a:off x="462456" y="2545139"/>
            <a:ext cx="830316"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a:t>
            </a:r>
            <a:r>
              <a:rPr kumimoji="1" lang="en-US" altLang="ja-JP" sz="1200" dirty="0">
                <a:latin typeface="Meiryo UI" panose="020B0604030504040204" pitchFamily="34" charset="-128"/>
                <a:ea typeface="Meiryo UI" panose="020B0604030504040204" pitchFamily="34" charset="-128"/>
              </a:rPr>
              <a:t>-02</a:t>
            </a:r>
            <a:endParaRPr kumimoji="1" lang="ja-JP" altLang="en-US" sz="1200">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F2B02476-7D09-F8D7-5627-0F88908C0EE5}"/>
              </a:ext>
            </a:extLst>
          </p:cNvPr>
          <p:cNvSpPr/>
          <p:nvPr/>
        </p:nvSpPr>
        <p:spPr>
          <a:xfrm>
            <a:off x="1292771" y="2545139"/>
            <a:ext cx="2554013"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200">
                <a:latin typeface="Meiryo UI" panose="020B0604030504040204" pitchFamily="34" charset="-128"/>
                <a:ea typeface="Meiryo UI" panose="020B0604030504040204" pitchFamily="34" charset="-128"/>
              </a:rPr>
              <a:t>問合せの受付と自動入力</a:t>
            </a:r>
            <a:endParaRPr kumimoji="1" lang="ja-JP" altLang="en-US" sz="1200">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D45178E2-87C7-C0FB-2EB0-474BF0056B27}"/>
              </a:ext>
            </a:extLst>
          </p:cNvPr>
          <p:cNvSpPr/>
          <p:nvPr/>
        </p:nvSpPr>
        <p:spPr>
          <a:xfrm>
            <a:off x="3846785" y="2545139"/>
            <a:ext cx="5591846"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問合せ内容は</a:t>
            </a:r>
            <a:r>
              <a:rPr kumimoji="1" lang="en-US" altLang="ja-JP" sz="1200" dirty="0">
                <a:latin typeface="Meiryo UI" panose="020B0604030504040204" pitchFamily="34" charset="-128"/>
                <a:ea typeface="Meiryo UI" panose="020B0604030504040204" pitchFamily="34" charset="-128"/>
              </a:rPr>
              <a:t>Google</a:t>
            </a:r>
            <a:r>
              <a:rPr kumimoji="1" lang="ja-JP" altLang="en-US" sz="1200">
                <a:latin typeface="Meiryo UI" panose="020B0604030504040204" pitchFamily="34" charset="-128"/>
                <a:ea typeface="Meiryo UI" panose="020B0604030504040204" pitchFamily="34" charset="-128"/>
              </a:rPr>
              <a:t>スプレッドシートに自動的に蓄積される。</a:t>
            </a:r>
            <a:br>
              <a:rPr kumimoji="1" lang="en-US" altLang="ja-JP" sz="1200" dirty="0">
                <a:latin typeface="Meiryo UI" panose="020B0604030504040204" pitchFamily="34" charset="-128"/>
                <a:ea typeface="Meiryo UI" panose="020B0604030504040204" pitchFamily="34" charset="-128"/>
              </a:rPr>
            </a:br>
            <a:r>
              <a:rPr kumimoji="1" lang="ja-JP" altLang="en-US" sz="1200">
                <a:latin typeface="Meiryo UI" panose="020B0604030504040204" pitchFamily="34" charset="-128"/>
                <a:ea typeface="Meiryo UI" panose="020B0604030504040204" pitchFamily="34" charset="-128"/>
              </a:rPr>
              <a:t>なお、このとき問合せ「受付時刻」を自動入力する。また「ステータス」を</a:t>
            </a:r>
            <a:r>
              <a:rPr kumimoji="1" lang="en-US" altLang="ja-JP" sz="1200" dirty="0">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受付</a:t>
            </a:r>
            <a:r>
              <a:rPr kumimoji="1" lang="en-US" altLang="ja-JP" sz="1200" dirty="0">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とする。</a:t>
            </a:r>
          </a:p>
        </p:txBody>
      </p:sp>
      <p:sp>
        <p:nvSpPr>
          <p:cNvPr id="16" name="正方形/長方形 15">
            <a:extLst>
              <a:ext uri="{FF2B5EF4-FFF2-40B4-BE49-F238E27FC236}">
                <a16:creationId xmlns:a16="http://schemas.microsoft.com/office/drawing/2014/main" id="{05D8429A-A75C-8BDC-759A-C19290A78866}"/>
              </a:ext>
            </a:extLst>
          </p:cNvPr>
          <p:cNvSpPr/>
          <p:nvPr/>
        </p:nvSpPr>
        <p:spPr>
          <a:xfrm>
            <a:off x="462456" y="3154739"/>
            <a:ext cx="830316"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BR-03</a:t>
            </a:r>
            <a:endParaRPr kumimoji="1" lang="ja-JP" altLang="en-US" sz="120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81BB0BE9-3610-9FE3-1226-B1C3B715C254}"/>
              </a:ext>
            </a:extLst>
          </p:cNvPr>
          <p:cNvSpPr/>
          <p:nvPr/>
        </p:nvSpPr>
        <p:spPr>
          <a:xfrm>
            <a:off x="1292771" y="3154739"/>
            <a:ext cx="2554013"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スプレッドシートの確認</a:t>
            </a:r>
          </a:p>
        </p:txBody>
      </p:sp>
      <p:sp>
        <p:nvSpPr>
          <p:cNvPr id="18" name="正方形/長方形 17">
            <a:extLst>
              <a:ext uri="{FF2B5EF4-FFF2-40B4-BE49-F238E27FC236}">
                <a16:creationId xmlns:a16="http://schemas.microsoft.com/office/drawing/2014/main" id="{5A936EA6-ED59-653A-5E63-182FF0FCCDE9}"/>
              </a:ext>
            </a:extLst>
          </p:cNvPr>
          <p:cNvSpPr/>
          <p:nvPr/>
        </p:nvSpPr>
        <p:spPr>
          <a:xfrm>
            <a:off x="3846785" y="3154739"/>
            <a:ext cx="5591846"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平日</a:t>
            </a:r>
            <a:r>
              <a:rPr lang="en-US" altLang="ja-JP" sz="1200" dirty="0">
                <a:latin typeface="Meiryo UI" panose="020B0604030504040204" pitchFamily="34" charset="-128"/>
                <a:ea typeface="Meiryo UI" panose="020B0604030504040204" pitchFamily="34" charset="-128"/>
              </a:rPr>
              <a:t>AM9:30</a:t>
            </a:r>
            <a:r>
              <a:rPr lang="ja-JP" altLang="en-US" sz="1200">
                <a:latin typeface="Meiryo UI" panose="020B0604030504040204" pitchFamily="34" charset="-128"/>
                <a:ea typeface="Meiryo UI" panose="020B0604030504040204" pitchFamily="34" charset="-128"/>
              </a:rPr>
              <a:t>に担当者がスプレッドシートを開き新規受付の有無を確認（ステータスが受付のもの）。新規問合せがある場合は、その数と内容を部門長に</a:t>
            </a:r>
            <a:r>
              <a:rPr lang="en-US" altLang="ja-JP" sz="1200" dirty="0">
                <a:latin typeface="Meiryo UI" panose="020B0604030504040204" pitchFamily="34" charset="-128"/>
                <a:ea typeface="Meiryo UI" panose="020B0604030504040204" pitchFamily="34" charset="-128"/>
              </a:rPr>
              <a:t>10:00</a:t>
            </a:r>
            <a:r>
              <a:rPr lang="ja-JP" altLang="en-US" sz="1200">
                <a:latin typeface="Meiryo UI" panose="020B0604030504040204" pitchFamily="34" charset="-128"/>
                <a:ea typeface="Meiryo UI" panose="020B0604030504040204" pitchFamily="34" charset="-128"/>
              </a:rPr>
              <a:t>までに報告する。</a:t>
            </a:r>
            <a:endParaRPr kumimoji="1" lang="ja-JP" altLang="en-US" sz="1200">
              <a:latin typeface="Meiryo UI" panose="020B0604030504040204" pitchFamily="34" charset="-128"/>
              <a:ea typeface="Meiryo UI" panose="020B0604030504040204" pitchFamily="34" charset="-128"/>
            </a:endParaRPr>
          </a:p>
        </p:txBody>
      </p:sp>
      <p:sp>
        <p:nvSpPr>
          <p:cNvPr id="19" name="正方形/長方形 18">
            <a:extLst>
              <a:ext uri="{FF2B5EF4-FFF2-40B4-BE49-F238E27FC236}">
                <a16:creationId xmlns:a16="http://schemas.microsoft.com/office/drawing/2014/main" id="{1544514E-8A39-515E-6580-9896419609AB}"/>
              </a:ext>
            </a:extLst>
          </p:cNvPr>
          <p:cNvSpPr/>
          <p:nvPr/>
        </p:nvSpPr>
        <p:spPr>
          <a:xfrm>
            <a:off x="462456" y="3764339"/>
            <a:ext cx="830316"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a:t>
            </a:r>
            <a:r>
              <a:rPr kumimoji="1" lang="en-US" altLang="ja-JP" sz="1200" dirty="0">
                <a:latin typeface="Meiryo UI" panose="020B0604030504040204" pitchFamily="34" charset="-128"/>
                <a:ea typeface="Meiryo UI" panose="020B0604030504040204" pitchFamily="34" charset="-128"/>
              </a:rPr>
              <a:t>-04</a:t>
            </a:r>
            <a:endParaRPr kumimoji="1" lang="ja-JP" altLang="en-US" sz="1200">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C4964E0B-4091-E7A0-65CD-420C747015AE}"/>
              </a:ext>
            </a:extLst>
          </p:cNvPr>
          <p:cNvSpPr/>
          <p:nvPr/>
        </p:nvSpPr>
        <p:spPr>
          <a:xfrm>
            <a:off x="1292771" y="3764339"/>
            <a:ext cx="2554013"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問合せ対応</a:t>
            </a:r>
          </a:p>
        </p:txBody>
      </p:sp>
      <p:sp>
        <p:nvSpPr>
          <p:cNvPr id="21" name="正方形/長方形 20">
            <a:extLst>
              <a:ext uri="{FF2B5EF4-FFF2-40B4-BE49-F238E27FC236}">
                <a16:creationId xmlns:a16="http://schemas.microsoft.com/office/drawing/2014/main" id="{9B21A362-9FF9-6716-43FD-6EF1D0BB4989}"/>
              </a:ext>
            </a:extLst>
          </p:cNvPr>
          <p:cNvSpPr/>
          <p:nvPr/>
        </p:nvSpPr>
        <p:spPr>
          <a:xfrm>
            <a:off x="3846785" y="3764339"/>
            <a:ext cx="5591846"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新規問合せに対応。その際、「ステータス」を</a:t>
            </a:r>
            <a:r>
              <a:rPr kumimoji="1" lang="en-US" altLang="ja-JP" sz="1200" dirty="0">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対応中</a:t>
            </a:r>
            <a:r>
              <a:rPr kumimoji="1" lang="en-US" altLang="ja-JP" sz="1200" dirty="0">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に変更する。</a:t>
            </a:r>
            <a:endParaRPr kumimoji="1"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不明な点があれば必要に応じて部門長に確認する。</a:t>
            </a:r>
            <a:endParaRPr kumimoji="1" lang="ja-JP" altLang="en-US" sz="1200">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8439475D-48E6-6675-DD05-B87D9E2479D9}"/>
              </a:ext>
            </a:extLst>
          </p:cNvPr>
          <p:cNvSpPr/>
          <p:nvPr/>
        </p:nvSpPr>
        <p:spPr>
          <a:xfrm>
            <a:off x="462456" y="4373939"/>
            <a:ext cx="830316"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a:t>
            </a:r>
            <a:r>
              <a:rPr kumimoji="1" lang="en-US" altLang="ja-JP" sz="1200" dirty="0">
                <a:latin typeface="Meiryo UI" panose="020B0604030504040204" pitchFamily="34" charset="-128"/>
                <a:ea typeface="Meiryo UI" panose="020B0604030504040204" pitchFamily="34" charset="-128"/>
              </a:rPr>
              <a:t>-05</a:t>
            </a:r>
            <a:endParaRPr kumimoji="1" lang="ja-JP" altLang="en-US" sz="1200">
              <a:latin typeface="Meiryo UI" panose="020B0604030504040204" pitchFamily="34" charset="-128"/>
              <a:ea typeface="Meiryo UI" panose="020B0604030504040204" pitchFamily="34" charset="-128"/>
            </a:endParaRPr>
          </a:p>
        </p:txBody>
      </p:sp>
      <p:sp>
        <p:nvSpPr>
          <p:cNvPr id="23" name="正方形/長方形 22">
            <a:extLst>
              <a:ext uri="{FF2B5EF4-FFF2-40B4-BE49-F238E27FC236}">
                <a16:creationId xmlns:a16="http://schemas.microsoft.com/office/drawing/2014/main" id="{AD2EEF07-D858-0153-4E60-7C444DB95DF4}"/>
              </a:ext>
            </a:extLst>
          </p:cNvPr>
          <p:cNvSpPr/>
          <p:nvPr/>
        </p:nvSpPr>
        <p:spPr>
          <a:xfrm>
            <a:off x="1292771" y="4373939"/>
            <a:ext cx="2554013"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問合せの終了</a:t>
            </a:r>
          </a:p>
        </p:txBody>
      </p:sp>
      <p:sp>
        <p:nvSpPr>
          <p:cNvPr id="24" name="正方形/長方形 23">
            <a:extLst>
              <a:ext uri="{FF2B5EF4-FFF2-40B4-BE49-F238E27FC236}">
                <a16:creationId xmlns:a16="http://schemas.microsoft.com/office/drawing/2014/main" id="{9B16EE37-640F-D3C5-7BCE-2D470E1EE4ED}"/>
              </a:ext>
            </a:extLst>
          </p:cNvPr>
          <p:cNvSpPr/>
          <p:nvPr/>
        </p:nvSpPr>
        <p:spPr>
          <a:xfrm>
            <a:off x="3846785" y="4373939"/>
            <a:ext cx="5591846"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問合せ終了を部門長に報告し終了確認を受ける。</a:t>
            </a:r>
            <a:br>
              <a:rPr kumimoji="1" lang="en-US" altLang="ja-JP" sz="1200" dirty="0">
                <a:latin typeface="Meiryo UI" panose="020B0604030504040204" pitchFamily="34" charset="-128"/>
                <a:ea typeface="Meiryo UI" panose="020B0604030504040204" pitchFamily="34" charset="-128"/>
              </a:rPr>
            </a:br>
            <a:r>
              <a:rPr kumimoji="1" lang="ja-JP" altLang="en-US" sz="1200">
                <a:latin typeface="Meiryo UI" panose="020B0604030504040204" pitchFamily="34" charset="-128"/>
                <a:ea typeface="Meiryo UI" panose="020B0604030504040204" pitchFamily="34" charset="-128"/>
              </a:rPr>
              <a:t>部門長が終了を確認したら「ステータス」を</a:t>
            </a:r>
            <a:r>
              <a:rPr kumimoji="1" lang="en-US" altLang="ja-JP" sz="1200" dirty="0">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終了</a:t>
            </a:r>
            <a:r>
              <a:rPr kumimoji="1" lang="en-US" altLang="ja-JP" sz="1200" dirty="0">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に変更する。</a:t>
            </a:r>
          </a:p>
        </p:txBody>
      </p:sp>
      <p:sp>
        <p:nvSpPr>
          <p:cNvPr id="25" name="正方形/長方形 24">
            <a:extLst>
              <a:ext uri="{FF2B5EF4-FFF2-40B4-BE49-F238E27FC236}">
                <a16:creationId xmlns:a16="http://schemas.microsoft.com/office/drawing/2014/main" id="{5FC6615B-E029-B427-B9D2-383B29707376}"/>
              </a:ext>
            </a:extLst>
          </p:cNvPr>
          <p:cNvSpPr/>
          <p:nvPr/>
        </p:nvSpPr>
        <p:spPr>
          <a:xfrm>
            <a:off x="9438631" y="1325939"/>
            <a:ext cx="1032387" cy="60960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実施者</a:t>
            </a:r>
          </a:p>
        </p:txBody>
      </p:sp>
      <p:sp>
        <p:nvSpPr>
          <p:cNvPr id="26" name="正方形/長方形 25">
            <a:extLst>
              <a:ext uri="{FF2B5EF4-FFF2-40B4-BE49-F238E27FC236}">
                <a16:creationId xmlns:a16="http://schemas.microsoft.com/office/drawing/2014/main" id="{ADA89712-98D4-8E58-39A3-125DEEB7169C}"/>
              </a:ext>
            </a:extLst>
          </p:cNvPr>
          <p:cNvSpPr/>
          <p:nvPr/>
        </p:nvSpPr>
        <p:spPr>
          <a:xfrm>
            <a:off x="9438631" y="1935539"/>
            <a:ext cx="1032387"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お客様</a:t>
            </a:r>
          </a:p>
        </p:txBody>
      </p:sp>
      <p:sp>
        <p:nvSpPr>
          <p:cNvPr id="27" name="正方形/長方形 26">
            <a:extLst>
              <a:ext uri="{FF2B5EF4-FFF2-40B4-BE49-F238E27FC236}">
                <a16:creationId xmlns:a16="http://schemas.microsoft.com/office/drawing/2014/main" id="{4684FD23-9079-AF88-A109-C68EA1E917DC}"/>
              </a:ext>
            </a:extLst>
          </p:cNvPr>
          <p:cNvSpPr/>
          <p:nvPr/>
        </p:nvSpPr>
        <p:spPr>
          <a:xfrm>
            <a:off x="9438631" y="2545139"/>
            <a:ext cx="1032387"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システム</a:t>
            </a:r>
          </a:p>
        </p:txBody>
      </p:sp>
      <p:sp>
        <p:nvSpPr>
          <p:cNvPr id="28" name="正方形/長方形 27">
            <a:extLst>
              <a:ext uri="{FF2B5EF4-FFF2-40B4-BE49-F238E27FC236}">
                <a16:creationId xmlns:a16="http://schemas.microsoft.com/office/drawing/2014/main" id="{FDC3B56A-4E81-5217-FE6C-900560A58B49}"/>
              </a:ext>
            </a:extLst>
          </p:cNvPr>
          <p:cNvSpPr/>
          <p:nvPr/>
        </p:nvSpPr>
        <p:spPr>
          <a:xfrm>
            <a:off x="9438631" y="3154739"/>
            <a:ext cx="1032387"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担当者</a:t>
            </a:r>
          </a:p>
        </p:txBody>
      </p:sp>
      <p:sp>
        <p:nvSpPr>
          <p:cNvPr id="29" name="正方形/長方形 28">
            <a:extLst>
              <a:ext uri="{FF2B5EF4-FFF2-40B4-BE49-F238E27FC236}">
                <a16:creationId xmlns:a16="http://schemas.microsoft.com/office/drawing/2014/main" id="{64E98DBC-E3BD-7EF1-F454-25D8AFA5FBD8}"/>
              </a:ext>
            </a:extLst>
          </p:cNvPr>
          <p:cNvSpPr/>
          <p:nvPr/>
        </p:nvSpPr>
        <p:spPr>
          <a:xfrm>
            <a:off x="9438631" y="3764339"/>
            <a:ext cx="1032387"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担当者</a:t>
            </a:r>
          </a:p>
        </p:txBody>
      </p:sp>
      <p:sp>
        <p:nvSpPr>
          <p:cNvPr id="30" name="正方形/長方形 29">
            <a:extLst>
              <a:ext uri="{FF2B5EF4-FFF2-40B4-BE49-F238E27FC236}">
                <a16:creationId xmlns:a16="http://schemas.microsoft.com/office/drawing/2014/main" id="{1C0A68C9-C2A4-4D92-9FC7-EE581F772742}"/>
              </a:ext>
            </a:extLst>
          </p:cNvPr>
          <p:cNvSpPr/>
          <p:nvPr/>
        </p:nvSpPr>
        <p:spPr>
          <a:xfrm>
            <a:off x="9438631" y="4373939"/>
            <a:ext cx="1032387"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担当者</a:t>
            </a:r>
          </a:p>
        </p:txBody>
      </p:sp>
      <p:sp>
        <p:nvSpPr>
          <p:cNvPr id="31" name="正方形/長方形 30">
            <a:extLst>
              <a:ext uri="{FF2B5EF4-FFF2-40B4-BE49-F238E27FC236}">
                <a16:creationId xmlns:a16="http://schemas.microsoft.com/office/drawing/2014/main" id="{9B4BEB93-0DB9-EFBD-F2EC-F8A692D9F79F}"/>
              </a:ext>
            </a:extLst>
          </p:cNvPr>
          <p:cNvSpPr/>
          <p:nvPr/>
        </p:nvSpPr>
        <p:spPr>
          <a:xfrm>
            <a:off x="10471018" y="1325939"/>
            <a:ext cx="1184955" cy="60960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システム化対象</a:t>
            </a:r>
          </a:p>
        </p:txBody>
      </p:sp>
      <p:sp>
        <p:nvSpPr>
          <p:cNvPr id="32" name="正方形/長方形 31">
            <a:extLst>
              <a:ext uri="{FF2B5EF4-FFF2-40B4-BE49-F238E27FC236}">
                <a16:creationId xmlns:a16="http://schemas.microsoft.com/office/drawing/2014/main" id="{3C5BABF4-5902-5E68-F88A-414558C7C1AE}"/>
              </a:ext>
            </a:extLst>
          </p:cNvPr>
          <p:cNvSpPr/>
          <p:nvPr/>
        </p:nvSpPr>
        <p:spPr>
          <a:xfrm>
            <a:off x="10471018" y="1935539"/>
            <a:ext cx="1184955"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a:t>
            </a:r>
          </a:p>
        </p:txBody>
      </p:sp>
      <p:sp>
        <p:nvSpPr>
          <p:cNvPr id="33" name="正方形/長方形 32">
            <a:extLst>
              <a:ext uri="{FF2B5EF4-FFF2-40B4-BE49-F238E27FC236}">
                <a16:creationId xmlns:a16="http://schemas.microsoft.com/office/drawing/2014/main" id="{B6C35AA4-7501-EF9F-8A53-96C3D47F393F}"/>
              </a:ext>
            </a:extLst>
          </p:cNvPr>
          <p:cNvSpPr/>
          <p:nvPr/>
        </p:nvSpPr>
        <p:spPr>
          <a:xfrm>
            <a:off x="10471018" y="2545139"/>
            <a:ext cx="1184955"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200">
                <a:latin typeface="Meiryo UI" panose="020B0604030504040204" pitchFamily="34" charset="-128"/>
                <a:ea typeface="Meiryo UI" panose="020B0604030504040204" pitchFamily="34" charset="-128"/>
              </a:rPr>
              <a:t>○</a:t>
            </a:r>
            <a:endParaRPr kumimoji="1" lang="ja-JP" altLang="en-US" sz="1200">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17FA2098-6C53-3777-81AE-0BD6D1893651}"/>
              </a:ext>
            </a:extLst>
          </p:cNvPr>
          <p:cNvSpPr/>
          <p:nvPr/>
        </p:nvSpPr>
        <p:spPr>
          <a:xfrm>
            <a:off x="10471018" y="3154739"/>
            <a:ext cx="1184955"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a:t>
            </a:r>
            <a:endParaRPr kumimoji="1" lang="ja-JP" altLang="en-US" sz="1200">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1035817F-DB7D-B3A3-450A-C42460BAB549}"/>
              </a:ext>
            </a:extLst>
          </p:cNvPr>
          <p:cNvSpPr/>
          <p:nvPr/>
        </p:nvSpPr>
        <p:spPr>
          <a:xfrm>
            <a:off x="10471018" y="3764339"/>
            <a:ext cx="1184955"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a:t>
            </a:r>
            <a:endParaRPr kumimoji="1" lang="ja-JP" altLang="en-US" sz="1200">
              <a:latin typeface="Meiryo UI" panose="020B0604030504040204" pitchFamily="34" charset="-128"/>
              <a:ea typeface="Meiryo UI" panose="020B0604030504040204" pitchFamily="34" charset="-128"/>
            </a:endParaRPr>
          </a:p>
        </p:txBody>
      </p:sp>
      <p:sp>
        <p:nvSpPr>
          <p:cNvPr id="36" name="正方形/長方形 35">
            <a:extLst>
              <a:ext uri="{FF2B5EF4-FFF2-40B4-BE49-F238E27FC236}">
                <a16:creationId xmlns:a16="http://schemas.microsoft.com/office/drawing/2014/main" id="{11D71040-9DE9-0D77-5F28-47644A664C67}"/>
              </a:ext>
            </a:extLst>
          </p:cNvPr>
          <p:cNvSpPr/>
          <p:nvPr/>
        </p:nvSpPr>
        <p:spPr>
          <a:xfrm>
            <a:off x="10471018" y="4373939"/>
            <a:ext cx="1184955"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a:t>
            </a:r>
            <a:endParaRPr kumimoji="1" lang="ja-JP" altLang="en-US" sz="1200">
              <a:latin typeface="Meiryo UI" panose="020B0604030504040204" pitchFamily="34" charset="-128"/>
              <a:ea typeface="Meiryo UI" panose="020B0604030504040204" pitchFamily="34" charset="-128"/>
            </a:endParaRPr>
          </a:p>
        </p:txBody>
      </p:sp>
      <p:sp>
        <p:nvSpPr>
          <p:cNvPr id="37" name="正方形/長方形 36">
            <a:extLst>
              <a:ext uri="{FF2B5EF4-FFF2-40B4-BE49-F238E27FC236}">
                <a16:creationId xmlns:a16="http://schemas.microsoft.com/office/drawing/2014/main" id="{A0EA48DA-4C30-E5BC-6168-B2EC03D32901}"/>
              </a:ext>
            </a:extLst>
          </p:cNvPr>
          <p:cNvSpPr/>
          <p:nvPr/>
        </p:nvSpPr>
        <p:spPr>
          <a:xfrm>
            <a:off x="462456" y="4983539"/>
            <a:ext cx="830316"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a:t>
            </a:r>
            <a:r>
              <a:rPr kumimoji="1" lang="en-US" altLang="ja-JP" sz="1200" dirty="0">
                <a:latin typeface="Meiryo UI" panose="020B0604030504040204" pitchFamily="34" charset="-128"/>
                <a:ea typeface="Meiryo UI" panose="020B0604030504040204" pitchFamily="34" charset="-128"/>
              </a:rPr>
              <a:t>-06</a:t>
            </a:r>
            <a:endParaRPr kumimoji="1" lang="ja-JP" altLang="en-US" sz="1200">
              <a:latin typeface="Meiryo UI" panose="020B0604030504040204" pitchFamily="34" charset="-128"/>
              <a:ea typeface="Meiryo UI" panose="020B0604030504040204" pitchFamily="34" charset="-128"/>
            </a:endParaRPr>
          </a:p>
        </p:txBody>
      </p:sp>
      <p:sp>
        <p:nvSpPr>
          <p:cNvPr id="38" name="正方形/長方形 37">
            <a:extLst>
              <a:ext uri="{FF2B5EF4-FFF2-40B4-BE49-F238E27FC236}">
                <a16:creationId xmlns:a16="http://schemas.microsoft.com/office/drawing/2014/main" id="{ACBB801F-9D46-F3FA-C1CC-79155B9846D9}"/>
              </a:ext>
            </a:extLst>
          </p:cNvPr>
          <p:cNvSpPr/>
          <p:nvPr/>
        </p:nvSpPr>
        <p:spPr>
          <a:xfrm>
            <a:off x="1292771" y="4983539"/>
            <a:ext cx="2554013"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問合せ受付リストのメンテナンス</a:t>
            </a:r>
          </a:p>
        </p:txBody>
      </p:sp>
      <p:sp>
        <p:nvSpPr>
          <p:cNvPr id="39" name="正方形/長方形 38">
            <a:extLst>
              <a:ext uri="{FF2B5EF4-FFF2-40B4-BE49-F238E27FC236}">
                <a16:creationId xmlns:a16="http://schemas.microsoft.com/office/drawing/2014/main" id="{50B420E6-ECC5-7A88-0C4E-A73FCA345786}"/>
              </a:ext>
            </a:extLst>
          </p:cNvPr>
          <p:cNvSpPr/>
          <p:nvPr/>
        </p:nvSpPr>
        <p:spPr>
          <a:xfrm>
            <a:off x="3846785" y="4983539"/>
            <a:ext cx="5591846"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受付リストが延々と増加することを防止するため、毎月末（最終営業日）に当月のリストを部門長が確認、バックアップの上、削除する。</a:t>
            </a:r>
          </a:p>
        </p:txBody>
      </p:sp>
      <p:sp>
        <p:nvSpPr>
          <p:cNvPr id="40" name="正方形/長方形 39">
            <a:extLst>
              <a:ext uri="{FF2B5EF4-FFF2-40B4-BE49-F238E27FC236}">
                <a16:creationId xmlns:a16="http://schemas.microsoft.com/office/drawing/2014/main" id="{2CDDD381-B539-E70A-ABF6-4F34076C0C43}"/>
              </a:ext>
            </a:extLst>
          </p:cNvPr>
          <p:cNvSpPr/>
          <p:nvPr/>
        </p:nvSpPr>
        <p:spPr>
          <a:xfrm>
            <a:off x="9438631" y="4983539"/>
            <a:ext cx="1032387"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200">
                <a:latin typeface="Meiryo UI" panose="020B0604030504040204" pitchFamily="34" charset="-128"/>
                <a:ea typeface="Meiryo UI" panose="020B0604030504040204" pitchFamily="34" charset="-128"/>
              </a:rPr>
              <a:t>部門長</a:t>
            </a:r>
            <a:endParaRPr kumimoji="1" lang="ja-JP" altLang="en-US" sz="1200">
              <a:latin typeface="Meiryo UI" panose="020B0604030504040204" pitchFamily="34" charset="-128"/>
              <a:ea typeface="Meiryo UI" panose="020B0604030504040204" pitchFamily="34" charset="-128"/>
            </a:endParaRPr>
          </a:p>
        </p:txBody>
      </p:sp>
      <p:sp>
        <p:nvSpPr>
          <p:cNvPr id="41" name="正方形/長方形 40">
            <a:extLst>
              <a:ext uri="{FF2B5EF4-FFF2-40B4-BE49-F238E27FC236}">
                <a16:creationId xmlns:a16="http://schemas.microsoft.com/office/drawing/2014/main" id="{99798162-F12E-0FED-D9D9-19A0CBE67017}"/>
              </a:ext>
            </a:extLst>
          </p:cNvPr>
          <p:cNvSpPr/>
          <p:nvPr/>
        </p:nvSpPr>
        <p:spPr>
          <a:xfrm>
            <a:off x="10471018" y="4983539"/>
            <a:ext cx="1184955" cy="60960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a:t>
            </a:r>
            <a:endParaRPr kumimoji="1" lang="ja-JP" altLang="en-US" sz="12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789189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64CF65-4C5C-990B-BD17-6F3A94342827}"/>
              </a:ext>
            </a:extLst>
          </p:cNvPr>
          <p:cNvSpPr>
            <a:spLocks noGrp="1"/>
          </p:cNvSpPr>
          <p:nvPr>
            <p:ph type="title"/>
          </p:nvPr>
        </p:nvSpPr>
        <p:spPr/>
        <p:txBody>
          <a:bodyPr>
            <a:normAutofit fontScale="90000"/>
          </a:bodyPr>
          <a:lstStyle/>
          <a:p>
            <a:r>
              <a:rPr kumimoji="1" lang="ja-JP" altLang="en-US"/>
              <a:t>業務要件（フロー図）</a:t>
            </a:r>
          </a:p>
        </p:txBody>
      </p:sp>
      <p:sp>
        <p:nvSpPr>
          <p:cNvPr id="4" name="フッター プレースホルダー 3">
            <a:extLst>
              <a:ext uri="{FF2B5EF4-FFF2-40B4-BE49-F238E27FC236}">
                <a16:creationId xmlns:a16="http://schemas.microsoft.com/office/drawing/2014/main" id="{A3364900-F0EF-7B8A-DD72-9EFC1F507502}"/>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7625D612-114E-EA97-72ED-40158A1E0CE2}"/>
              </a:ext>
            </a:extLst>
          </p:cNvPr>
          <p:cNvSpPr>
            <a:spLocks noGrp="1"/>
          </p:cNvSpPr>
          <p:nvPr>
            <p:ph type="sldNum" sz="quarter" idx="12"/>
          </p:nvPr>
        </p:nvSpPr>
        <p:spPr/>
        <p:txBody>
          <a:bodyPr/>
          <a:lstStyle/>
          <a:p>
            <a:fld id="{462052E6-07CA-9B46-B866-FDE18BF74505}" type="slidenum">
              <a:rPr lang="ja-JP" altLang="en-US" smtClean="0"/>
              <a:pPr/>
              <a:t>5</a:t>
            </a:fld>
            <a:endParaRPr lang="ja-JP" altLang="en-US"/>
          </a:p>
        </p:txBody>
      </p:sp>
      <p:sp>
        <p:nvSpPr>
          <p:cNvPr id="6" name="コンテンツ プレースホルダー 2">
            <a:extLst>
              <a:ext uri="{FF2B5EF4-FFF2-40B4-BE49-F238E27FC236}">
                <a16:creationId xmlns:a16="http://schemas.microsoft.com/office/drawing/2014/main" id="{A9C7D174-C005-6E25-494D-E47BD706BEDF}"/>
              </a:ext>
            </a:extLst>
          </p:cNvPr>
          <p:cNvSpPr>
            <a:spLocks noGrp="1"/>
          </p:cNvSpPr>
          <p:nvPr>
            <p:ph idx="1"/>
          </p:nvPr>
        </p:nvSpPr>
        <p:spPr>
          <a:xfrm>
            <a:off x="397565" y="805967"/>
            <a:ext cx="11396870" cy="504451"/>
          </a:xfrm>
        </p:spPr>
        <p:txBody>
          <a:bodyPr>
            <a:normAutofit/>
          </a:bodyPr>
          <a:lstStyle/>
          <a:p>
            <a:pPr>
              <a:lnSpc>
                <a:spcPct val="120000"/>
              </a:lnSpc>
            </a:pPr>
            <a:r>
              <a:rPr kumimoji="1" lang="ja-JP" altLang="en-US" sz="2000"/>
              <a:t>本システムは以下の業務を実現するものとする（システム化以外の業務も含む）</a:t>
            </a:r>
          </a:p>
        </p:txBody>
      </p:sp>
      <p:sp>
        <p:nvSpPr>
          <p:cNvPr id="8" name="正方形/長方形 7">
            <a:extLst>
              <a:ext uri="{FF2B5EF4-FFF2-40B4-BE49-F238E27FC236}">
                <a16:creationId xmlns:a16="http://schemas.microsoft.com/office/drawing/2014/main" id="{CC1FEA7B-AC5F-EEEA-B735-E96B4FD49E84}"/>
              </a:ext>
            </a:extLst>
          </p:cNvPr>
          <p:cNvSpPr/>
          <p:nvPr/>
        </p:nvSpPr>
        <p:spPr>
          <a:xfrm>
            <a:off x="839000" y="2571616"/>
            <a:ext cx="714704" cy="851339"/>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Web</a:t>
            </a:r>
          </a:p>
          <a:p>
            <a:pPr algn="ctr"/>
            <a:r>
              <a:rPr lang="ja-JP" altLang="en-US" sz="700">
                <a:latin typeface="Meiryo UI" panose="020B0604030504040204" pitchFamily="34" charset="-128"/>
                <a:ea typeface="Meiryo UI" panose="020B0604030504040204" pitchFamily="34" charset="-128"/>
              </a:rPr>
              <a:t>（フロント）</a:t>
            </a:r>
            <a:endParaRPr kumimoji="1" lang="ja-JP" altLang="en-US" sz="700">
              <a:latin typeface="Meiryo UI" panose="020B0604030504040204" pitchFamily="34" charset="-128"/>
              <a:ea typeface="Meiryo UI" panose="020B0604030504040204" pitchFamily="34" charset="-128"/>
            </a:endParaRPr>
          </a:p>
        </p:txBody>
      </p:sp>
      <p:sp>
        <p:nvSpPr>
          <p:cNvPr id="9" name="正方形/長方形 8">
            <a:extLst>
              <a:ext uri="{FF2B5EF4-FFF2-40B4-BE49-F238E27FC236}">
                <a16:creationId xmlns:a16="http://schemas.microsoft.com/office/drawing/2014/main" id="{FC3EAA56-8639-3CEC-6BD4-B51989D44E45}"/>
              </a:ext>
            </a:extLst>
          </p:cNvPr>
          <p:cNvSpPr/>
          <p:nvPr/>
        </p:nvSpPr>
        <p:spPr>
          <a:xfrm>
            <a:off x="839000" y="3422955"/>
            <a:ext cx="714704" cy="851339"/>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100">
                <a:latin typeface="Meiryo UI" panose="020B0604030504040204" pitchFamily="34" charset="-128"/>
                <a:ea typeface="Meiryo UI" panose="020B0604030504040204" pitchFamily="34" charset="-128"/>
              </a:rPr>
              <a:t>スプレッド</a:t>
            </a:r>
            <a:endParaRPr lang="en-US" altLang="ja-JP" sz="1100" dirty="0">
              <a:latin typeface="Meiryo UI" panose="020B0604030504040204" pitchFamily="34" charset="-128"/>
              <a:ea typeface="Meiryo UI" panose="020B0604030504040204" pitchFamily="34" charset="-128"/>
            </a:endParaRPr>
          </a:p>
          <a:p>
            <a:pPr algn="ctr"/>
            <a:r>
              <a:rPr kumimoji="1" lang="ja-JP" altLang="en-US" sz="1100">
                <a:latin typeface="Meiryo UI" panose="020B0604030504040204" pitchFamily="34" charset="-128"/>
                <a:ea typeface="Meiryo UI" panose="020B0604030504040204" pitchFamily="34" charset="-128"/>
              </a:rPr>
              <a:t>シート</a:t>
            </a:r>
            <a:endParaRPr kumimoji="1" lang="en-US" altLang="ja-JP" sz="1100" dirty="0">
              <a:latin typeface="Meiryo UI" panose="020B0604030504040204" pitchFamily="34" charset="-128"/>
              <a:ea typeface="Meiryo UI" panose="020B0604030504040204" pitchFamily="34" charset="-128"/>
            </a:endParaRPr>
          </a:p>
          <a:p>
            <a:pPr algn="ctr"/>
            <a:r>
              <a:rPr lang="ja-JP" altLang="en-US" sz="700">
                <a:latin typeface="Meiryo UI" panose="020B0604030504040204" pitchFamily="34" charset="-128"/>
                <a:ea typeface="Meiryo UI" panose="020B0604030504040204" pitchFamily="34" charset="-128"/>
              </a:rPr>
              <a:t>（バック）</a:t>
            </a:r>
            <a:endParaRPr kumimoji="1" lang="ja-JP" altLang="en-US" sz="70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94CB5E3A-C908-9D14-C2A0-44758F41DE47}"/>
              </a:ext>
            </a:extLst>
          </p:cNvPr>
          <p:cNvSpPr/>
          <p:nvPr/>
        </p:nvSpPr>
        <p:spPr>
          <a:xfrm>
            <a:off x="839000" y="4274294"/>
            <a:ext cx="714704" cy="851339"/>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担当者</a:t>
            </a:r>
          </a:p>
        </p:txBody>
      </p:sp>
      <p:sp>
        <p:nvSpPr>
          <p:cNvPr id="12" name="正方形/長方形 11">
            <a:extLst>
              <a:ext uri="{FF2B5EF4-FFF2-40B4-BE49-F238E27FC236}">
                <a16:creationId xmlns:a16="http://schemas.microsoft.com/office/drawing/2014/main" id="{8161DA93-F8E9-A02A-E8D2-6907D0FA974E}"/>
              </a:ext>
            </a:extLst>
          </p:cNvPr>
          <p:cNvSpPr/>
          <p:nvPr/>
        </p:nvSpPr>
        <p:spPr>
          <a:xfrm>
            <a:off x="839000" y="5125633"/>
            <a:ext cx="714704" cy="851339"/>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部門長</a:t>
            </a:r>
          </a:p>
        </p:txBody>
      </p:sp>
      <p:sp>
        <p:nvSpPr>
          <p:cNvPr id="13" name="正方形/長方形 12">
            <a:extLst>
              <a:ext uri="{FF2B5EF4-FFF2-40B4-BE49-F238E27FC236}">
                <a16:creationId xmlns:a16="http://schemas.microsoft.com/office/drawing/2014/main" id="{03BB47A6-3D45-1633-C1C8-6D82DF7ABD23}"/>
              </a:ext>
            </a:extLst>
          </p:cNvPr>
          <p:cNvSpPr/>
          <p:nvPr/>
        </p:nvSpPr>
        <p:spPr>
          <a:xfrm>
            <a:off x="397565" y="1720276"/>
            <a:ext cx="1156138" cy="851339"/>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sz="1200">
                <a:latin typeface="Meiryo UI" panose="020B0604030504040204" pitchFamily="34" charset="-128"/>
                <a:ea typeface="Meiryo UI" panose="020B0604030504040204" pitchFamily="34" charset="-128"/>
              </a:rPr>
              <a:t>お客様</a:t>
            </a:r>
          </a:p>
        </p:txBody>
      </p:sp>
      <p:sp>
        <p:nvSpPr>
          <p:cNvPr id="14" name="正方形/長方形 13">
            <a:extLst>
              <a:ext uri="{FF2B5EF4-FFF2-40B4-BE49-F238E27FC236}">
                <a16:creationId xmlns:a16="http://schemas.microsoft.com/office/drawing/2014/main" id="{74FE0D75-23F8-E9C9-8F1C-E22508539BEB}"/>
              </a:ext>
            </a:extLst>
          </p:cNvPr>
          <p:cNvSpPr/>
          <p:nvPr/>
        </p:nvSpPr>
        <p:spPr>
          <a:xfrm>
            <a:off x="397565" y="2571615"/>
            <a:ext cx="441434" cy="1702679"/>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sz="1200">
                <a:latin typeface="Meiryo UI" panose="020B0604030504040204" pitchFamily="34" charset="-128"/>
                <a:ea typeface="Meiryo UI" panose="020B0604030504040204" pitchFamily="34" charset="-128"/>
              </a:rPr>
              <a:t>システム</a:t>
            </a:r>
          </a:p>
        </p:txBody>
      </p:sp>
      <p:sp>
        <p:nvSpPr>
          <p:cNvPr id="15" name="正方形/長方形 14">
            <a:extLst>
              <a:ext uri="{FF2B5EF4-FFF2-40B4-BE49-F238E27FC236}">
                <a16:creationId xmlns:a16="http://schemas.microsoft.com/office/drawing/2014/main" id="{74B5CFBD-0831-0D28-9B14-491024E15C14}"/>
              </a:ext>
            </a:extLst>
          </p:cNvPr>
          <p:cNvSpPr/>
          <p:nvPr/>
        </p:nvSpPr>
        <p:spPr>
          <a:xfrm>
            <a:off x="397565" y="4274293"/>
            <a:ext cx="441434" cy="1702679"/>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vert="eaVert" rtlCol="0" anchor="ctr"/>
          <a:lstStyle/>
          <a:p>
            <a:pPr algn="ctr"/>
            <a:r>
              <a:rPr kumimoji="1" lang="ja-JP" altLang="en-US" sz="1200">
                <a:latin typeface="Meiryo UI" panose="020B0604030504040204" pitchFamily="34" charset="-128"/>
                <a:ea typeface="Meiryo UI" panose="020B0604030504040204" pitchFamily="34" charset="-128"/>
              </a:rPr>
              <a:t>担当部署</a:t>
            </a:r>
          </a:p>
        </p:txBody>
      </p:sp>
      <p:sp>
        <p:nvSpPr>
          <p:cNvPr id="16" name="正方形/長方形 15">
            <a:extLst>
              <a:ext uri="{FF2B5EF4-FFF2-40B4-BE49-F238E27FC236}">
                <a16:creationId xmlns:a16="http://schemas.microsoft.com/office/drawing/2014/main" id="{0CC24251-B563-98A5-D380-42B048F86FD1}"/>
              </a:ext>
            </a:extLst>
          </p:cNvPr>
          <p:cNvSpPr/>
          <p:nvPr/>
        </p:nvSpPr>
        <p:spPr>
          <a:xfrm>
            <a:off x="1553704" y="1720277"/>
            <a:ext cx="10112777" cy="85133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120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A7E900AF-D065-1A7A-DCBE-40D44EA06E10}"/>
              </a:ext>
            </a:extLst>
          </p:cNvPr>
          <p:cNvSpPr/>
          <p:nvPr/>
        </p:nvSpPr>
        <p:spPr>
          <a:xfrm>
            <a:off x="1553704" y="2571616"/>
            <a:ext cx="10112777" cy="85133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120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EDAEDC99-71E8-B47F-5E5D-B339B8B14924}"/>
              </a:ext>
            </a:extLst>
          </p:cNvPr>
          <p:cNvSpPr/>
          <p:nvPr/>
        </p:nvSpPr>
        <p:spPr>
          <a:xfrm>
            <a:off x="1553704" y="3422955"/>
            <a:ext cx="10112777" cy="85133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1200">
              <a:latin typeface="Meiryo UI" panose="020B0604030504040204" pitchFamily="34" charset="-128"/>
              <a:ea typeface="Meiryo UI" panose="020B0604030504040204" pitchFamily="34" charset="-128"/>
            </a:endParaRPr>
          </a:p>
        </p:txBody>
      </p:sp>
      <p:sp>
        <p:nvSpPr>
          <p:cNvPr id="19" name="正方形/長方形 18">
            <a:extLst>
              <a:ext uri="{FF2B5EF4-FFF2-40B4-BE49-F238E27FC236}">
                <a16:creationId xmlns:a16="http://schemas.microsoft.com/office/drawing/2014/main" id="{E0AA358E-EA16-1E5C-5497-C8FB74E8A648}"/>
              </a:ext>
            </a:extLst>
          </p:cNvPr>
          <p:cNvSpPr/>
          <p:nvPr/>
        </p:nvSpPr>
        <p:spPr>
          <a:xfrm>
            <a:off x="1553704" y="4274294"/>
            <a:ext cx="10112777" cy="85133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1200">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2BA2FE8A-A67E-1A03-041F-B8EE8446CA95}"/>
              </a:ext>
            </a:extLst>
          </p:cNvPr>
          <p:cNvSpPr/>
          <p:nvPr/>
        </p:nvSpPr>
        <p:spPr>
          <a:xfrm>
            <a:off x="1553704" y="5125633"/>
            <a:ext cx="10112777" cy="85133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1200">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2ED99BFF-AB2F-DF93-F369-5253BE87F684}"/>
              </a:ext>
            </a:extLst>
          </p:cNvPr>
          <p:cNvSpPr/>
          <p:nvPr/>
        </p:nvSpPr>
        <p:spPr>
          <a:xfrm>
            <a:off x="3105294" y="2876564"/>
            <a:ext cx="1190301" cy="294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latin typeface="Meiryo UI" panose="020B0604030504040204" pitchFamily="34" charset="-128"/>
                <a:ea typeface="Meiryo UI" panose="020B0604030504040204" pitchFamily="34" charset="-128"/>
              </a:rPr>
              <a:t>問合せ受付ページ</a:t>
            </a:r>
          </a:p>
        </p:txBody>
      </p:sp>
      <p:sp>
        <p:nvSpPr>
          <p:cNvPr id="22" name="正方形/長方形 21">
            <a:extLst>
              <a:ext uri="{FF2B5EF4-FFF2-40B4-BE49-F238E27FC236}">
                <a16:creationId xmlns:a16="http://schemas.microsoft.com/office/drawing/2014/main" id="{9DF907AA-6DEC-E4E5-C7FD-4948259FEE5F}"/>
              </a:ext>
            </a:extLst>
          </p:cNvPr>
          <p:cNvSpPr/>
          <p:nvPr/>
        </p:nvSpPr>
        <p:spPr>
          <a:xfrm>
            <a:off x="3105294" y="2004131"/>
            <a:ext cx="1190301" cy="294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latin typeface="Meiryo UI" panose="020B0604030504040204" pitchFamily="34" charset="-128"/>
                <a:ea typeface="Meiryo UI" panose="020B0604030504040204" pitchFamily="34" charset="-128"/>
              </a:rPr>
              <a:t>問合せ入力</a:t>
            </a:r>
          </a:p>
        </p:txBody>
      </p:sp>
      <p:cxnSp>
        <p:nvCxnSpPr>
          <p:cNvPr id="24" name="直線矢印コネクタ 23">
            <a:extLst>
              <a:ext uri="{FF2B5EF4-FFF2-40B4-BE49-F238E27FC236}">
                <a16:creationId xmlns:a16="http://schemas.microsoft.com/office/drawing/2014/main" id="{B10CACD3-F3F3-AAA1-4027-EE429B7851EF}"/>
              </a:ext>
            </a:extLst>
          </p:cNvPr>
          <p:cNvCxnSpPr>
            <a:cxnSpLocks/>
            <a:stCxn id="22" idx="2"/>
            <a:endCxn id="21" idx="0"/>
          </p:cNvCxnSpPr>
          <p:nvPr/>
        </p:nvCxnSpPr>
        <p:spPr>
          <a:xfrm>
            <a:off x="3700445" y="2298421"/>
            <a:ext cx="0" cy="578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3B71D1E9-5445-99D1-4881-5B3F1FC836E5}"/>
              </a:ext>
            </a:extLst>
          </p:cNvPr>
          <p:cNvSpPr/>
          <p:nvPr/>
        </p:nvSpPr>
        <p:spPr>
          <a:xfrm>
            <a:off x="3105294" y="3696150"/>
            <a:ext cx="1190301" cy="294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latin typeface="Meiryo UI" panose="020B0604030504040204" pitchFamily="34" charset="-128"/>
                <a:ea typeface="Meiryo UI" panose="020B0604030504040204" pitchFamily="34" charset="-128"/>
              </a:rPr>
              <a:t>スプレッドシートに記録</a:t>
            </a:r>
          </a:p>
        </p:txBody>
      </p:sp>
      <p:sp>
        <p:nvSpPr>
          <p:cNvPr id="29" name="正方形/長方形 28">
            <a:extLst>
              <a:ext uri="{FF2B5EF4-FFF2-40B4-BE49-F238E27FC236}">
                <a16:creationId xmlns:a16="http://schemas.microsoft.com/office/drawing/2014/main" id="{8A03E229-137A-0179-14FF-F70D77DE26D8}"/>
              </a:ext>
            </a:extLst>
          </p:cNvPr>
          <p:cNvSpPr/>
          <p:nvPr/>
        </p:nvSpPr>
        <p:spPr>
          <a:xfrm>
            <a:off x="1870846" y="2004131"/>
            <a:ext cx="930968" cy="2942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latin typeface="Meiryo UI" panose="020B0604030504040204" pitchFamily="34" charset="-128"/>
                <a:ea typeface="Meiryo UI" panose="020B0604030504040204" pitchFamily="34" charset="-128"/>
              </a:rPr>
              <a:t>Web</a:t>
            </a:r>
            <a:r>
              <a:rPr lang="ja-JP" altLang="en-US" sz="900">
                <a:latin typeface="Meiryo UI" panose="020B0604030504040204" pitchFamily="34" charset="-128"/>
                <a:ea typeface="Meiryo UI" panose="020B0604030504040204" pitchFamily="34" charset="-128"/>
              </a:rPr>
              <a:t>サイト閲覧</a:t>
            </a:r>
            <a:endParaRPr kumimoji="1" lang="ja-JP" altLang="en-US" sz="900">
              <a:latin typeface="Meiryo UI" panose="020B0604030504040204" pitchFamily="34" charset="-128"/>
              <a:ea typeface="Meiryo UI" panose="020B0604030504040204" pitchFamily="34" charset="-128"/>
            </a:endParaRPr>
          </a:p>
        </p:txBody>
      </p:sp>
      <p:cxnSp>
        <p:nvCxnSpPr>
          <p:cNvPr id="33" name="直線矢印コネクタ 32">
            <a:extLst>
              <a:ext uri="{FF2B5EF4-FFF2-40B4-BE49-F238E27FC236}">
                <a16:creationId xmlns:a16="http://schemas.microsoft.com/office/drawing/2014/main" id="{B8BB48A4-F56F-74C5-AAAD-F146B4428F32}"/>
              </a:ext>
            </a:extLst>
          </p:cNvPr>
          <p:cNvCxnSpPr>
            <a:cxnSpLocks/>
            <a:stCxn id="29" idx="3"/>
            <a:endCxn id="22" idx="1"/>
          </p:cNvCxnSpPr>
          <p:nvPr/>
        </p:nvCxnSpPr>
        <p:spPr>
          <a:xfrm>
            <a:off x="2801814" y="2151276"/>
            <a:ext cx="3034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954914D-33CE-7202-0E28-B416155AB6D9}"/>
              </a:ext>
            </a:extLst>
          </p:cNvPr>
          <p:cNvCxnSpPr>
            <a:stCxn id="21" idx="2"/>
            <a:endCxn id="26" idx="0"/>
          </p:cNvCxnSpPr>
          <p:nvPr/>
        </p:nvCxnSpPr>
        <p:spPr>
          <a:xfrm>
            <a:off x="3700445" y="3170854"/>
            <a:ext cx="0" cy="525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正方形/長方形 38">
            <a:extLst>
              <a:ext uri="{FF2B5EF4-FFF2-40B4-BE49-F238E27FC236}">
                <a16:creationId xmlns:a16="http://schemas.microsoft.com/office/drawing/2014/main" id="{E695595E-3C92-CD77-168C-295631AD0CF5}"/>
              </a:ext>
            </a:extLst>
          </p:cNvPr>
          <p:cNvSpPr/>
          <p:nvPr/>
        </p:nvSpPr>
        <p:spPr>
          <a:xfrm>
            <a:off x="4836868" y="3696150"/>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スプレッドシート</a:t>
            </a:r>
          </a:p>
        </p:txBody>
      </p:sp>
      <p:sp>
        <p:nvSpPr>
          <p:cNvPr id="40" name="正方形/長方形 39">
            <a:extLst>
              <a:ext uri="{FF2B5EF4-FFF2-40B4-BE49-F238E27FC236}">
                <a16:creationId xmlns:a16="http://schemas.microsoft.com/office/drawing/2014/main" id="{D1EDDFC8-74A3-B99E-BE55-3D0C20129C79}"/>
              </a:ext>
            </a:extLst>
          </p:cNvPr>
          <p:cNvSpPr/>
          <p:nvPr/>
        </p:nvSpPr>
        <p:spPr>
          <a:xfrm>
            <a:off x="4836868" y="4558148"/>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新規問合せ確認</a:t>
            </a:r>
            <a:endParaRPr kumimoji="1" lang="en-US" altLang="ja-JP" sz="900" dirty="0">
              <a:solidFill>
                <a:schemeClr val="tx1"/>
              </a:solidFill>
              <a:latin typeface="Meiryo UI" panose="020B0604030504040204" pitchFamily="34" charset="-128"/>
              <a:ea typeface="Meiryo UI" panose="020B0604030504040204" pitchFamily="34" charset="-128"/>
            </a:endParaRPr>
          </a:p>
          <a:p>
            <a:pPr algn="ctr"/>
            <a:r>
              <a:rPr lang="ja-JP" altLang="en-US" sz="900">
                <a:solidFill>
                  <a:schemeClr val="tx1"/>
                </a:solidFill>
                <a:latin typeface="Meiryo UI" panose="020B0604030504040204" pitchFamily="34" charset="-128"/>
                <a:ea typeface="Meiryo UI" panose="020B0604030504040204" pitchFamily="34" charset="-128"/>
              </a:rPr>
              <a:t>（平日</a:t>
            </a:r>
            <a:r>
              <a:rPr lang="en-US" altLang="ja-JP" sz="900" dirty="0">
                <a:solidFill>
                  <a:schemeClr val="tx1"/>
                </a:solidFill>
                <a:latin typeface="Meiryo UI" panose="020B0604030504040204" pitchFamily="34" charset="-128"/>
                <a:ea typeface="Meiryo UI" panose="020B0604030504040204" pitchFamily="34" charset="-128"/>
              </a:rPr>
              <a:t> AM 9:30</a:t>
            </a:r>
            <a:r>
              <a:rPr lang="ja-JP" altLang="en-US" sz="900">
                <a:solidFill>
                  <a:schemeClr val="tx1"/>
                </a:solidFill>
                <a:latin typeface="Meiryo UI" panose="020B0604030504040204" pitchFamily="34" charset="-128"/>
                <a:ea typeface="Meiryo UI" panose="020B0604030504040204" pitchFamily="34" charset="-128"/>
              </a:rPr>
              <a:t>）</a:t>
            </a:r>
            <a:endParaRPr kumimoji="1" lang="ja-JP" altLang="en-US" sz="900">
              <a:solidFill>
                <a:schemeClr val="tx1"/>
              </a:solidFill>
              <a:latin typeface="Meiryo UI" panose="020B0604030504040204" pitchFamily="34" charset="-128"/>
              <a:ea typeface="Meiryo UI" panose="020B0604030504040204" pitchFamily="34" charset="-128"/>
            </a:endParaRPr>
          </a:p>
        </p:txBody>
      </p:sp>
      <p:cxnSp>
        <p:nvCxnSpPr>
          <p:cNvPr id="42" name="直線矢印コネクタ 41">
            <a:extLst>
              <a:ext uri="{FF2B5EF4-FFF2-40B4-BE49-F238E27FC236}">
                <a16:creationId xmlns:a16="http://schemas.microsoft.com/office/drawing/2014/main" id="{F6B83405-A601-C2E8-3A2E-6F0A10D42C0D}"/>
              </a:ext>
            </a:extLst>
          </p:cNvPr>
          <p:cNvCxnSpPr>
            <a:stCxn id="40" idx="0"/>
            <a:endCxn id="39" idx="2"/>
          </p:cNvCxnSpPr>
          <p:nvPr/>
        </p:nvCxnSpPr>
        <p:spPr>
          <a:xfrm flipV="1">
            <a:off x="5432019" y="3990440"/>
            <a:ext cx="0" cy="567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C0B3A20-6A1C-9546-A6FD-AE5139982FFA}"/>
              </a:ext>
            </a:extLst>
          </p:cNvPr>
          <p:cNvCxnSpPr>
            <a:cxnSpLocks/>
            <a:stCxn id="26" idx="3"/>
            <a:endCxn id="39" idx="1"/>
          </p:cNvCxnSpPr>
          <p:nvPr/>
        </p:nvCxnSpPr>
        <p:spPr>
          <a:xfrm>
            <a:off x="4295595" y="3843295"/>
            <a:ext cx="541273"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AF9EE4C5-894D-A569-7CD6-3F10E994EB58}"/>
              </a:ext>
            </a:extLst>
          </p:cNvPr>
          <p:cNvSpPr/>
          <p:nvPr/>
        </p:nvSpPr>
        <p:spPr>
          <a:xfrm>
            <a:off x="4836868" y="5409487"/>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latin typeface="Meiryo UI" panose="020B0604030504040204" pitchFamily="34" charset="-128"/>
                <a:ea typeface="Meiryo UI" panose="020B0604030504040204" pitchFamily="34" charset="-128"/>
              </a:rPr>
              <a:t>件数・対応確認</a:t>
            </a:r>
            <a:endParaRPr kumimoji="1" lang="ja-JP" altLang="en-US" sz="900">
              <a:solidFill>
                <a:schemeClr val="tx1"/>
              </a:solidFill>
              <a:latin typeface="Meiryo UI" panose="020B0604030504040204" pitchFamily="34" charset="-128"/>
              <a:ea typeface="Meiryo UI" panose="020B0604030504040204" pitchFamily="34" charset="-128"/>
            </a:endParaRPr>
          </a:p>
        </p:txBody>
      </p:sp>
      <p:cxnSp>
        <p:nvCxnSpPr>
          <p:cNvPr id="50" name="直線矢印コネクタ 49">
            <a:extLst>
              <a:ext uri="{FF2B5EF4-FFF2-40B4-BE49-F238E27FC236}">
                <a16:creationId xmlns:a16="http://schemas.microsoft.com/office/drawing/2014/main" id="{DA804A6C-DD25-2286-11A5-EBF25D92A26B}"/>
              </a:ext>
            </a:extLst>
          </p:cNvPr>
          <p:cNvCxnSpPr>
            <a:cxnSpLocks/>
          </p:cNvCxnSpPr>
          <p:nvPr/>
        </p:nvCxnSpPr>
        <p:spPr>
          <a:xfrm>
            <a:off x="5684267" y="4852438"/>
            <a:ext cx="0" cy="557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正方形/長方形 52">
            <a:extLst>
              <a:ext uri="{FF2B5EF4-FFF2-40B4-BE49-F238E27FC236}">
                <a16:creationId xmlns:a16="http://schemas.microsoft.com/office/drawing/2014/main" id="{8562DD3E-A470-547B-6553-BC3AF527F9DB}"/>
              </a:ext>
            </a:extLst>
          </p:cNvPr>
          <p:cNvSpPr/>
          <p:nvPr/>
        </p:nvSpPr>
        <p:spPr>
          <a:xfrm>
            <a:off x="6442322" y="4558148"/>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問合せ対応</a:t>
            </a:r>
          </a:p>
        </p:txBody>
      </p:sp>
      <p:sp>
        <p:nvSpPr>
          <p:cNvPr id="55" name="正方形/長方形 54">
            <a:extLst>
              <a:ext uri="{FF2B5EF4-FFF2-40B4-BE49-F238E27FC236}">
                <a16:creationId xmlns:a16="http://schemas.microsoft.com/office/drawing/2014/main" id="{D941948E-991F-CB46-EEC8-18B43AEDB296}"/>
              </a:ext>
            </a:extLst>
          </p:cNvPr>
          <p:cNvSpPr/>
          <p:nvPr/>
        </p:nvSpPr>
        <p:spPr>
          <a:xfrm>
            <a:off x="6442322" y="2004131"/>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latin typeface="Meiryo UI" panose="020B0604030504040204" pitchFamily="34" charset="-128"/>
                <a:ea typeface="Meiryo UI" panose="020B0604030504040204" pitchFamily="34" charset="-128"/>
              </a:rPr>
              <a:t>問合せ回答</a:t>
            </a:r>
            <a:endParaRPr kumimoji="1" lang="ja-JP" altLang="en-US" sz="900">
              <a:solidFill>
                <a:schemeClr val="tx1"/>
              </a:solidFill>
              <a:latin typeface="Meiryo UI" panose="020B0604030504040204" pitchFamily="34" charset="-128"/>
              <a:ea typeface="Meiryo UI" panose="020B0604030504040204" pitchFamily="34" charset="-128"/>
            </a:endParaRPr>
          </a:p>
        </p:txBody>
      </p:sp>
      <p:cxnSp>
        <p:nvCxnSpPr>
          <p:cNvPr id="60" name="直線矢印コネクタ 59">
            <a:extLst>
              <a:ext uri="{FF2B5EF4-FFF2-40B4-BE49-F238E27FC236}">
                <a16:creationId xmlns:a16="http://schemas.microsoft.com/office/drawing/2014/main" id="{43F740B5-C46D-A67C-8812-A11EDD3B023B}"/>
              </a:ext>
            </a:extLst>
          </p:cNvPr>
          <p:cNvCxnSpPr>
            <a:stCxn id="40" idx="3"/>
            <a:endCxn id="53" idx="1"/>
          </p:cNvCxnSpPr>
          <p:nvPr/>
        </p:nvCxnSpPr>
        <p:spPr>
          <a:xfrm>
            <a:off x="6027169" y="4705293"/>
            <a:ext cx="4151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6E1177DF-CF87-BE1C-7062-3D0E8BADCFB7}"/>
              </a:ext>
            </a:extLst>
          </p:cNvPr>
          <p:cNvCxnSpPr>
            <a:cxnSpLocks/>
          </p:cNvCxnSpPr>
          <p:nvPr/>
        </p:nvCxnSpPr>
        <p:spPr>
          <a:xfrm flipV="1">
            <a:off x="7037472" y="3990440"/>
            <a:ext cx="0" cy="567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正方形/長方形 72">
            <a:extLst>
              <a:ext uri="{FF2B5EF4-FFF2-40B4-BE49-F238E27FC236}">
                <a16:creationId xmlns:a16="http://schemas.microsoft.com/office/drawing/2014/main" id="{CFFDB6A0-35A0-489E-7A77-7CAAE4B88179}"/>
              </a:ext>
            </a:extLst>
          </p:cNvPr>
          <p:cNvSpPr/>
          <p:nvPr/>
        </p:nvSpPr>
        <p:spPr>
          <a:xfrm>
            <a:off x="7955812" y="4558148"/>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問合せ対応終了</a:t>
            </a:r>
          </a:p>
        </p:txBody>
      </p:sp>
      <p:sp>
        <p:nvSpPr>
          <p:cNvPr id="75" name="正方形/長方形 74">
            <a:extLst>
              <a:ext uri="{FF2B5EF4-FFF2-40B4-BE49-F238E27FC236}">
                <a16:creationId xmlns:a16="http://schemas.microsoft.com/office/drawing/2014/main" id="{89C025A1-99F4-3807-B77F-F213A061A531}"/>
              </a:ext>
            </a:extLst>
          </p:cNvPr>
          <p:cNvSpPr/>
          <p:nvPr/>
        </p:nvSpPr>
        <p:spPr>
          <a:xfrm>
            <a:off x="7955812" y="3696150"/>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ステータス</a:t>
            </a:r>
            <a:r>
              <a:rPr lang="ja-JP" altLang="en-US" sz="900">
                <a:solidFill>
                  <a:schemeClr val="tx1"/>
                </a:solidFill>
                <a:latin typeface="Meiryo UI" panose="020B0604030504040204" pitchFamily="34" charset="-128"/>
                <a:ea typeface="Meiryo UI" panose="020B0604030504040204" pitchFamily="34" charset="-128"/>
              </a:rPr>
              <a:t>を終了に</a:t>
            </a:r>
            <a:endParaRPr kumimoji="1" lang="ja-JP" altLang="en-US" sz="900">
              <a:solidFill>
                <a:schemeClr val="tx1"/>
              </a:solidFill>
              <a:latin typeface="Meiryo UI" panose="020B0604030504040204" pitchFamily="34" charset="-128"/>
              <a:ea typeface="Meiryo UI" panose="020B0604030504040204" pitchFamily="34" charset="-128"/>
            </a:endParaRPr>
          </a:p>
        </p:txBody>
      </p:sp>
      <p:sp>
        <p:nvSpPr>
          <p:cNvPr id="77" name="正方形/長方形 76">
            <a:extLst>
              <a:ext uri="{FF2B5EF4-FFF2-40B4-BE49-F238E27FC236}">
                <a16:creationId xmlns:a16="http://schemas.microsoft.com/office/drawing/2014/main" id="{280AEC16-D6D1-2123-6712-9591219B2FAD}"/>
              </a:ext>
            </a:extLst>
          </p:cNvPr>
          <p:cNvSpPr/>
          <p:nvPr/>
        </p:nvSpPr>
        <p:spPr>
          <a:xfrm>
            <a:off x="7955812" y="5409486"/>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終了確認・報告</a:t>
            </a:r>
          </a:p>
        </p:txBody>
      </p:sp>
      <p:cxnSp>
        <p:nvCxnSpPr>
          <p:cNvPr id="79" name="直線矢印コネクタ 78">
            <a:extLst>
              <a:ext uri="{FF2B5EF4-FFF2-40B4-BE49-F238E27FC236}">
                <a16:creationId xmlns:a16="http://schemas.microsoft.com/office/drawing/2014/main" id="{C11A495B-DD1B-969C-1F4E-C77495A86F60}"/>
              </a:ext>
            </a:extLst>
          </p:cNvPr>
          <p:cNvCxnSpPr>
            <a:cxnSpLocks/>
          </p:cNvCxnSpPr>
          <p:nvPr/>
        </p:nvCxnSpPr>
        <p:spPr>
          <a:xfrm>
            <a:off x="8372287" y="4852438"/>
            <a:ext cx="0" cy="557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E676858F-5E63-816E-819C-71F25A37E4DF}"/>
              </a:ext>
            </a:extLst>
          </p:cNvPr>
          <p:cNvCxnSpPr>
            <a:stCxn id="73" idx="0"/>
          </p:cNvCxnSpPr>
          <p:nvPr/>
        </p:nvCxnSpPr>
        <p:spPr>
          <a:xfrm flipH="1" flipV="1">
            <a:off x="8550961" y="3990440"/>
            <a:ext cx="2" cy="567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正方形/長方形 89">
            <a:extLst>
              <a:ext uri="{FF2B5EF4-FFF2-40B4-BE49-F238E27FC236}">
                <a16:creationId xmlns:a16="http://schemas.microsoft.com/office/drawing/2014/main" id="{EE91B361-3089-B2B7-0382-A84681D0ED4A}"/>
              </a:ext>
            </a:extLst>
          </p:cNvPr>
          <p:cNvSpPr/>
          <p:nvPr/>
        </p:nvSpPr>
        <p:spPr>
          <a:xfrm>
            <a:off x="9592293" y="5409486"/>
            <a:ext cx="770907"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latin typeface="Meiryo UI" panose="020B0604030504040204" pitchFamily="34" charset="-128"/>
                <a:ea typeface="Meiryo UI" panose="020B0604030504040204" pitchFamily="34" charset="-128"/>
              </a:rPr>
              <a:t>確認・削除</a:t>
            </a:r>
            <a:endParaRPr kumimoji="1" lang="ja-JP" altLang="en-US" sz="900">
              <a:solidFill>
                <a:schemeClr val="tx1"/>
              </a:solidFill>
              <a:latin typeface="Meiryo UI" panose="020B0604030504040204" pitchFamily="34" charset="-128"/>
              <a:ea typeface="Meiryo UI" panose="020B0604030504040204" pitchFamily="34" charset="-128"/>
            </a:endParaRPr>
          </a:p>
        </p:txBody>
      </p:sp>
      <p:sp>
        <p:nvSpPr>
          <p:cNvPr id="91" name="正方形/長方形 90">
            <a:extLst>
              <a:ext uri="{FF2B5EF4-FFF2-40B4-BE49-F238E27FC236}">
                <a16:creationId xmlns:a16="http://schemas.microsoft.com/office/drawing/2014/main" id="{96E29807-E385-7D86-8237-58FA28DB9E51}"/>
              </a:ext>
            </a:extLst>
          </p:cNvPr>
          <p:cNvSpPr/>
          <p:nvPr/>
        </p:nvSpPr>
        <p:spPr>
          <a:xfrm>
            <a:off x="9592293" y="3696150"/>
            <a:ext cx="770907"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前月分削除</a:t>
            </a:r>
          </a:p>
        </p:txBody>
      </p:sp>
      <p:cxnSp>
        <p:nvCxnSpPr>
          <p:cNvPr id="93" name="直線矢印コネクタ 92">
            <a:extLst>
              <a:ext uri="{FF2B5EF4-FFF2-40B4-BE49-F238E27FC236}">
                <a16:creationId xmlns:a16="http://schemas.microsoft.com/office/drawing/2014/main" id="{531A63D9-B4B7-B513-6E03-6EFD66B79058}"/>
              </a:ext>
            </a:extLst>
          </p:cNvPr>
          <p:cNvCxnSpPr>
            <a:cxnSpLocks/>
            <a:stCxn id="90" idx="0"/>
            <a:endCxn id="91" idx="2"/>
          </p:cNvCxnSpPr>
          <p:nvPr/>
        </p:nvCxnSpPr>
        <p:spPr>
          <a:xfrm flipV="1">
            <a:off x="9977747" y="3990440"/>
            <a:ext cx="0" cy="14190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正方形/長方形 94">
            <a:extLst>
              <a:ext uri="{FF2B5EF4-FFF2-40B4-BE49-F238E27FC236}">
                <a16:creationId xmlns:a16="http://schemas.microsoft.com/office/drawing/2014/main" id="{1AF1A6EA-3301-538A-D560-320A96B51B90}"/>
              </a:ext>
            </a:extLst>
          </p:cNvPr>
          <p:cNvSpPr/>
          <p:nvPr/>
        </p:nvSpPr>
        <p:spPr>
          <a:xfrm>
            <a:off x="1686390" y="1399695"/>
            <a:ext cx="2827285" cy="46523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正方形/長方形 95">
            <a:extLst>
              <a:ext uri="{FF2B5EF4-FFF2-40B4-BE49-F238E27FC236}">
                <a16:creationId xmlns:a16="http://schemas.microsoft.com/office/drawing/2014/main" id="{0507BC56-E2CB-02EB-8F4F-9C502ED216A8}"/>
              </a:ext>
            </a:extLst>
          </p:cNvPr>
          <p:cNvSpPr/>
          <p:nvPr/>
        </p:nvSpPr>
        <p:spPr>
          <a:xfrm>
            <a:off x="4618776" y="1399695"/>
            <a:ext cx="4708350" cy="4652338"/>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正方形/長方形 96">
            <a:extLst>
              <a:ext uri="{FF2B5EF4-FFF2-40B4-BE49-F238E27FC236}">
                <a16:creationId xmlns:a16="http://schemas.microsoft.com/office/drawing/2014/main" id="{BF010942-30AE-9E74-E117-85D9C8C6D672}"/>
              </a:ext>
            </a:extLst>
          </p:cNvPr>
          <p:cNvSpPr/>
          <p:nvPr/>
        </p:nvSpPr>
        <p:spPr>
          <a:xfrm>
            <a:off x="9456168" y="1399695"/>
            <a:ext cx="2100469" cy="4652338"/>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テキスト ボックス 97">
            <a:extLst>
              <a:ext uri="{FF2B5EF4-FFF2-40B4-BE49-F238E27FC236}">
                <a16:creationId xmlns:a16="http://schemas.microsoft.com/office/drawing/2014/main" id="{317A5260-5EAA-3D29-C81B-DF4B963A44EB}"/>
              </a:ext>
            </a:extLst>
          </p:cNvPr>
          <p:cNvSpPr txBox="1"/>
          <p:nvPr/>
        </p:nvSpPr>
        <p:spPr>
          <a:xfrm>
            <a:off x="2449792" y="1415329"/>
            <a:ext cx="1133644" cy="276999"/>
          </a:xfrm>
          <a:prstGeom prst="rect">
            <a:avLst/>
          </a:prstGeom>
          <a:noFill/>
        </p:spPr>
        <p:txBody>
          <a:bodyPr wrap="none" rtlCol="0">
            <a:spAutoFit/>
          </a:bodyPr>
          <a:lstStyle/>
          <a:p>
            <a:r>
              <a:rPr kumimoji="1" lang="ja-JP" altLang="en-US" sz="1200">
                <a:latin typeface="Meiryo UI" panose="020B0604030504040204" pitchFamily="34" charset="-128"/>
                <a:ea typeface="Meiryo UI" panose="020B0604030504040204" pitchFamily="34" charset="-128"/>
              </a:rPr>
              <a:t>システム化範囲</a:t>
            </a:r>
          </a:p>
        </p:txBody>
      </p:sp>
      <p:sp>
        <p:nvSpPr>
          <p:cNvPr id="99" name="テキスト ボックス 98">
            <a:extLst>
              <a:ext uri="{FF2B5EF4-FFF2-40B4-BE49-F238E27FC236}">
                <a16:creationId xmlns:a16="http://schemas.microsoft.com/office/drawing/2014/main" id="{403F655F-3726-56F2-0002-16A6DA3523F6}"/>
              </a:ext>
            </a:extLst>
          </p:cNvPr>
          <p:cNvSpPr txBox="1"/>
          <p:nvPr/>
        </p:nvSpPr>
        <p:spPr>
          <a:xfrm>
            <a:off x="6610092" y="1415329"/>
            <a:ext cx="800219" cy="276999"/>
          </a:xfrm>
          <a:prstGeom prst="rect">
            <a:avLst/>
          </a:prstGeom>
          <a:noFill/>
        </p:spPr>
        <p:txBody>
          <a:bodyPr wrap="none" rtlCol="0">
            <a:spAutoFit/>
          </a:bodyPr>
          <a:lstStyle/>
          <a:p>
            <a:r>
              <a:rPr lang="ja-JP" altLang="en-US" sz="1200">
                <a:latin typeface="Meiryo UI" panose="020B0604030504040204" pitchFamily="34" charset="-128"/>
                <a:ea typeface="Meiryo UI" panose="020B0604030504040204" pitchFamily="34" charset="-128"/>
              </a:rPr>
              <a:t>日次業務</a:t>
            </a:r>
            <a:endParaRPr kumimoji="1" lang="ja-JP" altLang="en-US" sz="1200">
              <a:latin typeface="Meiryo UI" panose="020B0604030504040204" pitchFamily="34" charset="-128"/>
              <a:ea typeface="Meiryo UI" panose="020B0604030504040204" pitchFamily="34" charset="-128"/>
            </a:endParaRPr>
          </a:p>
        </p:txBody>
      </p:sp>
      <p:sp>
        <p:nvSpPr>
          <p:cNvPr id="100" name="テキスト ボックス 99">
            <a:extLst>
              <a:ext uri="{FF2B5EF4-FFF2-40B4-BE49-F238E27FC236}">
                <a16:creationId xmlns:a16="http://schemas.microsoft.com/office/drawing/2014/main" id="{6F2D01DA-F88B-72F1-1217-DD87338321D8}"/>
              </a:ext>
            </a:extLst>
          </p:cNvPr>
          <p:cNvSpPr txBox="1"/>
          <p:nvPr/>
        </p:nvSpPr>
        <p:spPr>
          <a:xfrm>
            <a:off x="10044221" y="1415329"/>
            <a:ext cx="800219" cy="276999"/>
          </a:xfrm>
          <a:prstGeom prst="rect">
            <a:avLst/>
          </a:prstGeom>
          <a:noFill/>
        </p:spPr>
        <p:txBody>
          <a:bodyPr wrap="none" rtlCol="0">
            <a:spAutoFit/>
          </a:bodyPr>
          <a:lstStyle/>
          <a:p>
            <a:r>
              <a:rPr lang="ja-JP" altLang="en-US" sz="1200">
                <a:latin typeface="Meiryo UI" panose="020B0604030504040204" pitchFamily="34" charset="-128"/>
                <a:ea typeface="Meiryo UI" panose="020B0604030504040204" pitchFamily="34" charset="-128"/>
              </a:rPr>
              <a:t>月次業務</a:t>
            </a:r>
            <a:endParaRPr kumimoji="1" lang="ja-JP" altLang="en-US" sz="1200">
              <a:latin typeface="Meiryo UI" panose="020B0604030504040204" pitchFamily="34" charset="-128"/>
              <a:ea typeface="Meiryo UI" panose="020B0604030504040204" pitchFamily="34" charset="-128"/>
            </a:endParaRPr>
          </a:p>
        </p:txBody>
      </p:sp>
      <p:sp>
        <p:nvSpPr>
          <p:cNvPr id="76" name="正方形/長方形 75">
            <a:extLst>
              <a:ext uri="{FF2B5EF4-FFF2-40B4-BE49-F238E27FC236}">
                <a16:creationId xmlns:a16="http://schemas.microsoft.com/office/drawing/2014/main" id="{D47B479E-A0B5-1A01-9D1F-00FEF5FED7C0}"/>
              </a:ext>
            </a:extLst>
          </p:cNvPr>
          <p:cNvSpPr/>
          <p:nvPr/>
        </p:nvSpPr>
        <p:spPr>
          <a:xfrm>
            <a:off x="6442322" y="3696150"/>
            <a:ext cx="1190301" cy="2942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ステータス</a:t>
            </a:r>
            <a:r>
              <a:rPr lang="ja-JP" altLang="en-US" sz="900">
                <a:solidFill>
                  <a:schemeClr val="tx1"/>
                </a:solidFill>
                <a:latin typeface="Meiryo UI" panose="020B0604030504040204" pitchFamily="34" charset="-128"/>
                <a:ea typeface="Meiryo UI" panose="020B0604030504040204" pitchFamily="34" charset="-128"/>
              </a:rPr>
              <a:t>を対応中に</a:t>
            </a:r>
            <a:endParaRPr kumimoji="1" lang="ja-JP" altLang="en-US" sz="900">
              <a:solidFill>
                <a:schemeClr val="tx1"/>
              </a:solidFill>
              <a:latin typeface="Meiryo UI" panose="020B0604030504040204" pitchFamily="34" charset="-128"/>
              <a:ea typeface="Meiryo UI" panose="020B0604030504040204" pitchFamily="34" charset="-128"/>
            </a:endParaRPr>
          </a:p>
        </p:txBody>
      </p:sp>
      <p:cxnSp>
        <p:nvCxnSpPr>
          <p:cNvPr id="103" name="直線矢印コネクタ 102">
            <a:extLst>
              <a:ext uri="{FF2B5EF4-FFF2-40B4-BE49-F238E27FC236}">
                <a16:creationId xmlns:a16="http://schemas.microsoft.com/office/drawing/2014/main" id="{D576B668-A566-63A3-6556-AAA13C96B210}"/>
              </a:ext>
            </a:extLst>
          </p:cNvPr>
          <p:cNvCxnSpPr>
            <a:stCxn id="53" idx="3"/>
            <a:endCxn id="73" idx="1"/>
          </p:cNvCxnSpPr>
          <p:nvPr/>
        </p:nvCxnSpPr>
        <p:spPr>
          <a:xfrm>
            <a:off x="7632623" y="4705293"/>
            <a:ext cx="3231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正方形/長方形 107">
            <a:extLst>
              <a:ext uri="{FF2B5EF4-FFF2-40B4-BE49-F238E27FC236}">
                <a16:creationId xmlns:a16="http://schemas.microsoft.com/office/drawing/2014/main" id="{961D82F9-B866-9FA3-75CC-C62EC607F1C9}"/>
              </a:ext>
            </a:extLst>
          </p:cNvPr>
          <p:cNvSpPr/>
          <p:nvPr/>
        </p:nvSpPr>
        <p:spPr>
          <a:xfrm>
            <a:off x="10525463" y="5409486"/>
            <a:ext cx="892315" cy="294290"/>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latin typeface="Meiryo UI" panose="020B0604030504040204" pitchFamily="34" charset="-128"/>
                <a:ea typeface="Meiryo UI" panose="020B0604030504040204" pitchFamily="34" charset="-128"/>
              </a:rPr>
              <a:t>バックアップ</a:t>
            </a:r>
            <a:endParaRPr lang="en-US" altLang="ja-JP" sz="900" dirty="0">
              <a:solidFill>
                <a:schemeClr val="tx1"/>
              </a:solidFill>
              <a:latin typeface="Meiryo UI" panose="020B0604030504040204" pitchFamily="34" charset="-128"/>
              <a:ea typeface="Meiryo UI" panose="020B0604030504040204" pitchFamily="34" charset="-128"/>
            </a:endParaRPr>
          </a:p>
          <a:p>
            <a:pPr algn="ctr"/>
            <a:r>
              <a:rPr kumimoji="1" lang="ja-JP" altLang="en-US" sz="700">
                <a:solidFill>
                  <a:schemeClr val="tx1"/>
                </a:solidFill>
                <a:latin typeface="Meiryo UI" panose="020B0604030504040204" pitchFamily="34" charset="-128"/>
                <a:ea typeface="Meiryo UI" panose="020B0604030504040204" pitchFamily="34" charset="-128"/>
              </a:rPr>
              <a:t>（必要に応じて）</a:t>
            </a:r>
          </a:p>
        </p:txBody>
      </p:sp>
      <p:cxnSp>
        <p:nvCxnSpPr>
          <p:cNvPr id="110" name="直線矢印コネクタ 109">
            <a:extLst>
              <a:ext uri="{FF2B5EF4-FFF2-40B4-BE49-F238E27FC236}">
                <a16:creationId xmlns:a16="http://schemas.microsoft.com/office/drawing/2014/main" id="{CE3C1355-299F-6E0C-9426-35B1DC13E46E}"/>
              </a:ext>
            </a:extLst>
          </p:cNvPr>
          <p:cNvCxnSpPr>
            <a:cxnSpLocks/>
            <a:stCxn id="90" idx="3"/>
            <a:endCxn id="108" idx="1"/>
          </p:cNvCxnSpPr>
          <p:nvPr/>
        </p:nvCxnSpPr>
        <p:spPr>
          <a:xfrm>
            <a:off x="10363200" y="5556631"/>
            <a:ext cx="1622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線矢印コネクタ 83">
            <a:extLst>
              <a:ext uri="{FF2B5EF4-FFF2-40B4-BE49-F238E27FC236}">
                <a16:creationId xmlns:a16="http://schemas.microsoft.com/office/drawing/2014/main" id="{8DB22006-4F61-D0EB-161A-25C137709141}"/>
              </a:ext>
            </a:extLst>
          </p:cNvPr>
          <p:cNvCxnSpPr>
            <a:cxnSpLocks/>
          </p:cNvCxnSpPr>
          <p:nvPr/>
        </p:nvCxnSpPr>
        <p:spPr>
          <a:xfrm flipV="1">
            <a:off x="6848287" y="2298421"/>
            <a:ext cx="0" cy="2259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テキスト ボックス 113">
            <a:extLst>
              <a:ext uri="{FF2B5EF4-FFF2-40B4-BE49-F238E27FC236}">
                <a16:creationId xmlns:a16="http://schemas.microsoft.com/office/drawing/2014/main" id="{88F7CD6D-963F-F5DF-C99C-484DD28DE9C3}"/>
              </a:ext>
            </a:extLst>
          </p:cNvPr>
          <p:cNvSpPr txBox="1"/>
          <p:nvPr/>
        </p:nvSpPr>
        <p:spPr>
          <a:xfrm>
            <a:off x="2922905" y="1754683"/>
            <a:ext cx="1564852" cy="230832"/>
          </a:xfrm>
          <a:prstGeom prst="rect">
            <a:avLst/>
          </a:prstGeom>
          <a:noFill/>
        </p:spPr>
        <p:txBody>
          <a:bodyPr wrap="none" rtlCol="0">
            <a:spAutoFit/>
          </a:bodyPr>
          <a:lstStyle/>
          <a:p>
            <a:r>
              <a:rPr kumimoji="1" lang="en-US" altLang="ja-JP" sz="900" dirty="0">
                <a:latin typeface="Meiryo UI" panose="020B0604030504040204" pitchFamily="34" charset="-128"/>
                <a:ea typeface="Meiryo UI" panose="020B0604030504040204" pitchFamily="34" charset="-128"/>
              </a:rPr>
              <a:t>Email,</a:t>
            </a:r>
            <a:r>
              <a:rPr lang="ja-JP" altLang="en-US" sz="900">
                <a:latin typeface="Meiryo UI" panose="020B0604030504040204" pitchFamily="34" charset="-128"/>
                <a:ea typeface="Meiryo UI" panose="020B0604030504040204" pitchFamily="34" charset="-128"/>
              </a:rPr>
              <a:t>タイトル</a:t>
            </a:r>
            <a:r>
              <a:rPr lang="en-US" altLang="ja-JP" sz="900" dirty="0">
                <a:latin typeface="Meiryo UI" panose="020B0604030504040204" pitchFamily="34" charset="-128"/>
                <a:ea typeface="Meiryo UI" panose="020B0604030504040204" pitchFamily="34" charset="-128"/>
              </a:rPr>
              <a:t>,</a:t>
            </a:r>
            <a:r>
              <a:rPr lang="ja-JP" altLang="en-US" sz="900">
                <a:latin typeface="Meiryo UI" panose="020B0604030504040204" pitchFamily="34" charset="-128"/>
                <a:ea typeface="Meiryo UI" panose="020B0604030504040204" pitchFamily="34" charset="-128"/>
              </a:rPr>
              <a:t>お問合せ内容</a:t>
            </a:r>
            <a:endParaRPr kumimoji="1" lang="ja-JP" altLang="en-US" sz="900">
              <a:latin typeface="Meiryo UI" panose="020B0604030504040204" pitchFamily="34" charset="-128"/>
              <a:ea typeface="Meiryo UI" panose="020B0604030504040204" pitchFamily="34" charset="-128"/>
            </a:endParaRPr>
          </a:p>
        </p:txBody>
      </p:sp>
      <p:sp>
        <p:nvSpPr>
          <p:cNvPr id="115" name="テキスト ボックス 114">
            <a:extLst>
              <a:ext uri="{FF2B5EF4-FFF2-40B4-BE49-F238E27FC236}">
                <a16:creationId xmlns:a16="http://schemas.microsoft.com/office/drawing/2014/main" id="{E3DB5695-CABE-E1AA-ED71-CB9FC26FB92C}"/>
              </a:ext>
            </a:extLst>
          </p:cNvPr>
          <p:cNvSpPr txBox="1"/>
          <p:nvPr/>
        </p:nvSpPr>
        <p:spPr>
          <a:xfrm>
            <a:off x="2898778" y="4004201"/>
            <a:ext cx="1625766" cy="230832"/>
          </a:xfrm>
          <a:prstGeom prst="rect">
            <a:avLst/>
          </a:prstGeom>
          <a:noFill/>
        </p:spPr>
        <p:txBody>
          <a:bodyPr wrap="none" rtlCol="0">
            <a:spAutoFit/>
          </a:bodyPr>
          <a:lstStyle/>
          <a:p>
            <a:r>
              <a:rPr lang="ja-JP" altLang="en-US" sz="900">
                <a:latin typeface="Meiryo UI" panose="020B0604030504040204" pitchFamily="34" charset="-128"/>
                <a:ea typeface="Meiryo UI" panose="020B0604030504040204" pitchFamily="34" charset="-128"/>
              </a:rPr>
              <a:t>受付時刻</a:t>
            </a:r>
            <a:r>
              <a:rPr lang="en-US" altLang="ja-JP" sz="900" dirty="0">
                <a:latin typeface="Meiryo UI" panose="020B0604030504040204" pitchFamily="34" charset="-128"/>
                <a:ea typeface="Meiryo UI" panose="020B0604030504040204" pitchFamily="34" charset="-128"/>
              </a:rPr>
              <a:t>, </a:t>
            </a:r>
            <a:r>
              <a:rPr lang="ja-JP" altLang="en-US" sz="900">
                <a:latin typeface="Meiryo UI" panose="020B0604030504040204" pitchFamily="34" charset="-128"/>
                <a:ea typeface="Meiryo UI" panose="020B0604030504040204" pitchFamily="34" charset="-128"/>
              </a:rPr>
              <a:t>ステータス（受付）</a:t>
            </a:r>
            <a:endParaRPr kumimoji="1" lang="ja-JP" altLang="en-US" sz="900">
              <a:latin typeface="Meiryo UI" panose="020B0604030504040204" pitchFamily="34" charset="-128"/>
              <a:ea typeface="Meiryo UI" panose="020B0604030504040204" pitchFamily="34" charset="-128"/>
            </a:endParaRPr>
          </a:p>
        </p:txBody>
      </p:sp>
      <p:sp>
        <p:nvSpPr>
          <p:cNvPr id="121" name="正方形/長方形 120">
            <a:extLst>
              <a:ext uri="{FF2B5EF4-FFF2-40B4-BE49-F238E27FC236}">
                <a16:creationId xmlns:a16="http://schemas.microsoft.com/office/drawing/2014/main" id="{D95FF173-81F2-34C3-64CF-8175A8A8518B}"/>
              </a:ext>
            </a:extLst>
          </p:cNvPr>
          <p:cNvSpPr/>
          <p:nvPr/>
        </p:nvSpPr>
        <p:spPr>
          <a:xfrm>
            <a:off x="6442322" y="5409486"/>
            <a:ext cx="1190301" cy="294290"/>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latin typeface="Meiryo UI" panose="020B0604030504040204" pitchFamily="34" charset="-128"/>
                <a:ea typeface="Meiryo UI" panose="020B0604030504040204" pitchFamily="34" charset="-128"/>
              </a:rPr>
              <a:t>状況報告</a:t>
            </a:r>
            <a:endParaRPr kumimoji="1" lang="en-US" altLang="ja-JP" sz="900" dirty="0">
              <a:solidFill>
                <a:schemeClr val="tx1"/>
              </a:solidFill>
              <a:latin typeface="Meiryo UI" panose="020B0604030504040204" pitchFamily="34" charset="-128"/>
              <a:ea typeface="Meiryo UI" panose="020B0604030504040204" pitchFamily="34" charset="-128"/>
            </a:endParaRPr>
          </a:p>
          <a:p>
            <a:pPr algn="ctr"/>
            <a:r>
              <a:rPr lang="ja-JP" altLang="en-US" sz="700">
                <a:solidFill>
                  <a:schemeClr val="tx1"/>
                </a:solidFill>
                <a:latin typeface="Meiryo UI" panose="020B0604030504040204" pitchFamily="34" charset="-128"/>
                <a:ea typeface="Meiryo UI" panose="020B0604030504040204" pitchFamily="34" charset="-128"/>
              </a:rPr>
              <a:t>（必要に応じて）</a:t>
            </a:r>
            <a:endParaRPr kumimoji="1" lang="ja-JP" altLang="en-US" sz="700">
              <a:solidFill>
                <a:schemeClr val="tx1"/>
              </a:solidFill>
              <a:latin typeface="Meiryo UI" panose="020B0604030504040204" pitchFamily="34" charset="-128"/>
              <a:ea typeface="Meiryo UI" panose="020B0604030504040204" pitchFamily="34" charset="-128"/>
            </a:endParaRPr>
          </a:p>
        </p:txBody>
      </p:sp>
      <p:cxnSp>
        <p:nvCxnSpPr>
          <p:cNvPr id="123" name="直線矢印コネクタ 122">
            <a:extLst>
              <a:ext uri="{FF2B5EF4-FFF2-40B4-BE49-F238E27FC236}">
                <a16:creationId xmlns:a16="http://schemas.microsoft.com/office/drawing/2014/main" id="{55FF56F2-BF97-A250-D4CD-1C4C41987C9F}"/>
              </a:ext>
            </a:extLst>
          </p:cNvPr>
          <p:cNvCxnSpPr>
            <a:cxnSpLocks/>
          </p:cNvCxnSpPr>
          <p:nvPr/>
        </p:nvCxnSpPr>
        <p:spPr>
          <a:xfrm>
            <a:off x="7300232" y="4852438"/>
            <a:ext cx="0" cy="55704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389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89FD0E-D345-859D-7265-32B3A5260935}"/>
              </a:ext>
            </a:extLst>
          </p:cNvPr>
          <p:cNvSpPr>
            <a:spLocks noGrp="1"/>
          </p:cNvSpPr>
          <p:nvPr>
            <p:ph type="title"/>
          </p:nvPr>
        </p:nvSpPr>
        <p:spPr/>
        <p:txBody>
          <a:bodyPr>
            <a:normAutofit fontScale="90000"/>
          </a:bodyPr>
          <a:lstStyle/>
          <a:p>
            <a:r>
              <a:rPr kumimoji="1" lang="ja-JP" altLang="en-US"/>
              <a:t>機能要件（一覧）</a:t>
            </a:r>
          </a:p>
        </p:txBody>
      </p:sp>
      <p:sp>
        <p:nvSpPr>
          <p:cNvPr id="3" name="コンテンツ プレースホルダー 2">
            <a:extLst>
              <a:ext uri="{FF2B5EF4-FFF2-40B4-BE49-F238E27FC236}">
                <a16:creationId xmlns:a16="http://schemas.microsoft.com/office/drawing/2014/main" id="{D68FFE96-7C8A-508D-4610-2043375AC4B3}"/>
              </a:ext>
            </a:extLst>
          </p:cNvPr>
          <p:cNvSpPr>
            <a:spLocks noGrp="1"/>
          </p:cNvSpPr>
          <p:nvPr>
            <p:ph idx="1"/>
          </p:nvPr>
        </p:nvSpPr>
        <p:spPr>
          <a:xfrm>
            <a:off x="397565" y="805967"/>
            <a:ext cx="11396870" cy="504451"/>
          </a:xfrm>
        </p:spPr>
        <p:txBody>
          <a:bodyPr>
            <a:normAutofit/>
          </a:bodyPr>
          <a:lstStyle/>
          <a:p>
            <a:pPr>
              <a:lnSpc>
                <a:spcPct val="120000"/>
              </a:lnSpc>
            </a:pPr>
            <a:r>
              <a:rPr kumimoji="1" lang="ja-JP" altLang="en-US" sz="2000"/>
              <a:t>本システムは以下の業務を実現するものとする（システム化以外の業務も含む）</a:t>
            </a:r>
          </a:p>
        </p:txBody>
      </p:sp>
      <p:sp>
        <p:nvSpPr>
          <p:cNvPr id="4" name="フッター プレースホルダー 3">
            <a:extLst>
              <a:ext uri="{FF2B5EF4-FFF2-40B4-BE49-F238E27FC236}">
                <a16:creationId xmlns:a16="http://schemas.microsoft.com/office/drawing/2014/main" id="{BF217963-A4F3-C64E-33F3-5496CE8294D2}"/>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9A57BEB4-A314-1AA7-1DCA-47BCB5DD9F70}"/>
              </a:ext>
            </a:extLst>
          </p:cNvPr>
          <p:cNvSpPr>
            <a:spLocks noGrp="1"/>
          </p:cNvSpPr>
          <p:nvPr>
            <p:ph type="sldNum" sz="quarter" idx="12"/>
          </p:nvPr>
        </p:nvSpPr>
        <p:spPr/>
        <p:txBody>
          <a:bodyPr/>
          <a:lstStyle/>
          <a:p>
            <a:fld id="{462052E6-07CA-9B46-B866-FDE18BF74505}" type="slidenum">
              <a:rPr lang="ja-JP" altLang="en-US" smtClean="0"/>
              <a:pPr/>
              <a:t>6</a:t>
            </a:fld>
            <a:endParaRPr lang="ja-JP" altLang="en-US"/>
          </a:p>
        </p:txBody>
      </p:sp>
      <p:sp>
        <p:nvSpPr>
          <p:cNvPr id="6" name="正方形/長方形 5">
            <a:extLst>
              <a:ext uri="{FF2B5EF4-FFF2-40B4-BE49-F238E27FC236}">
                <a16:creationId xmlns:a16="http://schemas.microsoft.com/office/drawing/2014/main" id="{823EB91C-030C-F5A6-7521-D116735291A5}"/>
              </a:ext>
            </a:extLst>
          </p:cNvPr>
          <p:cNvSpPr/>
          <p:nvPr/>
        </p:nvSpPr>
        <p:spPr>
          <a:xfrm>
            <a:off x="462456" y="1325939"/>
            <a:ext cx="830316" cy="504451"/>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管理番号</a:t>
            </a:r>
          </a:p>
        </p:txBody>
      </p:sp>
      <p:sp>
        <p:nvSpPr>
          <p:cNvPr id="7" name="正方形/長方形 6">
            <a:extLst>
              <a:ext uri="{FF2B5EF4-FFF2-40B4-BE49-F238E27FC236}">
                <a16:creationId xmlns:a16="http://schemas.microsoft.com/office/drawing/2014/main" id="{15659A48-80C9-E6D2-B2FD-20E29CB52B28}"/>
              </a:ext>
            </a:extLst>
          </p:cNvPr>
          <p:cNvSpPr/>
          <p:nvPr/>
        </p:nvSpPr>
        <p:spPr>
          <a:xfrm>
            <a:off x="1292771" y="1325939"/>
            <a:ext cx="1576553" cy="504451"/>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機能</a:t>
            </a:r>
          </a:p>
        </p:txBody>
      </p:sp>
      <p:sp>
        <p:nvSpPr>
          <p:cNvPr id="9" name="正方形/長方形 8">
            <a:extLst>
              <a:ext uri="{FF2B5EF4-FFF2-40B4-BE49-F238E27FC236}">
                <a16:creationId xmlns:a16="http://schemas.microsoft.com/office/drawing/2014/main" id="{7B778F37-B23C-B15D-E9CB-8B512C5FB00E}"/>
              </a:ext>
            </a:extLst>
          </p:cNvPr>
          <p:cNvSpPr/>
          <p:nvPr/>
        </p:nvSpPr>
        <p:spPr>
          <a:xfrm>
            <a:off x="2869325" y="1325939"/>
            <a:ext cx="5087006" cy="504451"/>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說明</a:t>
            </a:r>
          </a:p>
        </p:txBody>
      </p:sp>
      <p:sp>
        <p:nvSpPr>
          <p:cNvPr id="10" name="正方形/長方形 9">
            <a:extLst>
              <a:ext uri="{FF2B5EF4-FFF2-40B4-BE49-F238E27FC236}">
                <a16:creationId xmlns:a16="http://schemas.microsoft.com/office/drawing/2014/main" id="{B0F0D529-975F-A4C3-0E79-7E402A5385C5}"/>
              </a:ext>
            </a:extLst>
          </p:cNvPr>
          <p:cNvSpPr/>
          <p:nvPr/>
        </p:nvSpPr>
        <p:spPr>
          <a:xfrm>
            <a:off x="462456" y="1830390"/>
            <a:ext cx="83031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FR-01</a:t>
            </a:r>
            <a:endParaRPr kumimoji="1" lang="ja-JP" altLang="en-US" sz="120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45FC06C0-1FBD-58C9-1B0A-97E2582F4DB1}"/>
              </a:ext>
            </a:extLst>
          </p:cNvPr>
          <p:cNvSpPr/>
          <p:nvPr/>
        </p:nvSpPr>
        <p:spPr>
          <a:xfrm>
            <a:off x="1292771" y="1830390"/>
            <a:ext cx="1576553"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en-US" altLang="ja-JP" sz="1200" dirty="0">
                <a:latin typeface="Meiryo UI" panose="020B0604030504040204" pitchFamily="34" charset="-128"/>
                <a:ea typeface="Meiryo UI" panose="020B0604030504040204" pitchFamily="34" charset="-128"/>
              </a:rPr>
              <a:t>TOP</a:t>
            </a:r>
            <a:r>
              <a:rPr kumimoji="1" lang="ja-JP" altLang="en-US" sz="1200">
                <a:latin typeface="Meiryo UI" panose="020B0604030504040204" pitchFamily="34" charset="-128"/>
                <a:ea typeface="Meiryo UI" panose="020B0604030504040204" pitchFamily="34" charset="-128"/>
              </a:rPr>
              <a:t>ページ</a:t>
            </a:r>
          </a:p>
        </p:txBody>
      </p:sp>
      <p:sp>
        <p:nvSpPr>
          <p:cNvPr id="12" name="正方形/長方形 11">
            <a:extLst>
              <a:ext uri="{FF2B5EF4-FFF2-40B4-BE49-F238E27FC236}">
                <a16:creationId xmlns:a16="http://schemas.microsoft.com/office/drawing/2014/main" id="{7011101B-88F5-A6A2-6002-81B84379DC57}"/>
              </a:ext>
            </a:extLst>
          </p:cNvPr>
          <p:cNvSpPr/>
          <p:nvPr/>
        </p:nvSpPr>
        <p:spPr>
          <a:xfrm>
            <a:off x="2869325" y="1830390"/>
            <a:ext cx="508700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200">
                <a:latin typeface="Meiryo UI" panose="020B0604030504040204" pitchFamily="34" charset="-128"/>
                <a:ea typeface="Meiryo UI" panose="020B0604030504040204" pitchFamily="34" charset="-128"/>
              </a:rPr>
              <a:t>システムは会社概要を說明する</a:t>
            </a:r>
            <a:r>
              <a:rPr lang="en-US" altLang="ja-JP" sz="1200" dirty="0">
                <a:latin typeface="Meiryo UI" panose="020B0604030504040204" pitchFamily="34" charset="-128"/>
                <a:ea typeface="Meiryo UI" panose="020B0604030504040204" pitchFamily="34" charset="-128"/>
              </a:rPr>
              <a:t>TOP</a:t>
            </a:r>
            <a:r>
              <a:rPr lang="ja-JP" altLang="en-US" sz="1200">
                <a:latin typeface="Meiryo UI" panose="020B0604030504040204" pitchFamily="34" charset="-128"/>
                <a:ea typeface="Meiryo UI" panose="020B0604030504040204" pitchFamily="34" charset="-128"/>
              </a:rPr>
              <a:t>ページを有する</a:t>
            </a:r>
            <a:endParaRPr lang="en-US" altLang="ja-JP" sz="1200" dirty="0">
              <a:latin typeface="Meiryo UI" panose="020B0604030504040204" pitchFamily="34" charset="-128"/>
              <a:ea typeface="Meiryo UI" panose="020B0604030504040204" pitchFamily="34" charset="-128"/>
            </a:endParaRPr>
          </a:p>
          <a:p>
            <a:r>
              <a:rPr kumimoji="1" lang="ja-JP" altLang="en-US" sz="1200">
                <a:latin typeface="Meiryo UI" panose="020B0604030504040204" pitchFamily="34" charset="-128"/>
                <a:ea typeface="Meiryo UI" panose="020B0604030504040204" pitchFamily="34" charset="-128"/>
              </a:rPr>
              <a:t>なお、</a:t>
            </a:r>
            <a:r>
              <a:rPr kumimoji="1" lang="en-US" altLang="ja-JP" sz="1200" dirty="0">
                <a:latin typeface="Meiryo UI" panose="020B0604030504040204" pitchFamily="34" charset="-128"/>
                <a:ea typeface="Meiryo UI" panose="020B0604030504040204" pitchFamily="34" charset="-128"/>
              </a:rPr>
              <a:t>TOP</a:t>
            </a:r>
            <a:r>
              <a:rPr kumimoji="1" lang="ja-JP" altLang="en-US" sz="1200">
                <a:latin typeface="Meiryo UI" panose="020B0604030504040204" pitchFamily="34" charset="-128"/>
                <a:ea typeface="Meiryo UI" panose="020B0604030504040204" pitchFamily="34" charset="-128"/>
              </a:rPr>
              <a:t>ページは</a:t>
            </a:r>
            <a:r>
              <a:rPr kumimoji="1" lang="en-US" altLang="ja-JP" sz="1200" dirty="0">
                <a:latin typeface="Meiryo UI" panose="020B0604030504040204" pitchFamily="34" charset="-128"/>
                <a:ea typeface="Meiryo UI" panose="020B0604030504040204" pitchFamily="34" charset="-128"/>
              </a:rPr>
              <a:t>PC</a:t>
            </a:r>
            <a:r>
              <a:rPr kumimoji="1" lang="ja-JP" altLang="en-US" sz="1200">
                <a:latin typeface="Meiryo UI" panose="020B0604030504040204" pitchFamily="34" charset="-128"/>
                <a:ea typeface="Meiryo UI" panose="020B0604030504040204" pitchFamily="34" charset="-128"/>
              </a:rPr>
              <a:t>、スマホから問題なく閲覧・操作できるもとのする</a:t>
            </a:r>
            <a:endParaRPr kumimoji="1" lang="en-US" altLang="ja-JP" sz="1200" dirty="0">
              <a:latin typeface="Meiryo UI" panose="020B0604030504040204" pitchFamily="34" charset="-128"/>
              <a:ea typeface="Meiryo UI" panose="020B0604030504040204" pitchFamily="34" charset="-128"/>
            </a:endParaRPr>
          </a:p>
        </p:txBody>
      </p:sp>
      <p:sp>
        <p:nvSpPr>
          <p:cNvPr id="31" name="正方形/長方形 30">
            <a:extLst>
              <a:ext uri="{FF2B5EF4-FFF2-40B4-BE49-F238E27FC236}">
                <a16:creationId xmlns:a16="http://schemas.microsoft.com/office/drawing/2014/main" id="{9B4BEB93-0DB9-EFBD-F2EC-F8A692D9F79F}"/>
              </a:ext>
            </a:extLst>
          </p:cNvPr>
          <p:cNvSpPr/>
          <p:nvPr/>
        </p:nvSpPr>
        <p:spPr>
          <a:xfrm>
            <a:off x="10289628" y="1325939"/>
            <a:ext cx="1366345" cy="504451"/>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200">
                <a:latin typeface="Meiryo UI" panose="020B0604030504040204" pitchFamily="34" charset="-128"/>
                <a:ea typeface="Meiryo UI" panose="020B0604030504040204" pitchFamily="34" charset="-128"/>
              </a:rPr>
              <a:t>備考</a:t>
            </a:r>
            <a:endParaRPr kumimoji="1" lang="ja-JP" altLang="en-US" sz="1200">
              <a:latin typeface="Meiryo UI" panose="020B0604030504040204" pitchFamily="34" charset="-128"/>
              <a:ea typeface="Meiryo UI" panose="020B0604030504040204" pitchFamily="34" charset="-128"/>
            </a:endParaRPr>
          </a:p>
        </p:txBody>
      </p:sp>
      <p:sp>
        <p:nvSpPr>
          <p:cNvPr id="32" name="正方形/長方形 31">
            <a:extLst>
              <a:ext uri="{FF2B5EF4-FFF2-40B4-BE49-F238E27FC236}">
                <a16:creationId xmlns:a16="http://schemas.microsoft.com/office/drawing/2014/main" id="{3C5BABF4-5902-5E68-F88A-414558C7C1AE}"/>
              </a:ext>
            </a:extLst>
          </p:cNvPr>
          <p:cNvSpPr/>
          <p:nvPr/>
        </p:nvSpPr>
        <p:spPr>
          <a:xfrm>
            <a:off x="10289628" y="1830390"/>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スマホ対応はレスポンシブ対応を想定</a:t>
            </a:r>
          </a:p>
        </p:txBody>
      </p:sp>
      <p:sp>
        <p:nvSpPr>
          <p:cNvPr id="8" name="正方形/長方形 7">
            <a:extLst>
              <a:ext uri="{FF2B5EF4-FFF2-40B4-BE49-F238E27FC236}">
                <a16:creationId xmlns:a16="http://schemas.microsoft.com/office/drawing/2014/main" id="{78674C94-03B3-AB2F-CB22-8516131EA4CD}"/>
              </a:ext>
            </a:extLst>
          </p:cNvPr>
          <p:cNvSpPr/>
          <p:nvPr/>
        </p:nvSpPr>
        <p:spPr>
          <a:xfrm>
            <a:off x="462456" y="2334841"/>
            <a:ext cx="83031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FR-02</a:t>
            </a:r>
            <a:endParaRPr kumimoji="1" lang="ja-JP" altLang="en-US" sz="1200">
              <a:latin typeface="Meiryo UI" panose="020B0604030504040204" pitchFamily="34" charset="-128"/>
              <a:ea typeface="Meiryo UI" panose="020B0604030504040204" pitchFamily="34" charset="-128"/>
            </a:endParaRPr>
          </a:p>
        </p:txBody>
      </p:sp>
      <p:sp>
        <p:nvSpPr>
          <p:cNvPr id="42" name="正方形/長方形 41">
            <a:extLst>
              <a:ext uri="{FF2B5EF4-FFF2-40B4-BE49-F238E27FC236}">
                <a16:creationId xmlns:a16="http://schemas.microsoft.com/office/drawing/2014/main" id="{B4DC5273-59D2-5341-E407-5DC19AFAF54D}"/>
              </a:ext>
            </a:extLst>
          </p:cNvPr>
          <p:cNvSpPr/>
          <p:nvPr/>
        </p:nvSpPr>
        <p:spPr>
          <a:xfrm>
            <a:off x="1292771" y="2334841"/>
            <a:ext cx="1576553"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問合せページ</a:t>
            </a:r>
          </a:p>
        </p:txBody>
      </p:sp>
      <p:sp>
        <p:nvSpPr>
          <p:cNvPr id="43" name="正方形/長方形 42">
            <a:extLst>
              <a:ext uri="{FF2B5EF4-FFF2-40B4-BE49-F238E27FC236}">
                <a16:creationId xmlns:a16="http://schemas.microsoft.com/office/drawing/2014/main" id="{1DE5DFBD-A3E9-E19A-5F2A-6FAA27111272}"/>
              </a:ext>
            </a:extLst>
          </p:cNvPr>
          <p:cNvSpPr/>
          <p:nvPr/>
        </p:nvSpPr>
        <p:spPr>
          <a:xfrm>
            <a:off x="2869325" y="2334841"/>
            <a:ext cx="508700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200">
                <a:latin typeface="Meiryo UI" panose="020B0604030504040204" pitchFamily="34" charset="-128"/>
                <a:ea typeface="Meiryo UI" panose="020B0604030504040204" pitchFamily="34" charset="-128"/>
              </a:rPr>
              <a:t>システムは問合せページを有する</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なお、問合せページは</a:t>
            </a:r>
            <a:r>
              <a:rPr lang="en-US" altLang="ja-JP" sz="1200" dirty="0">
                <a:latin typeface="Meiryo UI" panose="020B0604030504040204" pitchFamily="34" charset="-128"/>
                <a:ea typeface="Meiryo UI" panose="020B0604030504040204" pitchFamily="34" charset="-128"/>
              </a:rPr>
              <a:t>PC</a:t>
            </a:r>
            <a:r>
              <a:rPr lang="ja-JP" altLang="en-US" sz="1200">
                <a:latin typeface="Meiryo UI" panose="020B0604030504040204" pitchFamily="34" charset="-128"/>
                <a:ea typeface="Meiryo UI" panose="020B0604030504040204" pitchFamily="34" charset="-128"/>
              </a:rPr>
              <a:t>、スマホから問題なく閲覧・操作できるものとする</a:t>
            </a:r>
            <a:endParaRPr lang="en-US" altLang="ja-JP" sz="1200" dirty="0">
              <a:latin typeface="Meiryo UI" panose="020B0604030504040204" pitchFamily="34" charset="-128"/>
              <a:ea typeface="Meiryo UI" panose="020B0604030504040204" pitchFamily="34" charset="-128"/>
            </a:endParaRPr>
          </a:p>
        </p:txBody>
      </p:sp>
      <p:sp>
        <p:nvSpPr>
          <p:cNvPr id="45" name="正方形/長方形 44">
            <a:extLst>
              <a:ext uri="{FF2B5EF4-FFF2-40B4-BE49-F238E27FC236}">
                <a16:creationId xmlns:a16="http://schemas.microsoft.com/office/drawing/2014/main" id="{B79FFF84-E0AE-A352-DA8B-14328F0CF3DD}"/>
              </a:ext>
            </a:extLst>
          </p:cNvPr>
          <p:cNvSpPr/>
          <p:nvPr/>
        </p:nvSpPr>
        <p:spPr>
          <a:xfrm>
            <a:off x="10289628" y="2334841"/>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200">
                <a:latin typeface="Meiryo UI" panose="020B0604030504040204" pitchFamily="34" charset="-128"/>
                <a:ea typeface="Meiryo UI" panose="020B0604030504040204" pitchFamily="34" charset="-128"/>
              </a:rPr>
              <a:t>スマホ対応はレスポンシブ対応を想定</a:t>
            </a:r>
          </a:p>
        </p:txBody>
      </p:sp>
      <p:sp>
        <p:nvSpPr>
          <p:cNvPr id="46" name="正方形/長方形 45">
            <a:extLst>
              <a:ext uri="{FF2B5EF4-FFF2-40B4-BE49-F238E27FC236}">
                <a16:creationId xmlns:a16="http://schemas.microsoft.com/office/drawing/2014/main" id="{383FEAC1-911C-BEE8-3481-40AC86AF5165}"/>
              </a:ext>
            </a:extLst>
          </p:cNvPr>
          <p:cNvSpPr/>
          <p:nvPr/>
        </p:nvSpPr>
        <p:spPr>
          <a:xfrm>
            <a:off x="462456" y="2839292"/>
            <a:ext cx="83031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FR-03</a:t>
            </a:r>
            <a:endParaRPr kumimoji="1" lang="ja-JP" altLang="en-US" sz="1200">
              <a:latin typeface="Meiryo UI" panose="020B0604030504040204" pitchFamily="34" charset="-128"/>
              <a:ea typeface="Meiryo UI" panose="020B0604030504040204" pitchFamily="34" charset="-128"/>
            </a:endParaRPr>
          </a:p>
        </p:txBody>
      </p:sp>
      <p:sp>
        <p:nvSpPr>
          <p:cNvPr id="47" name="正方形/長方形 46">
            <a:extLst>
              <a:ext uri="{FF2B5EF4-FFF2-40B4-BE49-F238E27FC236}">
                <a16:creationId xmlns:a16="http://schemas.microsoft.com/office/drawing/2014/main" id="{35461FA3-BBC1-6149-E394-E85C89150490}"/>
              </a:ext>
            </a:extLst>
          </p:cNvPr>
          <p:cNvSpPr/>
          <p:nvPr/>
        </p:nvSpPr>
        <p:spPr>
          <a:xfrm>
            <a:off x="1292771" y="2839292"/>
            <a:ext cx="1576553"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200">
                <a:latin typeface="Meiryo UI" panose="020B0604030504040204" pitchFamily="34" charset="-128"/>
                <a:ea typeface="Meiryo UI" panose="020B0604030504040204" pitchFamily="34" charset="-128"/>
              </a:rPr>
              <a:t>問合せ内容の検証</a:t>
            </a:r>
            <a:endParaRPr kumimoji="1" lang="ja-JP" altLang="en-US" sz="1200">
              <a:latin typeface="Meiryo UI" panose="020B0604030504040204" pitchFamily="34" charset="-128"/>
              <a:ea typeface="Meiryo UI" panose="020B0604030504040204" pitchFamily="34" charset="-128"/>
            </a:endParaRPr>
          </a:p>
        </p:txBody>
      </p:sp>
      <p:sp>
        <p:nvSpPr>
          <p:cNvPr id="48" name="正方形/長方形 47">
            <a:extLst>
              <a:ext uri="{FF2B5EF4-FFF2-40B4-BE49-F238E27FC236}">
                <a16:creationId xmlns:a16="http://schemas.microsoft.com/office/drawing/2014/main" id="{5D00D099-F11A-6FAC-6BC9-B0930BBD0E67}"/>
              </a:ext>
            </a:extLst>
          </p:cNvPr>
          <p:cNvSpPr/>
          <p:nvPr/>
        </p:nvSpPr>
        <p:spPr>
          <a:xfrm>
            <a:off x="2869325" y="2839292"/>
            <a:ext cx="508700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問合せページ</a:t>
            </a:r>
            <a:r>
              <a:rPr kumimoji="1" lang="en-US" altLang="ja-JP" sz="1200" dirty="0">
                <a:latin typeface="Meiryo UI" panose="020B0604030504040204" pitchFamily="34" charset="-128"/>
                <a:ea typeface="Meiryo UI" panose="020B0604030504040204" pitchFamily="34" charset="-128"/>
              </a:rPr>
              <a:t>(FR-02)</a:t>
            </a:r>
            <a:r>
              <a:rPr kumimoji="1" lang="ja-JP" altLang="en-US" sz="1200">
                <a:latin typeface="Meiryo UI" panose="020B0604030504040204" pitchFamily="34" charset="-128"/>
                <a:ea typeface="Meiryo UI" panose="020B0604030504040204" pitchFamily="34" charset="-128"/>
              </a:rPr>
              <a:t>は、送信前（ボタン押下時）にネットワーク接続状態や入力各項目の検証機能を有する</a:t>
            </a:r>
            <a:endParaRPr kumimoji="1" lang="en-US" altLang="ja-JP" sz="1200" dirty="0">
              <a:latin typeface="Meiryo UI" panose="020B0604030504040204" pitchFamily="34" charset="-128"/>
              <a:ea typeface="Meiryo UI" panose="020B0604030504040204" pitchFamily="34" charset="-128"/>
            </a:endParaRPr>
          </a:p>
        </p:txBody>
      </p:sp>
      <p:sp>
        <p:nvSpPr>
          <p:cNvPr id="50" name="正方形/長方形 49">
            <a:extLst>
              <a:ext uri="{FF2B5EF4-FFF2-40B4-BE49-F238E27FC236}">
                <a16:creationId xmlns:a16="http://schemas.microsoft.com/office/drawing/2014/main" id="{F68F6FAB-BDB6-B230-7789-F7BC4D8C15FA}"/>
              </a:ext>
            </a:extLst>
          </p:cNvPr>
          <p:cNvSpPr/>
          <p:nvPr/>
        </p:nvSpPr>
        <p:spPr>
          <a:xfrm>
            <a:off x="10289628" y="2839292"/>
            <a:ext cx="1366345" cy="504451"/>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検証ルールは</a:t>
            </a:r>
            <a:r>
              <a:rPr kumimoji="1" lang="ja-JP" altLang="en-US" sz="1200">
                <a:highlight>
                  <a:srgbClr val="FFFF00"/>
                </a:highlight>
                <a:latin typeface="Meiryo UI" panose="020B0604030504040204" pitchFamily="34" charset="-128"/>
                <a:ea typeface="Meiryo UI" panose="020B0604030504040204" pitchFamily="34" charset="-128"/>
              </a:rPr>
              <a:t>設計フェーズにて決定</a:t>
            </a:r>
          </a:p>
        </p:txBody>
      </p:sp>
      <p:sp>
        <p:nvSpPr>
          <p:cNvPr id="51" name="正方形/長方形 50">
            <a:extLst>
              <a:ext uri="{FF2B5EF4-FFF2-40B4-BE49-F238E27FC236}">
                <a16:creationId xmlns:a16="http://schemas.microsoft.com/office/drawing/2014/main" id="{7658A535-B885-D672-B5B7-822402003228}"/>
              </a:ext>
            </a:extLst>
          </p:cNvPr>
          <p:cNvSpPr/>
          <p:nvPr/>
        </p:nvSpPr>
        <p:spPr>
          <a:xfrm>
            <a:off x="462456" y="3343743"/>
            <a:ext cx="83031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FR-04</a:t>
            </a:r>
            <a:endParaRPr kumimoji="1" lang="ja-JP" altLang="en-US" sz="1200">
              <a:latin typeface="Meiryo UI" panose="020B0604030504040204" pitchFamily="34" charset="-128"/>
              <a:ea typeface="Meiryo UI" panose="020B0604030504040204" pitchFamily="34" charset="-128"/>
            </a:endParaRPr>
          </a:p>
        </p:txBody>
      </p:sp>
      <p:sp>
        <p:nvSpPr>
          <p:cNvPr id="52" name="正方形/長方形 51">
            <a:extLst>
              <a:ext uri="{FF2B5EF4-FFF2-40B4-BE49-F238E27FC236}">
                <a16:creationId xmlns:a16="http://schemas.microsoft.com/office/drawing/2014/main" id="{13A89378-4615-41B2-D78B-66F5496C8F41}"/>
              </a:ext>
            </a:extLst>
          </p:cNvPr>
          <p:cNvSpPr/>
          <p:nvPr/>
        </p:nvSpPr>
        <p:spPr>
          <a:xfrm>
            <a:off x="1292771" y="3343743"/>
            <a:ext cx="1576553"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問合せ内容の送信</a:t>
            </a:r>
          </a:p>
        </p:txBody>
      </p:sp>
      <p:sp>
        <p:nvSpPr>
          <p:cNvPr id="53" name="正方形/長方形 52">
            <a:extLst>
              <a:ext uri="{FF2B5EF4-FFF2-40B4-BE49-F238E27FC236}">
                <a16:creationId xmlns:a16="http://schemas.microsoft.com/office/drawing/2014/main" id="{6863EED0-7D46-BC26-7111-3857A2280289}"/>
              </a:ext>
            </a:extLst>
          </p:cNvPr>
          <p:cNvSpPr/>
          <p:nvPr/>
        </p:nvSpPr>
        <p:spPr>
          <a:xfrm>
            <a:off x="2869325" y="3343743"/>
            <a:ext cx="508700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問合せページ</a:t>
            </a:r>
            <a:r>
              <a:rPr lang="en-US" altLang="ja-JP" sz="1200" dirty="0">
                <a:latin typeface="Meiryo UI" panose="020B0604030504040204" pitchFamily="34" charset="-128"/>
                <a:ea typeface="Meiryo UI" panose="020B0604030504040204" pitchFamily="34" charset="-128"/>
              </a:rPr>
              <a:t>(</a:t>
            </a:r>
            <a:r>
              <a:rPr kumimoji="1" lang="en-US" altLang="ja-JP" sz="1200" dirty="0">
                <a:latin typeface="Meiryo UI" panose="020B0604030504040204" pitchFamily="34" charset="-128"/>
                <a:ea typeface="Meiryo UI" panose="020B0604030504040204" pitchFamily="34" charset="-128"/>
              </a:rPr>
              <a:t>FR-02)</a:t>
            </a:r>
            <a:r>
              <a:rPr kumimoji="1" lang="ja-JP" altLang="en-US" sz="1200">
                <a:latin typeface="Meiryo UI" panose="020B0604030504040204" pitchFamily="34" charset="-128"/>
                <a:ea typeface="Meiryo UI" panose="020B0604030504040204" pitchFamily="34" charset="-128"/>
              </a:rPr>
              <a:t>は、検証済項目をバック（スプレッドシート）に送信する機能を有する</a:t>
            </a:r>
            <a:endParaRPr kumimoji="1" lang="en-US" altLang="ja-JP" sz="1200" dirty="0">
              <a:latin typeface="Meiryo UI" panose="020B0604030504040204" pitchFamily="34" charset="-128"/>
              <a:ea typeface="Meiryo UI" panose="020B0604030504040204" pitchFamily="34" charset="-128"/>
            </a:endParaRPr>
          </a:p>
        </p:txBody>
      </p:sp>
      <p:sp>
        <p:nvSpPr>
          <p:cNvPr id="55" name="正方形/長方形 54">
            <a:extLst>
              <a:ext uri="{FF2B5EF4-FFF2-40B4-BE49-F238E27FC236}">
                <a16:creationId xmlns:a16="http://schemas.microsoft.com/office/drawing/2014/main" id="{D4192E01-ADDC-8ED2-8DB0-E70BB04DE5A6}"/>
              </a:ext>
            </a:extLst>
          </p:cNvPr>
          <p:cNvSpPr/>
          <p:nvPr/>
        </p:nvSpPr>
        <p:spPr>
          <a:xfrm>
            <a:off x="10289628" y="3343743"/>
            <a:ext cx="1366345" cy="504451"/>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送信内容は暗号化されること</a:t>
            </a:r>
          </a:p>
        </p:txBody>
      </p:sp>
      <p:sp>
        <p:nvSpPr>
          <p:cNvPr id="56" name="正方形/長方形 55">
            <a:extLst>
              <a:ext uri="{FF2B5EF4-FFF2-40B4-BE49-F238E27FC236}">
                <a16:creationId xmlns:a16="http://schemas.microsoft.com/office/drawing/2014/main" id="{00B3921E-C604-3B99-61FF-454723CFC534}"/>
              </a:ext>
            </a:extLst>
          </p:cNvPr>
          <p:cNvSpPr/>
          <p:nvPr/>
        </p:nvSpPr>
        <p:spPr>
          <a:xfrm>
            <a:off x="462456" y="3848194"/>
            <a:ext cx="83031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FR-05</a:t>
            </a:r>
            <a:endParaRPr kumimoji="1" lang="ja-JP" altLang="en-US" sz="1200">
              <a:latin typeface="Meiryo UI" panose="020B0604030504040204" pitchFamily="34" charset="-128"/>
              <a:ea typeface="Meiryo UI" panose="020B0604030504040204" pitchFamily="34" charset="-128"/>
            </a:endParaRPr>
          </a:p>
        </p:txBody>
      </p:sp>
      <p:sp>
        <p:nvSpPr>
          <p:cNvPr id="57" name="正方形/長方形 56">
            <a:extLst>
              <a:ext uri="{FF2B5EF4-FFF2-40B4-BE49-F238E27FC236}">
                <a16:creationId xmlns:a16="http://schemas.microsoft.com/office/drawing/2014/main" id="{39B9A310-8FD1-FC7F-7275-CDE5D8860395}"/>
              </a:ext>
            </a:extLst>
          </p:cNvPr>
          <p:cNvSpPr/>
          <p:nvPr/>
        </p:nvSpPr>
        <p:spPr>
          <a:xfrm>
            <a:off x="1292771" y="3848194"/>
            <a:ext cx="1576553"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問合せの内容の検証</a:t>
            </a:r>
          </a:p>
        </p:txBody>
      </p:sp>
      <p:sp>
        <p:nvSpPr>
          <p:cNvPr id="58" name="正方形/長方形 57">
            <a:extLst>
              <a:ext uri="{FF2B5EF4-FFF2-40B4-BE49-F238E27FC236}">
                <a16:creationId xmlns:a16="http://schemas.microsoft.com/office/drawing/2014/main" id="{2B4BBC44-387C-3504-662C-47652D7A4499}"/>
              </a:ext>
            </a:extLst>
          </p:cNvPr>
          <p:cNvSpPr/>
          <p:nvPr/>
        </p:nvSpPr>
        <p:spPr>
          <a:xfrm>
            <a:off x="2869325" y="3848194"/>
            <a:ext cx="508700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システムは問合せ内容を記録する前に各項目の検証機能を有する</a:t>
            </a:r>
            <a:endParaRPr kumimoji="1" lang="en-US" altLang="ja-JP" sz="1200" dirty="0">
              <a:latin typeface="Meiryo UI" panose="020B0604030504040204" pitchFamily="34" charset="-128"/>
              <a:ea typeface="Meiryo UI" panose="020B0604030504040204" pitchFamily="34" charset="-128"/>
            </a:endParaRPr>
          </a:p>
        </p:txBody>
      </p:sp>
      <p:sp>
        <p:nvSpPr>
          <p:cNvPr id="60" name="正方形/長方形 59">
            <a:extLst>
              <a:ext uri="{FF2B5EF4-FFF2-40B4-BE49-F238E27FC236}">
                <a16:creationId xmlns:a16="http://schemas.microsoft.com/office/drawing/2014/main" id="{2B4F4977-4C93-CCF8-F22D-123546CB1993}"/>
              </a:ext>
            </a:extLst>
          </p:cNvPr>
          <p:cNvSpPr/>
          <p:nvPr/>
        </p:nvSpPr>
        <p:spPr>
          <a:xfrm>
            <a:off x="10289628" y="3848194"/>
            <a:ext cx="1366345" cy="504451"/>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r>
              <a:rPr lang="ja-JP" altLang="en-US" sz="1200">
                <a:latin typeface="Meiryo UI" panose="020B0604030504040204" pitchFamily="34" charset="-128"/>
                <a:ea typeface="Meiryo UI" panose="020B0604030504040204" pitchFamily="34" charset="-128"/>
              </a:rPr>
              <a:t>検証ルールは</a:t>
            </a:r>
            <a:r>
              <a:rPr lang="ja-JP" altLang="en-US" sz="1200">
                <a:highlight>
                  <a:srgbClr val="FFFF00"/>
                </a:highlight>
                <a:latin typeface="Meiryo UI" panose="020B0604030504040204" pitchFamily="34" charset="-128"/>
                <a:ea typeface="Meiryo UI" panose="020B0604030504040204" pitchFamily="34" charset="-128"/>
              </a:rPr>
              <a:t>設計フェーズにて決定</a:t>
            </a:r>
          </a:p>
        </p:txBody>
      </p:sp>
      <p:sp>
        <p:nvSpPr>
          <p:cNvPr id="61" name="正方形/長方形 60">
            <a:extLst>
              <a:ext uri="{FF2B5EF4-FFF2-40B4-BE49-F238E27FC236}">
                <a16:creationId xmlns:a16="http://schemas.microsoft.com/office/drawing/2014/main" id="{180512E8-1C7C-1621-B180-6E417004A4BB}"/>
              </a:ext>
            </a:extLst>
          </p:cNvPr>
          <p:cNvSpPr/>
          <p:nvPr/>
        </p:nvSpPr>
        <p:spPr>
          <a:xfrm>
            <a:off x="462456" y="4352645"/>
            <a:ext cx="83031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FR-06</a:t>
            </a:r>
            <a:endParaRPr kumimoji="1" lang="ja-JP" altLang="en-US" sz="1200">
              <a:latin typeface="Meiryo UI" panose="020B0604030504040204" pitchFamily="34" charset="-128"/>
              <a:ea typeface="Meiryo UI" panose="020B0604030504040204" pitchFamily="34" charset="-128"/>
            </a:endParaRPr>
          </a:p>
        </p:txBody>
      </p:sp>
      <p:sp>
        <p:nvSpPr>
          <p:cNvPr id="62" name="正方形/長方形 61">
            <a:extLst>
              <a:ext uri="{FF2B5EF4-FFF2-40B4-BE49-F238E27FC236}">
                <a16:creationId xmlns:a16="http://schemas.microsoft.com/office/drawing/2014/main" id="{D3ED367C-A4A9-5BBD-60D3-F8DC0114330E}"/>
              </a:ext>
            </a:extLst>
          </p:cNvPr>
          <p:cNvSpPr/>
          <p:nvPr/>
        </p:nvSpPr>
        <p:spPr>
          <a:xfrm>
            <a:off x="1292771" y="4352645"/>
            <a:ext cx="1576553"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問合せ内容の記録</a:t>
            </a:r>
          </a:p>
        </p:txBody>
      </p:sp>
      <p:sp>
        <p:nvSpPr>
          <p:cNvPr id="63" name="正方形/長方形 62">
            <a:extLst>
              <a:ext uri="{FF2B5EF4-FFF2-40B4-BE49-F238E27FC236}">
                <a16:creationId xmlns:a16="http://schemas.microsoft.com/office/drawing/2014/main" id="{72753EBE-244F-CADC-EF29-1AFE634601AC}"/>
              </a:ext>
            </a:extLst>
          </p:cNvPr>
          <p:cNvSpPr/>
          <p:nvPr/>
        </p:nvSpPr>
        <p:spPr>
          <a:xfrm>
            <a:off x="2869325" y="4352645"/>
            <a:ext cx="508700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システムは問合せ内容を</a:t>
            </a:r>
            <a:r>
              <a:rPr kumimoji="1" lang="en-US" altLang="ja-JP" sz="1200" dirty="0">
                <a:latin typeface="Meiryo UI" panose="020B0604030504040204" pitchFamily="34" charset="-128"/>
                <a:ea typeface="Meiryo UI" panose="020B0604030504040204" pitchFamily="34" charset="-128"/>
              </a:rPr>
              <a:t>Google</a:t>
            </a:r>
            <a:r>
              <a:rPr kumimoji="1" lang="ja-JP" altLang="en-US" sz="1200">
                <a:latin typeface="Meiryo UI" panose="020B0604030504040204" pitchFamily="34" charset="-128"/>
                <a:ea typeface="Meiryo UI" panose="020B0604030504040204" pitchFamily="34" charset="-128"/>
              </a:rPr>
              <a:t>スプレッドシートに記録できる機能を有する</a:t>
            </a:r>
            <a:endParaRPr kumimoji="1" lang="en-US" altLang="ja-JP" sz="1200" dirty="0">
              <a:latin typeface="Meiryo UI" panose="020B0604030504040204" pitchFamily="34" charset="-128"/>
              <a:ea typeface="Meiryo UI" panose="020B0604030504040204" pitchFamily="34" charset="-128"/>
            </a:endParaRPr>
          </a:p>
        </p:txBody>
      </p:sp>
      <p:sp>
        <p:nvSpPr>
          <p:cNvPr id="65" name="正方形/長方形 64">
            <a:extLst>
              <a:ext uri="{FF2B5EF4-FFF2-40B4-BE49-F238E27FC236}">
                <a16:creationId xmlns:a16="http://schemas.microsoft.com/office/drawing/2014/main" id="{9E83A19C-069C-038B-740D-0D1AB203E163}"/>
              </a:ext>
            </a:extLst>
          </p:cNvPr>
          <p:cNvSpPr/>
          <p:nvPr/>
        </p:nvSpPr>
        <p:spPr>
          <a:xfrm>
            <a:off x="10289628" y="4352645"/>
            <a:ext cx="1366345" cy="504451"/>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r>
              <a:rPr lang="ja-JP" altLang="en-US" sz="1200">
                <a:latin typeface="Meiryo UI" panose="020B0604030504040204" pitchFamily="34" charset="-128"/>
                <a:ea typeface="Meiryo UI" panose="020B0604030504040204" pitchFamily="34" charset="-128"/>
              </a:rPr>
              <a:t>データ構造は</a:t>
            </a:r>
            <a:r>
              <a:rPr lang="ja-JP" altLang="en-US" sz="1200">
                <a:highlight>
                  <a:srgbClr val="FFFF00"/>
                </a:highlight>
                <a:latin typeface="Meiryo UI" panose="020B0604030504040204" pitchFamily="34" charset="-128"/>
                <a:ea typeface="Meiryo UI" panose="020B0604030504040204" pitchFamily="34" charset="-128"/>
              </a:rPr>
              <a:t>設計フェーズにて決定</a:t>
            </a:r>
          </a:p>
        </p:txBody>
      </p:sp>
      <p:sp>
        <p:nvSpPr>
          <p:cNvPr id="66" name="正方形/長方形 65">
            <a:extLst>
              <a:ext uri="{FF2B5EF4-FFF2-40B4-BE49-F238E27FC236}">
                <a16:creationId xmlns:a16="http://schemas.microsoft.com/office/drawing/2014/main" id="{95B6C15F-3088-67BA-4A3C-1978BF85086A}"/>
              </a:ext>
            </a:extLst>
          </p:cNvPr>
          <p:cNvSpPr/>
          <p:nvPr/>
        </p:nvSpPr>
        <p:spPr>
          <a:xfrm>
            <a:off x="462456" y="4857096"/>
            <a:ext cx="83031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FR-07</a:t>
            </a:r>
            <a:endParaRPr kumimoji="1" lang="ja-JP" altLang="en-US" sz="1200">
              <a:latin typeface="Meiryo UI" panose="020B0604030504040204" pitchFamily="34" charset="-128"/>
              <a:ea typeface="Meiryo UI" panose="020B0604030504040204" pitchFamily="34" charset="-128"/>
            </a:endParaRPr>
          </a:p>
        </p:txBody>
      </p:sp>
      <p:sp>
        <p:nvSpPr>
          <p:cNvPr id="67" name="正方形/長方形 66">
            <a:extLst>
              <a:ext uri="{FF2B5EF4-FFF2-40B4-BE49-F238E27FC236}">
                <a16:creationId xmlns:a16="http://schemas.microsoft.com/office/drawing/2014/main" id="{ACACBAD4-B033-FC4F-2D77-BB86A6F2698C}"/>
              </a:ext>
            </a:extLst>
          </p:cNvPr>
          <p:cNvSpPr/>
          <p:nvPr/>
        </p:nvSpPr>
        <p:spPr>
          <a:xfrm>
            <a:off x="1292771" y="4857096"/>
            <a:ext cx="1576553"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問合せ受付の通知</a:t>
            </a:r>
          </a:p>
        </p:txBody>
      </p:sp>
      <p:sp>
        <p:nvSpPr>
          <p:cNvPr id="68" name="正方形/長方形 67">
            <a:extLst>
              <a:ext uri="{FF2B5EF4-FFF2-40B4-BE49-F238E27FC236}">
                <a16:creationId xmlns:a16="http://schemas.microsoft.com/office/drawing/2014/main" id="{86ABDE9D-ECB5-22C4-CBFA-9FBFCA55EAAB}"/>
              </a:ext>
            </a:extLst>
          </p:cNvPr>
          <p:cNvSpPr/>
          <p:nvPr/>
        </p:nvSpPr>
        <p:spPr>
          <a:xfrm>
            <a:off x="2869325" y="4857096"/>
            <a:ext cx="508700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システムは受付完了をお客様に通知する機能を有する</a:t>
            </a:r>
            <a:endParaRPr kumimoji="1" lang="en-US" altLang="ja-JP" sz="1200" dirty="0">
              <a:latin typeface="Meiryo UI" panose="020B0604030504040204" pitchFamily="34" charset="-128"/>
              <a:ea typeface="Meiryo UI" panose="020B0604030504040204" pitchFamily="34" charset="-128"/>
            </a:endParaRPr>
          </a:p>
        </p:txBody>
      </p:sp>
      <p:sp>
        <p:nvSpPr>
          <p:cNvPr id="70" name="正方形/長方形 69">
            <a:extLst>
              <a:ext uri="{FF2B5EF4-FFF2-40B4-BE49-F238E27FC236}">
                <a16:creationId xmlns:a16="http://schemas.microsoft.com/office/drawing/2014/main" id="{3B8E8624-4051-E361-A69E-C0F69FD0C3F4}"/>
              </a:ext>
            </a:extLst>
          </p:cNvPr>
          <p:cNvSpPr/>
          <p:nvPr/>
        </p:nvSpPr>
        <p:spPr>
          <a:xfrm>
            <a:off x="10289628" y="4857096"/>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アラート機能による通知を想定</a:t>
            </a:r>
          </a:p>
        </p:txBody>
      </p:sp>
      <p:sp>
        <p:nvSpPr>
          <p:cNvPr id="83" name="正方形/長方形 82">
            <a:extLst>
              <a:ext uri="{FF2B5EF4-FFF2-40B4-BE49-F238E27FC236}">
                <a16:creationId xmlns:a16="http://schemas.microsoft.com/office/drawing/2014/main" id="{0E4D8FB7-02AB-CF92-1FB0-1E165150038C}"/>
              </a:ext>
            </a:extLst>
          </p:cNvPr>
          <p:cNvSpPr/>
          <p:nvPr/>
        </p:nvSpPr>
        <p:spPr>
          <a:xfrm>
            <a:off x="7956331" y="1325939"/>
            <a:ext cx="966952" cy="504451"/>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200">
                <a:latin typeface="Meiryo UI" panose="020B0604030504040204" pitchFamily="34" charset="-128"/>
                <a:ea typeface="Meiryo UI" panose="020B0604030504040204" pitchFamily="34" charset="-128"/>
              </a:rPr>
              <a:t>分類</a:t>
            </a:r>
            <a:endParaRPr kumimoji="1" lang="ja-JP" altLang="en-US" sz="1200">
              <a:latin typeface="Meiryo UI" panose="020B0604030504040204" pitchFamily="34" charset="-128"/>
              <a:ea typeface="Meiryo UI" panose="020B0604030504040204" pitchFamily="34" charset="-128"/>
            </a:endParaRPr>
          </a:p>
        </p:txBody>
      </p:sp>
      <p:sp>
        <p:nvSpPr>
          <p:cNvPr id="84" name="正方形/長方形 83">
            <a:extLst>
              <a:ext uri="{FF2B5EF4-FFF2-40B4-BE49-F238E27FC236}">
                <a16:creationId xmlns:a16="http://schemas.microsoft.com/office/drawing/2014/main" id="{03BC6D65-8B72-E79D-A405-D66466425A8C}"/>
              </a:ext>
            </a:extLst>
          </p:cNvPr>
          <p:cNvSpPr/>
          <p:nvPr/>
        </p:nvSpPr>
        <p:spPr>
          <a:xfrm>
            <a:off x="7956331" y="1830390"/>
            <a:ext cx="966952"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UI</a:t>
            </a:r>
            <a:endParaRPr kumimoji="1" lang="ja-JP" altLang="en-US" sz="1200">
              <a:latin typeface="Meiryo UI" panose="020B0604030504040204" pitchFamily="34" charset="-128"/>
              <a:ea typeface="Meiryo UI" panose="020B0604030504040204" pitchFamily="34" charset="-128"/>
            </a:endParaRPr>
          </a:p>
        </p:txBody>
      </p:sp>
      <p:sp>
        <p:nvSpPr>
          <p:cNvPr id="85" name="正方形/長方形 84">
            <a:extLst>
              <a:ext uri="{FF2B5EF4-FFF2-40B4-BE49-F238E27FC236}">
                <a16:creationId xmlns:a16="http://schemas.microsoft.com/office/drawing/2014/main" id="{F49B8CA9-0166-4C5A-C8CF-92FE3DF60672}"/>
              </a:ext>
            </a:extLst>
          </p:cNvPr>
          <p:cNvSpPr/>
          <p:nvPr/>
        </p:nvSpPr>
        <p:spPr>
          <a:xfrm>
            <a:off x="7956331" y="2334841"/>
            <a:ext cx="966952"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UI</a:t>
            </a:r>
            <a:endParaRPr kumimoji="1" lang="ja-JP" altLang="en-US" sz="1200">
              <a:latin typeface="Meiryo UI" panose="020B0604030504040204" pitchFamily="34" charset="-128"/>
              <a:ea typeface="Meiryo UI" panose="020B0604030504040204" pitchFamily="34" charset="-128"/>
            </a:endParaRPr>
          </a:p>
        </p:txBody>
      </p:sp>
      <p:sp>
        <p:nvSpPr>
          <p:cNvPr id="86" name="正方形/長方形 85">
            <a:extLst>
              <a:ext uri="{FF2B5EF4-FFF2-40B4-BE49-F238E27FC236}">
                <a16:creationId xmlns:a16="http://schemas.microsoft.com/office/drawing/2014/main" id="{D2A8468D-2356-352B-1F42-9E879459C94E}"/>
              </a:ext>
            </a:extLst>
          </p:cNvPr>
          <p:cNvSpPr/>
          <p:nvPr/>
        </p:nvSpPr>
        <p:spPr>
          <a:xfrm>
            <a:off x="7956331" y="2839292"/>
            <a:ext cx="966952"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フロント機能</a:t>
            </a:r>
          </a:p>
        </p:txBody>
      </p:sp>
      <p:sp>
        <p:nvSpPr>
          <p:cNvPr id="87" name="正方形/長方形 86">
            <a:extLst>
              <a:ext uri="{FF2B5EF4-FFF2-40B4-BE49-F238E27FC236}">
                <a16:creationId xmlns:a16="http://schemas.microsoft.com/office/drawing/2014/main" id="{8755BD0A-28F9-37F0-D566-55E8689005E0}"/>
              </a:ext>
            </a:extLst>
          </p:cNvPr>
          <p:cNvSpPr/>
          <p:nvPr/>
        </p:nvSpPr>
        <p:spPr>
          <a:xfrm>
            <a:off x="7956331" y="3343743"/>
            <a:ext cx="966952"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フロント機能</a:t>
            </a:r>
          </a:p>
        </p:txBody>
      </p:sp>
      <p:sp>
        <p:nvSpPr>
          <p:cNvPr id="88" name="正方形/長方形 87">
            <a:extLst>
              <a:ext uri="{FF2B5EF4-FFF2-40B4-BE49-F238E27FC236}">
                <a16:creationId xmlns:a16="http://schemas.microsoft.com/office/drawing/2014/main" id="{D9D4103D-491A-8245-0B43-2CC8E6700169}"/>
              </a:ext>
            </a:extLst>
          </p:cNvPr>
          <p:cNvSpPr/>
          <p:nvPr/>
        </p:nvSpPr>
        <p:spPr>
          <a:xfrm>
            <a:off x="7956331" y="3848194"/>
            <a:ext cx="966952"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バック機能</a:t>
            </a:r>
          </a:p>
        </p:txBody>
      </p:sp>
      <p:sp>
        <p:nvSpPr>
          <p:cNvPr id="89" name="正方形/長方形 88">
            <a:extLst>
              <a:ext uri="{FF2B5EF4-FFF2-40B4-BE49-F238E27FC236}">
                <a16:creationId xmlns:a16="http://schemas.microsoft.com/office/drawing/2014/main" id="{78A84242-C73E-0F3B-52D3-571FB61194AB}"/>
              </a:ext>
            </a:extLst>
          </p:cNvPr>
          <p:cNvSpPr/>
          <p:nvPr/>
        </p:nvSpPr>
        <p:spPr>
          <a:xfrm>
            <a:off x="7956331" y="4352645"/>
            <a:ext cx="966952"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バック機能</a:t>
            </a:r>
          </a:p>
        </p:txBody>
      </p:sp>
      <p:sp>
        <p:nvSpPr>
          <p:cNvPr id="90" name="正方形/長方形 89">
            <a:extLst>
              <a:ext uri="{FF2B5EF4-FFF2-40B4-BE49-F238E27FC236}">
                <a16:creationId xmlns:a16="http://schemas.microsoft.com/office/drawing/2014/main" id="{18532655-6270-5B44-A721-B9CCD85B432A}"/>
              </a:ext>
            </a:extLst>
          </p:cNvPr>
          <p:cNvSpPr/>
          <p:nvPr/>
        </p:nvSpPr>
        <p:spPr>
          <a:xfrm>
            <a:off x="7956331" y="4857096"/>
            <a:ext cx="966952"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UI</a:t>
            </a:r>
          </a:p>
          <a:p>
            <a:pPr algn="ctr"/>
            <a:r>
              <a:rPr kumimoji="1" lang="ja-JP" altLang="en-US" sz="1200">
                <a:latin typeface="Meiryo UI" panose="020B0604030504040204" pitchFamily="34" charset="-128"/>
                <a:ea typeface="Meiryo UI" panose="020B0604030504040204" pitchFamily="34" charset="-128"/>
              </a:rPr>
              <a:t>バック機能</a:t>
            </a:r>
          </a:p>
        </p:txBody>
      </p:sp>
      <p:sp>
        <p:nvSpPr>
          <p:cNvPr id="91" name="テキスト ボックス 90">
            <a:extLst>
              <a:ext uri="{FF2B5EF4-FFF2-40B4-BE49-F238E27FC236}">
                <a16:creationId xmlns:a16="http://schemas.microsoft.com/office/drawing/2014/main" id="{B99B0ABA-E40F-3F53-9AF7-0ABF351E18F4}"/>
              </a:ext>
            </a:extLst>
          </p:cNvPr>
          <p:cNvSpPr txBox="1"/>
          <p:nvPr/>
        </p:nvSpPr>
        <p:spPr>
          <a:xfrm>
            <a:off x="462456" y="5919293"/>
            <a:ext cx="4886274" cy="461665"/>
          </a:xfrm>
          <a:prstGeom prst="rect">
            <a:avLst/>
          </a:prstGeom>
          <a:noFill/>
        </p:spPr>
        <p:txBody>
          <a:bodyPr wrap="none" rtlCol="0">
            <a:spAutoFit/>
          </a:bodyPr>
          <a:lstStyle/>
          <a:p>
            <a:r>
              <a:rPr kumimoji="1" lang="ja-JP" altLang="en-US" sz="1200">
                <a:latin typeface="Meiryo UI" panose="020B0604030504040204" pitchFamily="34" charset="-128"/>
                <a:ea typeface="Meiryo UI" panose="020B0604030504040204" pitchFamily="34" charset="-128"/>
              </a:rPr>
              <a:t>・上記の機能にて業務要件を満たせると想定。</a:t>
            </a:r>
            <a:endParaRPr kumimoji="1" lang="en-US" altLang="ja-JP" sz="1200" dirty="0">
              <a:latin typeface="Meiryo UI" panose="020B0604030504040204" pitchFamily="34" charset="-128"/>
              <a:ea typeface="Meiryo UI" panose="020B0604030504040204" pitchFamily="34" charset="-128"/>
            </a:endParaRPr>
          </a:p>
          <a:p>
            <a:r>
              <a:rPr kumimoji="1" lang="ja-JP" altLang="en-US" sz="1200">
                <a:latin typeface="Meiryo UI" panose="020B0604030504040204" pitchFamily="34" charset="-128"/>
                <a:ea typeface="Meiryo UI" panose="020B0604030504040204" pitchFamily="34" charset="-128"/>
              </a:rPr>
              <a:t>・各ページのデザイン、テキスト、検証ルール等は設計フェーズにて決定予定。</a:t>
            </a:r>
          </a:p>
        </p:txBody>
      </p:sp>
      <p:sp>
        <p:nvSpPr>
          <p:cNvPr id="13" name="正方形/長方形 12">
            <a:extLst>
              <a:ext uri="{FF2B5EF4-FFF2-40B4-BE49-F238E27FC236}">
                <a16:creationId xmlns:a16="http://schemas.microsoft.com/office/drawing/2014/main" id="{7FE83440-CC4F-DC88-6B65-9A0EC7B0BACB}"/>
              </a:ext>
            </a:extLst>
          </p:cNvPr>
          <p:cNvSpPr/>
          <p:nvPr/>
        </p:nvSpPr>
        <p:spPr>
          <a:xfrm>
            <a:off x="8923283" y="1325939"/>
            <a:ext cx="1366345" cy="504451"/>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200">
                <a:latin typeface="Meiryo UI" panose="020B0604030504040204" pitchFamily="34" charset="-128"/>
                <a:ea typeface="Meiryo UI" panose="020B0604030504040204" pitchFamily="34" charset="-128"/>
              </a:rPr>
              <a:t>対応業務要件</a:t>
            </a:r>
            <a:endParaRPr kumimoji="1" lang="ja-JP" altLang="en-US" sz="1200">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5220CB3B-31BA-20BD-02B7-B099F0E9E77A}"/>
              </a:ext>
            </a:extLst>
          </p:cNvPr>
          <p:cNvSpPr/>
          <p:nvPr/>
        </p:nvSpPr>
        <p:spPr>
          <a:xfrm>
            <a:off x="8923283" y="1830390"/>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BR-01</a:t>
            </a:r>
            <a:endParaRPr kumimoji="1" lang="ja-JP" altLang="en-US" sz="1200">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2B45C001-A1EF-587D-CB8A-3E282B3BA72E}"/>
              </a:ext>
            </a:extLst>
          </p:cNvPr>
          <p:cNvSpPr/>
          <p:nvPr/>
        </p:nvSpPr>
        <p:spPr>
          <a:xfrm>
            <a:off x="8923283" y="2334841"/>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BR-01</a:t>
            </a:r>
            <a:endParaRPr lang="ja-JP" altLang="en-US" sz="1200">
              <a:latin typeface="Meiryo UI" panose="020B0604030504040204" pitchFamily="34" charset="-128"/>
              <a:ea typeface="Meiryo UI" panose="020B0604030504040204" pitchFamily="34" charset="-128"/>
            </a:endParaRPr>
          </a:p>
        </p:txBody>
      </p:sp>
      <p:sp>
        <p:nvSpPr>
          <p:cNvPr id="16" name="正方形/長方形 15">
            <a:extLst>
              <a:ext uri="{FF2B5EF4-FFF2-40B4-BE49-F238E27FC236}">
                <a16:creationId xmlns:a16="http://schemas.microsoft.com/office/drawing/2014/main" id="{8EBEB4EC-654A-97E8-FEE0-5F24320C085B}"/>
              </a:ext>
            </a:extLst>
          </p:cNvPr>
          <p:cNvSpPr/>
          <p:nvPr/>
        </p:nvSpPr>
        <p:spPr>
          <a:xfrm>
            <a:off x="8923283" y="2839292"/>
            <a:ext cx="1366345" cy="504451"/>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BR-01</a:t>
            </a:r>
            <a:endParaRPr lang="ja-JP" altLang="en-US" sz="120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9B3830C3-ED9F-702A-DEE0-07D794400DB2}"/>
              </a:ext>
            </a:extLst>
          </p:cNvPr>
          <p:cNvSpPr/>
          <p:nvPr/>
        </p:nvSpPr>
        <p:spPr>
          <a:xfrm>
            <a:off x="8923283" y="3343743"/>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BR-02</a:t>
            </a:r>
            <a:endParaRPr lang="ja-JP" altLang="en-US" sz="120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AFA54853-4814-9144-5A57-EF3E917B56AA}"/>
              </a:ext>
            </a:extLst>
          </p:cNvPr>
          <p:cNvSpPr/>
          <p:nvPr/>
        </p:nvSpPr>
        <p:spPr>
          <a:xfrm>
            <a:off x="8923283" y="3848194"/>
            <a:ext cx="1366345" cy="504451"/>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BR-02</a:t>
            </a:r>
            <a:endParaRPr lang="ja-JP" altLang="en-US" sz="1200">
              <a:latin typeface="Meiryo UI" panose="020B0604030504040204" pitchFamily="34" charset="-128"/>
              <a:ea typeface="Meiryo UI" panose="020B0604030504040204" pitchFamily="34" charset="-128"/>
            </a:endParaRPr>
          </a:p>
        </p:txBody>
      </p:sp>
      <p:sp>
        <p:nvSpPr>
          <p:cNvPr id="19" name="正方形/長方形 18">
            <a:extLst>
              <a:ext uri="{FF2B5EF4-FFF2-40B4-BE49-F238E27FC236}">
                <a16:creationId xmlns:a16="http://schemas.microsoft.com/office/drawing/2014/main" id="{30A4E09C-F43E-4C41-A6D4-55C37BD8AFB6}"/>
              </a:ext>
            </a:extLst>
          </p:cNvPr>
          <p:cNvSpPr/>
          <p:nvPr/>
        </p:nvSpPr>
        <p:spPr>
          <a:xfrm>
            <a:off x="8923283" y="4352645"/>
            <a:ext cx="1366345" cy="504451"/>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BR-02</a:t>
            </a:r>
            <a:endParaRPr lang="ja-JP" altLang="en-US" sz="1200">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CA02BC04-55A1-097D-BE8A-6BD6C74F903B}"/>
              </a:ext>
            </a:extLst>
          </p:cNvPr>
          <p:cNvSpPr/>
          <p:nvPr/>
        </p:nvSpPr>
        <p:spPr>
          <a:xfrm>
            <a:off x="8923283" y="4857096"/>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BR-01</a:t>
            </a:r>
            <a:endParaRPr lang="ja-JP" altLang="en-US" sz="1200">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9BDC891C-26F0-9A9A-ED85-A39C0E502D10}"/>
              </a:ext>
            </a:extLst>
          </p:cNvPr>
          <p:cNvSpPr/>
          <p:nvPr/>
        </p:nvSpPr>
        <p:spPr>
          <a:xfrm>
            <a:off x="462456" y="5356535"/>
            <a:ext cx="83031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FR-08</a:t>
            </a:r>
            <a:endParaRPr kumimoji="1" lang="ja-JP" altLang="en-US" sz="1200">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3A41107F-9479-25BA-F243-5EB9F62D3628}"/>
              </a:ext>
            </a:extLst>
          </p:cNvPr>
          <p:cNvSpPr/>
          <p:nvPr/>
        </p:nvSpPr>
        <p:spPr>
          <a:xfrm>
            <a:off x="1292771" y="5356535"/>
            <a:ext cx="1576553"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問合せ内容の閲覧</a:t>
            </a:r>
          </a:p>
        </p:txBody>
      </p:sp>
      <p:sp>
        <p:nvSpPr>
          <p:cNvPr id="23" name="正方形/長方形 22">
            <a:extLst>
              <a:ext uri="{FF2B5EF4-FFF2-40B4-BE49-F238E27FC236}">
                <a16:creationId xmlns:a16="http://schemas.microsoft.com/office/drawing/2014/main" id="{5310BA90-34E8-48CD-4E90-AC84DDC6539C}"/>
              </a:ext>
            </a:extLst>
          </p:cNvPr>
          <p:cNvSpPr/>
          <p:nvPr/>
        </p:nvSpPr>
        <p:spPr>
          <a:xfrm>
            <a:off x="2869325" y="5356535"/>
            <a:ext cx="5087006"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システム（</a:t>
            </a:r>
            <a:r>
              <a:rPr kumimoji="1" lang="en-US" altLang="ja-JP" sz="1200" dirty="0">
                <a:latin typeface="Meiryo UI" panose="020B0604030504040204" pitchFamily="34" charset="-128"/>
                <a:ea typeface="Meiryo UI" panose="020B0604030504040204" pitchFamily="34" charset="-128"/>
              </a:rPr>
              <a:t>Google</a:t>
            </a:r>
            <a:r>
              <a:rPr lang="ja-JP" altLang="en-US" sz="1200">
                <a:latin typeface="Meiryo UI" panose="020B0604030504040204" pitchFamily="34" charset="-128"/>
                <a:ea typeface="Meiryo UI" panose="020B0604030504040204" pitchFamily="34" charset="-128"/>
              </a:rPr>
              <a:t>スプレッドシート）</a:t>
            </a:r>
            <a:r>
              <a:rPr kumimoji="1" lang="ja-JP" altLang="en-US" sz="1200">
                <a:latin typeface="Meiryo UI" panose="020B0604030504040204" pitchFamily="34" charset="-128"/>
                <a:ea typeface="Meiryo UI" panose="020B0604030504040204" pitchFamily="34" charset="-128"/>
              </a:rPr>
              <a:t>に保存された問合せ記録は権限を有するものならいつでも閲覧・編集が可能</a:t>
            </a:r>
            <a:endParaRPr kumimoji="1" lang="en-US" altLang="ja-JP" sz="1200" dirty="0">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75426F64-EB02-18D4-9DAD-42FCBA47BA66}"/>
              </a:ext>
            </a:extLst>
          </p:cNvPr>
          <p:cNvSpPr/>
          <p:nvPr/>
        </p:nvSpPr>
        <p:spPr>
          <a:xfrm>
            <a:off x="10289628" y="5356535"/>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200">
                <a:latin typeface="Meiryo UI" panose="020B0604030504040204" pitchFamily="34" charset="-128"/>
                <a:ea typeface="Meiryo UI" panose="020B0604030504040204" pitchFamily="34" charset="-128"/>
              </a:rPr>
              <a:t>担当者、部門長による閲覧・編集</a:t>
            </a:r>
          </a:p>
        </p:txBody>
      </p:sp>
      <p:sp>
        <p:nvSpPr>
          <p:cNvPr id="25" name="正方形/長方形 24">
            <a:extLst>
              <a:ext uri="{FF2B5EF4-FFF2-40B4-BE49-F238E27FC236}">
                <a16:creationId xmlns:a16="http://schemas.microsoft.com/office/drawing/2014/main" id="{F1267851-C310-A3C6-44FD-7BF5C5601BC3}"/>
              </a:ext>
            </a:extLst>
          </p:cNvPr>
          <p:cNvSpPr/>
          <p:nvPr/>
        </p:nvSpPr>
        <p:spPr>
          <a:xfrm>
            <a:off x="7956331" y="5356535"/>
            <a:ext cx="966952"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UI</a:t>
            </a:r>
          </a:p>
          <a:p>
            <a:pPr algn="ctr"/>
            <a:r>
              <a:rPr kumimoji="1" lang="ja-JP" altLang="en-US" sz="1200">
                <a:latin typeface="Meiryo UI" panose="020B0604030504040204" pitchFamily="34" charset="-128"/>
                <a:ea typeface="Meiryo UI" panose="020B0604030504040204" pitchFamily="34" charset="-128"/>
              </a:rPr>
              <a:t>バック機能</a:t>
            </a:r>
          </a:p>
        </p:txBody>
      </p:sp>
      <p:sp>
        <p:nvSpPr>
          <p:cNvPr id="26" name="正方形/長方形 25">
            <a:extLst>
              <a:ext uri="{FF2B5EF4-FFF2-40B4-BE49-F238E27FC236}">
                <a16:creationId xmlns:a16="http://schemas.microsoft.com/office/drawing/2014/main" id="{3FD71BBF-7080-21DE-7295-777EA8277757}"/>
              </a:ext>
            </a:extLst>
          </p:cNvPr>
          <p:cNvSpPr/>
          <p:nvPr/>
        </p:nvSpPr>
        <p:spPr>
          <a:xfrm>
            <a:off x="8923283" y="5356535"/>
            <a:ext cx="1366345" cy="50445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200" dirty="0">
                <a:latin typeface="Meiryo UI" panose="020B0604030504040204" pitchFamily="34" charset="-128"/>
                <a:ea typeface="Meiryo UI" panose="020B0604030504040204" pitchFamily="34" charset="-128"/>
              </a:rPr>
              <a:t>BR-03-06</a:t>
            </a:r>
          </a:p>
        </p:txBody>
      </p:sp>
    </p:spTree>
    <p:extLst>
      <p:ext uri="{BB962C8B-B14F-4D97-AF65-F5344CB8AC3E}">
        <p14:creationId xmlns:p14="http://schemas.microsoft.com/office/powerpoint/2010/main" val="663279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B38513-779B-7D96-D170-840972B2384E}"/>
              </a:ext>
            </a:extLst>
          </p:cNvPr>
          <p:cNvSpPr>
            <a:spLocks noGrp="1"/>
          </p:cNvSpPr>
          <p:nvPr>
            <p:ph type="title"/>
          </p:nvPr>
        </p:nvSpPr>
        <p:spPr/>
        <p:txBody>
          <a:bodyPr>
            <a:normAutofit fontScale="90000"/>
          </a:bodyPr>
          <a:lstStyle/>
          <a:p>
            <a:r>
              <a:rPr kumimoji="1" lang="ja-JP" altLang="en-US"/>
              <a:t>補足：機能と</a:t>
            </a:r>
            <a:r>
              <a:rPr lang="ja-JP" altLang="en-US"/>
              <a:t>配置</a:t>
            </a:r>
            <a:r>
              <a:rPr kumimoji="1" lang="ja-JP" altLang="en-US"/>
              <a:t>イメージ</a:t>
            </a:r>
          </a:p>
        </p:txBody>
      </p:sp>
      <p:sp>
        <p:nvSpPr>
          <p:cNvPr id="4" name="フッター プレースホルダー 3">
            <a:extLst>
              <a:ext uri="{FF2B5EF4-FFF2-40B4-BE49-F238E27FC236}">
                <a16:creationId xmlns:a16="http://schemas.microsoft.com/office/drawing/2014/main" id="{15AAFFBE-B6C6-6C87-170B-5DE449A45886}"/>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B1AC5BDD-B45F-1534-4A02-76F458A714D8}"/>
              </a:ext>
            </a:extLst>
          </p:cNvPr>
          <p:cNvSpPr>
            <a:spLocks noGrp="1"/>
          </p:cNvSpPr>
          <p:nvPr>
            <p:ph type="sldNum" sz="quarter" idx="12"/>
          </p:nvPr>
        </p:nvSpPr>
        <p:spPr/>
        <p:txBody>
          <a:bodyPr/>
          <a:lstStyle/>
          <a:p>
            <a:fld id="{462052E6-07CA-9B46-B866-FDE18BF74505}" type="slidenum">
              <a:rPr lang="ja-JP" altLang="en-US" smtClean="0"/>
              <a:pPr/>
              <a:t>7</a:t>
            </a:fld>
            <a:endParaRPr lang="ja-JP" altLang="en-US"/>
          </a:p>
        </p:txBody>
      </p:sp>
      <p:sp>
        <p:nvSpPr>
          <p:cNvPr id="6" name="正方形/長方形 5">
            <a:extLst>
              <a:ext uri="{FF2B5EF4-FFF2-40B4-BE49-F238E27FC236}">
                <a16:creationId xmlns:a16="http://schemas.microsoft.com/office/drawing/2014/main" id="{AC97C092-B5B4-A126-ABFC-F24C84D864A9}"/>
              </a:ext>
            </a:extLst>
          </p:cNvPr>
          <p:cNvSpPr/>
          <p:nvPr/>
        </p:nvSpPr>
        <p:spPr>
          <a:xfrm>
            <a:off x="690634" y="2512795"/>
            <a:ext cx="2354317" cy="2823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900">
              <a:latin typeface="Meiryo UI" panose="020B0604030504040204" pitchFamily="34" charset="-128"/>
              <a:ea typeface="Meiryo UI" panose="020B0604030504040204" pitchFamily="34" charset="-128"/>
            </a:endParaRPr>
          </a:p>
        </p:txBody>
      </p:sp>
      <p:sp>
        <p:nvSpPr>
          <p:cNvPr id="7" name="正方形/長方形 6">
            <a:extLst>
              <a:ext uri="{FF2B5EF4-FFF2-40B4-BE49-F238E27FC236}">
                <a16:creationId xmlns:a16="http://schemas.microsoft.com/office/drawing/2014/main" id="{69702116-7BAB-FC98-E96D-756C84F714B2}"/>
              </a:ext>
            </a:extLst>
          </p:cNvPr>
          <p:cNvSpPr/>
          <p:nvPr/>
        </p:nvSpPr>
        <p:spPr>
          <a:xfrm>
            <a:off x="690635" y="2186976"/>
            <a:ext cx="1177158" cy="32582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900" dirty="0">
                <a:latin typeface="Meiryo UI" panose="020B0604030504040204" pitchFamily="34" charset="-128"/>
                <a:ea typeface="Meiryo UI" panose="020B0604030504040204" pitchFamily="34" charset="-128"/>
              </a:rPr>
              <a:t>TOP</a:t>
            </a:r>
            <a:endParaRPr kumimoji="1" lang="ja-JP" altLang="en-US" sz="900">
              <a:latin typeface="Meiryo UI" panose="020B0604030504040204" pitchFamily="34" charset="-128"/>
              <a:ea typeface="Meiryo UI" panose="020B0604030504040204" pitchFamily="34" charset="-128"/>
            </a:endParaRPr>
          </a:p>
        </p:txBody>
      </p:sp>
      <p:sp>
        <p:nvSpPr>
          <p:cNvPr id="8" name="正方形/長方形 7">
            <a:extLst>
              <a:ext uri="{FF2B5EF4-FFF2-40B4-BE49-F238E27FC236}">
                <a16:creationId xmlns:a16="http://schemas.microsoft.com/office/drawing/2014/main" id="{DD66D358-8167-907F-44B9-04218DC65B56}"/>
              </a:ext>
            </a:extLst>
          </p:cNvPr>
          <p:cNvSpPr/>
          <p:nvPr/>
        </p:nvSpPr>
        <p:spPr>
          <a:xfrm>
            <a:off x="1867793" y="2186976"/>
            <a:ext cx="1177158" cy="32582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900" dirty="0">
                <a:latin typeface="Meiryo UI" panose="020B0604030504040204" pitchFamily="34" charset="-128"/>
                <a:ea typeface="Meiryo UI" panose="020B0604030504040204" pitchFamily="34" charset="-128"/>
              </a:rPr>
              <a:t>CONTACT</a:t>
            </a:r>
            <a:endParaRPr kumimoji="1" lang="ja-JP" altLang="en-US" sz="900">
              <a:latin typeface="Meiryo UI" panose="020B0604030504040204" pitchFamily="34" charset="-128"/>
              <a:ea typeface="Meiryo UI" panose="020B0604030504040204" pitchFamily="34" charset="-128"/>
            </a:endParaRPr>
          </a:p>
        </p:txBody>
      </p:sp>
      <p:sp>
        <p:nvSpPr>
          <p:cNvPr id="9" name="正方形/長方形 8">
            <a:extLst>
              <a:ext uri="{FF2B5EF4-FFF2-40B4-BE49-F238E27FC236}">
                <a16:creationId xmlns:a16="http://schemas.microsoft.com/office/drawing/2014/main" id="{1B6522A6-0487-9FD2-73EF-295431ED1AD2}"/>
              </a:ext>
            </a:extLst>
          </p:cNvPr>
          <p:cNvSpPr/>
          <p:nvPr/>
        </p:nvSpPr>
        <p:spPr>
          <a:xfrm>
            <a:off x="690634" y="2512796"/>
            <a:ext cx="2354317" cy="809298"/>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900" dirty="0">
                <a:latin typeface="Meiryo UI" panose="020B0604030504040204" pitchFamily="34" charset="-128"/>
                <a:ea typeface="Meiryo UI" panose="020B0604030504040204" pitchFamily="34" charset="-128"/>
              </a:rPr>
              <a:t>Image</a:t>
            </a:r>
            <a:r>
              <a:rPr kumimoji="1" lang="ja-JP" altLang="en-US" sz="900">
                <a:latin typeface="Meiryo UI" panose="020B0604030504040204" pitchFamily="34" charset="-128"/>
                <a:ea typeface="Meiryo UI" panose="020B0604030504040204" pitchFamily="34" charset="-128"/>
              </a:rPr>
              <a:t>画像</a:t>
            </a:r>
          </a:p>
        </p:txBody>
      </p:sp>
      <p:sp>
        <p:nvSpPr>
          <p:cNvPr id="10" name="正方形/長方形 9">
            <a:extLst>
              <a:ext uri="{FF2B5EF4-FFF2-40B4-BE49-F238E27FC236}">
                <a16:creationId xmlns:a16="http://schemas.microsoft.com/office/drawing/2014/main" id="{1434ED2F-F35E-365B-C7D7-8F7F539F9140}"/>
              </a:ext>
            </a:extLst>
          </p:cNvPr>
          <p:cNvSpPr/>
          <p:nvPr/>
        </p:nvSpPr>
        <p:spPr>
          <a:xfrm>
            <a:off x="690633" y="5335835"/>
            <a:ext cx="2354317" cy="304798"/>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900" dirty="0">
                <a:latin typeface="Meiryo UI" panose="020B0604030504040204" pitchFamily="34" charset="-128"/>
                <a:ea typeface="Meiryo UI" panose="020B0604030504040204" pitchFamily="34" charset="-128"/>
              </a:rPr>
              <a:t>footer</a:t>
            </a:r>
            <a:endParaRPr kumimoji="1" lang="ja-JP" altLang="en-US" sz="900">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60218732-54EE-7D41-A3D8-AF801E08FB19}"/>
              </a:ext>
            </a:extLst>
          </p:cNvPr>
          <p:cNvSpPr/>
          <p:nvPr/>
        </p:nvSpPr>
        <p:spPr>
          <a:xfrm>
            <a:off x="1011199" y="3682824"/>
            <a:ext cx="1713186" cy="110959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900">
                <a:latin typeface="Meiryo UI" panose="020B0604030504040204" pitchFamily="34" charset="-128"/>
                <a:ea typeface="Meiryo UI" panose="020B0604030504040204" pitchFamily="34" charset="-128"/>
              </a:rPr>
              <a:t>会社說明文</a:t>
            </a:r>
          </a:p>
        </p:txBody>
      </p:sp>
      <p:sp>
        <p:nvSpPr>
          <p:cNvPr id="13" name="正方形/長方形 12">
            <a:extLst>
              <a:ext uri="{FF2B5EF4-FFF2-40B4-BE49-F238E27FC236}">
                <a16:creationId xmlns:a16="http://schemas.microsoft.com/office/drawing/2014/main" id="{9B2827DD-6206-EAD4-CAE2-DDCC390C0878}"/>
              </a:ext>
            </a:extLst>
          </p:cNvPr>
          <p:cNvSpPr/>
          <p:nvPr/>
        </p:nvSpPr>
        <p:spPr>
          <a:xfrm>
            <a:off x="3538938" y="2512795"/>
            <a:ext cx="2354317" cy="282304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900">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5CF7404F-3B0F-70F9-B683-D2116BD51E83}"/>
              </a:ext>
            </a:extLst>
          </p:cNvPr>
          <p:cNvSpPr/>
          <p:nvPr/>
        </p:nvSpPr>
        <p:spPr>
          <a:xfrm>
            <a:off x="3538939" y="2186976"/>
            <a:ext cx="1177158" cy="32582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900" dirty="0">
                <a:latin typeface="Meiryo UI" panose="020B0604030504040204" pitchFamily="34" charset="-128"/>
                <a:ea typeface="Meiryo UI" panose="020B0604030504040204" pitchFamily="34" charset="-128"/>
              </a:rPr>
              <a:t>TOP</a:t>
            </a:r>
            <a:endParaRPr kumimoji="1" lang="ja-JP" altLang="en-US" sz="900">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AB474A44-AC3A-CF60-D28B-829E4969CFA5}"/>
              </a:ext>
            </a:extLst>
          </p:cNvPr>
          <p:cNvSpPr/>
          <p:nvPr/>
        </p:nvSpPr>
        <p:spPr>
          <a:xfrm>
            <a:off x="4716097" y="2186976"/>
            <a:ext cx="1177158" cy="32582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900" dirty="0">
                <a:latin typeface="Meiryo UI" panose="020B0604030504040204" pitchFamily="34" charset="-128"/>
                <a:ea typeface="Meiryo UI" panose="020B0604030504040204" pitchFamily="34" charset="-128"/>
              </a:rPr>
              <a:t>CONTACT</a:t>
            </a:r>
            <a:endParaRPr kumimoji="1" lang="ja-JP" altLang="en-US" sz="90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4992CC69-B942-DBA1-5574-58D51AF6B69E}"/>
              </a:ext>
            </a:extLst>
          </p:cNvPr>
          <p:cNvSpPr/>
          <p:nvPr/>
        </p:nvSpPr>
        <p:spPr>
          <a:xfrm>
            <a:off x="3538937" y="5335835"/>
            <a:ext cx="2354317" cy="304798"/>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900" dirty="0">
                <a:latin typeface="Meiryo UI" panose="020B0604030504040204" pitchFamily="34" charset="-128"/>
                <a:ea typeface="Meiryo UI" panose="020B0604030504040204" pitchFamily="34" charset="-128"/>
              </a:rPr>
              <a:t>footer</a:t>
            </a:r>
            <a:endParaRPr kumimoji="1" lang="ja-JP" altLang="en-US" sz="90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A852EC4C-829C-9CD7-FF51-B45C98C36D97}"/>
              </a:ext>
            </a:extLst>
          </p:cNvPr>
          <p:cNvSpPr/>
          <p:nvPr/>
        </p:nvSpPr>
        <p:spPr>
          <a:xfrm>
            <a:off x="3806953" y="2867421"/>
            <a:ext cx="1713186" cy="2032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900">
              <a:latin typeface="Meiryo UI" panose="020B0604030504040204" pitchFamily="34" charset="-128"/>
              <a:ea typeface="Meiryo UI" panose="020B0604030504040204" pitchFamily="34" charset="-128"/>
            </a:endParaRPr>
          </a:p>
        </p:txBody>
      </p:sp>
      <p:sp>
        <p:nvSpPr>
          <p:cNvPr id="21" name="テキスト ボックス 20">
            <a:extLst>
              <a:ext uri="{FF2B5EF4-FFF2-40B4-BE49-F238E27FC236}">
                <a16:creationId xmlns:a16="http://schemas.microsoft.com/office/drawing/2014/main" id="{1A8BAF54-D657-342D-DD2B-17D17FFD7BA8}"/>
              </a:ext>
            </a:extLst>
          </p:cNvPr>
          <p:cNvSpPr txBox="1"/>
          <p:nvPr/>
        </p:nvSpPr>
        <p:spPr>
          <a:xfrm>
            <a:off x="3707104" y="2620050"/>
            <a:ext cx="510076" cy="230832"/>
          </a:xfrm>
          <a:prstGeom prst="rect">
            <a:avLst/>
          </a:prstGeom>
          <a:noFill/>
        </p:spPr>
        <p:txBody>
          <a:bodyPr wrap="none" rtlCol="0">
            <a:spAutoFit/>
          </a:bodyPr>
          <a:lstStyle/>
          <a:p>
            <a:r>
              <a:rPr lang="ja-JP" altLang="en-US" sz="900">
                <a:latin typeface="Meiryo UI" panose="020B0604030504040204" pitchFamily="34" charset="-128"/>
                <a:ea typeface="Meiryo UI" panose="020B0604030504040204" pitchFamily="34" charset="-128"/>
              </a:rPr>
              <a:t>お名前</a:t>
            </a:r>
            <a:endParaRPr kumimoji="1" lang="ja-JP" altLang="en-US" sz="900">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AA4EB603-41D0-CE28-9B90-12B4533ACECA}"/>
              </a:ext>
            </a:extLst>
          </p:cNvPr>
          <p:cNvSpPr/>
          <p:nvPr/>
        </p:nvSpPr>
        <p:spPr>
          <a:xfrm>
            <a:off x="3806953" y="3457454"/>
            <a:ext cx="1713186" cy="2032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900">
              <a:latin typeface="Meiryo UI" panose="020B0604030504040204" pitchFamily="34" charset="-128"/>
              <a:ea typeface="Meiryo UI" panose="020B0604030504040204" pitchFamily="34" charset="-128"/>
            </a:endParaRPr>
          </a:p>
        </p:txBody>
      </p:sp>
      <p:sp>
        <p:nvSpPr>
          <p:cNvPr id="23" name="テキスト ボックス 22">
            <a:extLst>
              <a:ext uri="{FF2B5EF4-FFF2-40B4-BE49-F238E27FC236}">
                <a16:creationId xmlns:a16="http://schemas.microsoft.com/office/drawing/2014/main" id="{D8A16E2B-EA93-66E0-023E-72A0AB0F2135}"/>
              </a:ext>
            </a:extLst>
          </p:cNvPr>
          <p:cNvSpPr txBox="1"/>
          <p:nvPr/>
        </p:nvSpPr>
        <p:spPr>
          <a:xfrm>
            <a:off x="3707104" y="3210083"/>
            <a:ext cx="490840" cy="230832"/>
          </a:xfrm>
          <a:prstGeom prst="rect">
            <a:avLst/>
          </a:prstGeom>
          <a:noFill/>
        </p:spPr>
        <p:txBody>
          <a:bodyPr wrap="none" rtlCol="0">
            <a:spAutoFit/>
          </a:bodyPr>
          <a:lstStyle/>
          <a:p>
            <a:r>
              <a:rPr lang="en-US" altLang="ja-JP" sz="900" dirty="0">
                <a:latin typeface="Meiryo UI" panose="020B0604030504040204" pitchFamily="34" charset="-128"/>
                <a:ea typeface="Meiryo UI" panose="020B0604030504040204" pitchFamily="34" charset="-128"/>
              </a:rPr>
              <a:t>Email</a:t>
            </a:r>
            <a:endParaRPr kumimoji="1" lang="ja-JP" altLang="en-US" sz="900">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A78CED7F-7E34-657A-3DD2-D01061C2589D}"/>
              </a:ext>
            </a:extLst>
          </p:cNvPr>
          <p:cNvSpPr/>
          <p:nvPr/>
        </p:nvSpPr>
        <p:spPr>
          <a:xfrm>
            <a:off x="3806953" y="4098885"/>
            <a:ext cx="1713186" cy="42320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900">
              <a:latin typeface="Meiryo UI" panose="020B0604030504040204" pitchFamily="34" charset="-128"/>
              <a:ea typeface="Meiryo UI" panose="020B0604030504040204" pitchFamily="34" charset="-128"/>
            </a:endParaRPr>
          </a:p>
        </p:txBody>
      </p:sp>
      <p:sp>
        <p:nvSpPr>
          <p:cNvPr id="25" name="テキスト ボックス 24">
            <a:extLst>
              <a:ext uri="{FF2B5EF4-FFF2-40B4-BE49-F238E27FC236}">
                <a16:creationId xmlns:a16="http://schemas.microsoft.com/office/drawing/2014/main" id="{00E072C1-B920-CBD8-A4CC-118DFB25EE1E}"/>
              </a:ext>
            </a:extLst>
          </p:cNvPr>
          <p:cNvSpPr txBox="1"/>
          <p:nvPr/>
        </p:nvSpPr>
        <p:spPr>
          <a:xfrm>
            <a:off x="3707104" y="3851515"/>
            <a:ext cx="838691" cy="230832"/>
          </a:xfrm>
          <a:prstGeom prst="rect">
            <a:avLst/>
          </a:prstGeom>
          <a:noFill/>
        </p:spPr>
        <p:txBody>
          <a:bodyPr wrap="none" rtlCol="0">
            <a:spAutoFit/>
          </a:bodyPr>
          <a:lstStyle/>
          <a:p>
            <a:r>
              <a:rPr lang="ja-JP" altLang="en-US" sz="900">
                <a:latin typeface="Meiryo UI" panose="020B0604030504040204" pitchFamily="34" charset="-128"/>
                <a:ea typeface="Meiryo UI" panose="020B0604030504040204" pitchFamily="34" charset="-128"/>
              </a:rPr>
              <a:t>お問合せ内容</a:t>
            </a:r>
            <a:endParaRPr kumimoji="1" lang="ja-JP" altLang="en-US" sz="900">
              <a:latin typeface="Meiryo UI" panose="020B0604030504040204" pitchFamily="34" charset="-128"/>
              <a:ea typeface="Meiryo UI" panose="020B0604030504040204" pitchFamily="34" charset="-128"/>
            </a:endParaRPr>
          </a:p>
        </p:txBody>
      </p:sp>
      <p:sp>
        <p:nvSpPr>
          <p:cNvPr id="26" name="角丸四角形 25">
            <a:extLst>
              <a:ext uri="{FF2B5EF4-FFF2-40B4-BE49-F238E27FC236}">
                <a16:creationId xmlns:a16="http://schemas.microsoft.com/office/drawing/2014/main" id="{A6DB7283-6BB7-EA6E-0867-9F1EFB862AF7}"/>
              </a:ext>
            </a:extLst>
          </p:cNvPr>
          <p:cNvSpPr/>
          <p:nvPr/>
        </p:nvSpPr>
        <p:spPr>
          <a:xfrm>
            <a:off x="4417864" y="4958310"/>
            <a:ext cx="596462" cy="2399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latin typeface="Meiryo UI" panose="020B0604030504040204" pitchFamily="34" charset="-128"/>
                <a:ea typeface="Meiryo UI" panose="020B0604030504040204" pitchFamily="34" charset="-128"/>
              </a:rPr>
              <a:t>送信</a:t>
            </a:r>
          </a:p>
        </p:txBody>
      </p:sp>
      <p:grpSp>
        <p:nvGrpSpPr>
          <p:cNvPr id="27" name="グループ化 26">
            <a:extLst>
              <a:ext uri="{FF2B5EF4-FFF2-40B4-BE49-F238E27FC236}">
                <a16:creationId xmlns:a16="http://schemas.microsoft.com/office/drawing/2014/main" id="{8B52365B-84DD-242C-DE6E-8265032335AE}"/>
              </a:ext>
            </a:extLst>
          </p:cNvPr>
          <p:cNvGrpSpPr/>
          <p:nvPr/>
        </p:nvGrpSpPr>
        <p:grpSpPr>
          <a:xfrm>
            <a:off x="1103188" y="1403306"/>
            <a:ext cx="352052" cy="426055"/>
            <a:chOff x="9762124" y="4277710"/>
            <a:chExt cx="451856" cy="546838"/>
          </a:xfrm>
          <a:solidFill>
            <a:srgbClr val="00B050"/>
          </a:solidFill>
        </p:grpSpPr>
        <p:sp>
          <p:nvSpPr>
            <p:cNvPr id="28" name="円/楕円 27">
              <a:extLst>
                <a:ext uri="{FF2B5EF4-FFF2-40B4-BE49-F238E27FC236}">
                  <a16:creationId xmlns:a16="http://schemas.microsoft.com/office/drawing/2014/main" id="{A80B204B-5021-5810-C97D-393FFA6192FA}"/>
                </a:ext>
              </a:extLst>
            </p:cNvPr>
            <p:cNvSpPr/>
            <p:nvPr/>
          </p:nvSpPr>
          <p:spPr>
            <a:xfrm>
              <a:off x="9858703" y="4277710"/>
              <a:ext cx="258699" cy="2586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片側の 2 つの角を丸めた四角形 28">
              <a:extLst>
                <a:ext uri="{FF2B5EF4-FFF2-40B4-BE49-F238E27FC236}">
                  <a16:creationId xmlns:a16="http://schemas.microsoft.com/office/drawing/2014/main" id="{27881501-FC94-6D58-B03C-7D4EB7425402}"/>
                </a:ext>
              </a:extLst>
            </p:cNvPr>
            <p:cNvSpPr/>
            <p:nvPr/>
          </p:nvSpPr>
          <p:spPr>
            <a:xfrm>
              <a:off x="9762124" y="4565849"/>
              <a:ext cx="451856" cy="258699"/>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0" name="テキスト ボックス 29">
            <a:extLst>
              <a:ext uri="{FF2B5EF4-FFF2-40B4-BE49-F238E27FC236}">
                <a16:creationId xmlns:a16="http://schemas.microsoft.com/office/drawing/2014/main" id="{78D4BF5D-5351-0E61-8D11-56015D00E973}"/>
              </a:ext>
            </a:extLst>
          </p:cNvPr>
          <p:cNvSpPr txBox="1"/>
          <p:nvPr/>
        </p:nvSpPr>
        <p:spPr>
          <a:xfrm>
            <a:off x="970475" y="1078867"/>
            <a:ext cx="617477" cy="276999"/>
          </a:xfrm>
          <a:prstGeom prst="rect">
            <a:avLst/>
          </a:prstGeom>
          <a:noFill/>
        </p:spPr>
        <p:txBody>
          <a:bodyPr wrap="none" rtlCol="0">
            <a:spAutoFit/>
          </a:bodyPr>
          <a:lstStyle/>
          <a:p>
            <a:r>
              <a:rPr kumimoji="1" lang="ja-JP" altLang="en-US" sz="1200">
                <a:latin typeface="Meiryo UI" panose="020B0604030504040204" pitchFamily="34" charset="-128"/>
                <a:ea typeface="Meiryo UI" panose="020B0604030504040204" pitchFamily="34" charset="-128"/>
              </a:rPr>
              <a:t>お客様</a:t>
            </a:r>
          </a:p>
        </p:txBody>
      </p:sp>
      <p:cxnSp>
        <p:nvCxnSpPr>
          <p:cNvPr id="32" name="直線矢印コネクタ 31">
            <a:extLst>
              <a:ext uri="{FF2B5EF4-FFF2-40B4-BE49-F238E27FC236}">
                <a16:creationId xmlns:a16="http://schemas.microsoft.com/office/drawing/2014/main" id="{34BB7B0A-022F-ABB8-81A7-84D54D21F744}"/>
              </a:ext>
            </a:extLst>
          </p:cNvPr>
          <p:cNvCxnSpPr>
            <a:stCxn id="29" idx="1"/>
            <a:endCxn id="7" idx="0"/>
          </p:cNvCxnSpPr>
          <p:nvPr/>
        </p:nvCxnSpPr>
        <p:spPr>
          <a:xfrm>
            <a:off x="1279214" y="1829361"/>
            <a:ext cx="0" cy="357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カギ線コネクタ 33">
            <a:extLst>
              <a:ext uri="{FF2B5EF4-FFF2-40B4-BE49-F238E27FC236}">
                <a16:creationId xmlns:a16="http://schemas.microsoft.com/office/drawing/2014/main" id="{2FBD67F4-12D2-034C-9B0E-CFEF2EB8915C}"/>
              </a:ext>
            </a:extLst>
          </p:cNvPr>
          <p:cNvCxnSpPr>
            <a:stCxn id="8" idx="0"/>
            <a:endCxn id="15" idx="0"/>
          </p:cNvCxnSpPr>
          <p:nvPr/>
        </p:nvCxnSpPr>
        <p:spPr>
          <a:xfrm rot="5400000" flipH="1" flipV="1">
            <a:off x="3880524" y="762824"/>
            <a:ext cx="12700" cy="2848304"/>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62C5E2A9-D700-9600-B916-EB80C07B8EF7}"/>
              </a:ext>
            </a:extLst>
          </p:cNvPr>
          <p:cNvSpPr/>
          <p:nvPr/>
        </p:nvSpPr>
        <p:spPr>
          <a:xfrm>
            <a:off x="6956310" y="2618883"/>
            <a:ext cx="1114096" cy="806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API</a:t>
            </a:r>
          </a:p>
        </p:txBody>
      </p:sp>
      <p:sp>
        <p:nvSpPr>
          <p:cNvPr id="36" name="正方形/長方形 35">
            <a:extLst>
              <a:ext uri="{FF2B5EF4-FFF2-40B4-BE49-F238E27FC236}">
                <a16:creationId xmlns:a16="http://schemas.microsoft.com/office/drawing/2014/main" id="{CF52C4ED-9607-1324-C757-03A067768C7E}"/>
              </a:ext>
            </a:extLst>
          </p:cNvPr>
          <p:cNvSpPr/>
          <p:nvPr/>
        </p:nvSpPr>
        <p:spPr>
          <a:xfrm>
            <a:off x="8780537" y="2618883"/>
            <a:ext cx="1114096" cy="8066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latin typeface="Meiryo UI" panose="020B0604030504040204" pitchFamily="34" charset="-128"/>
                <a:ea typeface="Meiryo UI" panose="020B0604030504040204" pitchFamily="34" charset="-128"/>
              </a:rPr>
              <a:t>Google</a:t>
            </a:r>
          </a:p>
          <a:p>
            <a:pPr algn="ctr"/>
            <a:r>
              <a:rPr kumimoji="1" lang="ja-JP" altLang="en-US" sz="1200">
                <a:latin typeface="Meiryo UI" panose="020B0604030504040204" pitchFamily="34" charset="-128"/>
                <a:ea typeface="Meiryo UI" panose="020B0604030504040204" pitchFamily="34" charset="-128"/>
              </a:rPr>
              <a:t>スプレッドシート</a:t>
            </a:r>
          </a:p>
        </p:txBody>
      </p:sp>
      <p:cxnSp>
        <p:nvCxnSpPr>
          <p:cNvPr id="38" name="カギ線コネクタ 37">
            <a:extLst>
              <a:ext uri="{FF2B5EF4-FFF2-40B4-BE49-F238E27FC236}">
                <a16:creationId xmlns:a16="http://schemas.microsoft.com/office/drawing/2014/main" id="{64A01B75-7B46-36B0-2FE8-4724A799BA30}"/>
              </a:ext>
            </a:extLst>
          </p:cNvPr>
          <p:cNvCxnSpPr>
            <a:stCxn id="26" idx="3"/>
            <a:endCxn id="35" idx="1"/>
          </p:cNvCxnSpPr>
          <p:nvPr/>
        </p:nvCxnSpPr>
        <p:spPr>
          <a:xfrm flipV="1">
            <a:off x="5014326" y="3022218"/>
            <a:ext cx="1941984" cy="2056084"/>
          </a:xfrm>
          <a:prstGeom prst="bentConnector3">
            <a:avLst>
              <a:gd name="adj1" fmla="val 6670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B722B391-F648-5104-DBEC-1064109ECE84}"/>
              </a:ext>
            </a:extLst>
          </p:cNvPr>
          <p:cNvCxnSpPr>
            <a:stCxn id="35" idx="3"/>
            <a:endCxn id="36" idx="1"/>
          </p:cNvCxnSpPr>
          <p:nvPr/>
        </p:nvCxnSpPr>
        <p:spPr>
          <a:xfrm>
            <a:off x="8070406" y="3022218"/>
            <a:ext cx="7101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2" name="グループ化 41">
            <a:extLst>
              <a:ext uri="{FF2B5EF4-FFF2-40B4-BE49-F238E27FC236}">
                <a16:creationId xmlns:a16="http://schemas.microsoft.com/office/drawing/2014/main" id="{26C371EE-ED11-E96A-F281-341344CF99FF}"/>
              </a:ext>
            </a:extLst>
          </p:cNvPr>
          <p:cNvGrpSpPr/>
          <p:nvPr/>
        </p:nvGrpSpPr>
        <p:grpSpPr>
          <a:xfrm>
            <a:off x="10751904" y="2809189"/>
            <a:ext cx="352052" cy="426055"/>
            <a:chOff x="9762124" y="4277710"/>
            <a:chExt cx="451856" cy="546838"/>
          </a:xfrm>
        </p:grpSpPr>
        <p:sp>
          <p:nvSpPr>
            <p:cNvPr id="43" name="円/楕円 42">
              <a:extLst>
                <a:ext uri="{FF2B5EF4-FFF2-40B4-BE49-F238E27FC236}">
                  <a16:creationId xmlns:a16="http://schemas.microsoft.com/office/drawing/2014/main" id="{64FB04CF-2F7B-BA28-1F45-4371A7169A97}"/>
                </a:ext>
              </a:extLst>
            </p:cNvPr>
            <p:cNvSpPr/>
            <p:nvPr/>
          </p:nvSpPr>
          <p:spPr>
            <a:xfrm>
              <a:off x="9858703" y="4277710"/>
              <a:ext cx="258699" cy="2586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片側の 2 つの角を丸めた四角形 43">
              <a:extLst>
                <a:ext uri="{FF2B5EF4-FFF2-40B4-BE49-F238E27FC236}">
                  <a16:creationId xmlns:a16="http://schemas.microsoft.com/office/drawing/2014/main" id="{350A5C54-6989-5324-5049-707295754384}"/>
                </a:ext>
              </a:extLst>
            </p:cNvPr>
            <p:cNvSpPr/>
            <p:nvPr/>
          </p:nvSpPr>
          <p:spPr>
            <a:xfrm>
              <a:off x="9762124" y="4565849"/>
              <a:ext cx="451856" cy="258699"/>
            </a:xfrm>
            <a:prstGeom prst="round2SameRect">
              <a:avLst>
                <a:gd name="adj1" fmla="val 5000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5" name="テキスト ボックス 44">
            <a:extLst>
              <a:ext uri="{FF2B5EF4-FFF2-40B4-BE49-F238E27FC236}">
                <a16:creationId xmlns:a16="http://schemas.microsoft.com/office/drawing/2014/main" id="{B376EB25-CC53-B6A1-A29E-C303E48A9E5F}"/>
              </a:ext>
            </a:extLst>
          </p:cNvPr>
          <p:cNvSpPr txBox="1"/>
          <p:nvPr/>
        </p:nvSpPr>
        <p:spPr>
          <a:xfrm>
            <a:off x="10604764" y="3246711"/>
            <a:ext cx="646331" cy="276999"/>
          </a:xfrm>
          <a:prstGeom prst="rect">
            <a:avLst/>
          </a:prstGeom>
          <a:noFill/>
        </p:spPr>
        <p:txBody>
          <a:bodyPr wrap="none" rtlCol="0">
            <a:spAutoFit/>
          </a:bodyPr>
          <a:lstStyle/>
          <a:p>
            <a:r>
              <a:rPr lang="ja-JP" altLang="en-US" sz="1200">
                <a:latin typeface="Meiryo UI" panose="020B0604030504040204" pitchFamily="34" charset="-128"/>
                <a:ea typeface="Meiryo UI" panose="020B0604030504040204" pitchFamily="34" charset="-128"/>
              </a:rPr>
              <a:t>担当者</a:t>
            </a:r>
            <a:endParaRPr kumimoji="1" lang="ja-JP" altLang="en-US" sz="1200">
              <a:latin typeface="Meiryo UI" panose="020B0604030504040204" pitchFamily="34" charset="-128"/>
              <a:ea typeface="Meiryo UI" panose="020B0604030504040204" pitchFamily="34" charset="-128"/>
            </a:endParaRPr>
          </a:p>
        </p:txBody>
      </p:sp>
      <p:cxnSp>
        <p:nvCxnSpPr>
          <p:cNvPr id="47" name="直線矢印コネクタ 46">
            <a:extLst>
              <a:ext uri="{FF2B5EF4-FFF2-40B4-BE49-F238E27FC236}">
                <a16:creationId xmlns:a16="http://schemas.microsoft.com/office/drawing/2014/main" id="{1649A890-3389-4002-B6E9-E671B358F5CE}"/>
              </a:ext>
            </a:extLst>
          </p:cNvPr>
          <p:cNvCxnSpPr>
            <a:cxnSpLocks/>
            <a:endCxn id="36" idx="3"/>
          </p:cNvCxnSpPr>
          <p:nvPr/>
        </p:nvCxnSpPr>
        <p:spPr>
          <a:xfrm flipH="1">
            <a:off x="9894633" y="3022218"/>
            <a:ext cx="7101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40652931-7D54-E49E-67F1-285AF911DCE8}"/>
              </a:ext>
            </a:extLst>
          </p:cNvPr>
          <p:cNvSpPr txBox="1"/>
          <p:nvPr/>
        </p:nvSpPr>
        <p:spPr>
          <a:xfrm>
            <a:off x="3806952" y="3070637"/>
            <a:ext cx="902811" cy="200055"/>
          </a:xfrm>
          <a:prstGeom prst="rect">
            <a:avLst/>
          </a:prstGeom>
          <a:noFill/>
          <a:ln>
            <a:noFill/>
          </a:ln>
        </p:spPr>
        <p:txBody>
          <a:bodyPr wrap="none" rtlCol="0">
            <a:spAutoFit/>
          </a:bodyPr>
          <a:lstStyle/>
          <a:p>
            <a:r>
              <a:rPr lang="ja-JP" altLang="en-US" sz="700">
                <a:solidFill>
                  <a:srgbClr val="FF0000"/>
                </a:solidFill>
                <a:latin typeface="Meiryo UI" panose="020B0604030504040204" pitchFamily="34" charset="-128"/>
                <a:ea typeface="Meiryo UI" panose="020B0604030504040204" pitchFamily="34" charset="-128"/>
              </a:rPr>
              <a:t>お名前は必須です。</a:t>
            </a:r>
            <a:endParaRPr kumimoji="1" lang="ja-JP" altLang="en-US" sz="700">
              <a:solidFill>
                <a:srgbClr val="FF0000"/>
              </a:solidFill>
              <a:latin typeface="Meiryo UI" panose="020B0604030504040204" pitchFamily="34" charset="-128"/>
              <a:ea typeface="Meiryo UI" panose="020B0604030504040204" pitchFamily="34" charset="-128"/>
            </a:endParaRPr>
          </a:p>
        </p:txBody>
      </p:sp>
      <p:sp>
        <p:nvSpPr>
          <p:cNvPr id="54" name="テキスト ボックス 53">
            <a:extLst>
              <a:ext uri="{FF2B5EF4-FFF2-40B4-BE49-F238E27FC236}">
                <a16:creationId xmlns:a16="http://schemas.microsoft.com/office/drawing/2014/main" id="{43E2D9C7-4CF0-D545-85F6-219C8FFF2AF3}"/>
              </a:ext>
            </a:extLst>
          </p:cNvPr>
          <p:cNvSpPr txBox="1"/>
          <p:nvPr/>
        </p:nvSpPr>
        <p:spPr>
          <a:xfrm>
            <a:off x="3806952" y="3669727"/>
            <a:ext cx="2015295" cy="200055"/>
          </a:xfrm>
          <a:prstGeom prst="rect">
            <a:avLst/>
          </a:prstGeom>
          <a:noFill/>
          <a:ln>
            <a:noFill/>
          </a:ln>
        </p:spPr>
        <p:txBody>
          <a:bodyPr wrap="none" rtlCol="0">
            <a:spAutoFit/>
          </a:bodyPr>
          <a:lstStyle/>
          <a:p>
            <a:r>
              <a:rPr lang="en-US" altLang="ja-JP" sz="700" dirty="0">
                <a:solidFill>
                  <a:srgbClr val="FF0000"/>
                </a:solidFill>
                <a:latin typeface="Meiryo UI" panose="020B0604030504040204" pitchFamily="34" charset="-128"/>
                <a:ea typeface="Meiryo UI" panose="020B0604030504040204" pitchFamily="34" charset="-128"/>
              </a:rPr>
              <a:t>Email</a:t>
            </a:r>
            <a:r>
              <a:rPr lang="ja-JP" altLang="en-US" sz="700">
                <a:solidFill>
                  <a:srgbClr val="FF0000"/>
                </a:solidFill>
                <a:latin typeface="Meiryo UI" panose="020B0604030504040204" pitchFamily="34" charset="-128"/>
                <a:ea typeface="Meiryo UI" panose="020B0604030504040204" pitchFamily="34" charset="-128"/>
              </a:rPr>
              <a:t>は必須かつ</a:t>
            </a:r>
            <a:r>
              <a:rPr lang="en-US" altLang="ja-JP" sz="700" dirty="0">
                <a:solidFill>
                  <a:srgbClr val="FF0000"/>
                </a:solidFill>
                <a:latin typeface="Meiryo UI" panose="020B0604030504040204" pitchFamily="34" charset="-128"/>
                <a:ea typeface="Meiryo UI" panose="020B0604030504040204" pitchFamily="34" charset="-128"/>
              </a:rPr>
              <a:t>Email</a:t>
            </a:r>
            <a:r>
              <a:rPr lang="ja-JP" altLang="en-US" sz="700">
                <a:solidFill>
                  <a:srgbClr val="FF0000"/>
                </a:solidFill>
                <a:latin typeface="Meiryo UI" panose="020B0604030504040204" pitchFamily="34" charset="-128"/>
                <a:ea typeface="Meiryo UI" panose="020B0604030504040204" pitchFamily="34" charset="-128"/>
              </a:rPr>
              <a:t>の形式で入力してください。</a:t>
            </a:r>
            <a:endParaRPr kumimoji="1" lang="ja-JP" altLang="en-US" sz="700">
              <a:solidFill>
                <a:srgbClr val="FF0000"/>
              </a:solidFill>
              <a:latin typeface="Meiryo UI" panose="020B0604030504040204" pitchFamily="34" charset="-128"/>
              <a:ea typeface="Meiryo UI" panose="020B0604030504040204" pitchFamily="34" charset="-128"/>
            </a:endParaRPr>
          </a:p>
        </p:txBody>
      </p:sp>
      <p:sp>
        <p:nvSpPr>
          <p:cNvPr id="55" name="テキスト ボックス 54">
            <a:extLst>
              <a:ext uri="{FF2B5EF4-FFF2-40B4-BE49-F238E27FC236}">
                <a16:creationId xmlns:a16="http://schemas.microsoft.com/office/drawing/2014/main" id="{EC5A2AB5-A6E7-901A-067B-6EC0251D80AF}"/>
              </a:ext>
            </a:extLst>
          </p:cNvPr>
          <p:cNvSpPr txBox="1"/>
          <p:nvPr/>
        </p:nvSpPr>
        <p:spPr>
          <a:xfrm>
            <a:off x="3806952" y="4522089"/>
            <a:ext cx="1713186" cy="307777"/>
          </a:xfrm>
          <a:prstGeom prst="rect">
            <a:avLst/>
          </a:prstGeom>
          <a:noFill/>
          <a:ln>
            <a:noFill/>
          </a:ln>
        </p:spPr>
        <p:txBody>
          <a:bodyPr wrap="square" rtlCol="0">
            <a:spAutoFit/>
          </a:bodyPr>
          <a:lstStyle/>
          <a:p>
            <a:r>
              <a:rPr lang="ja-JP" altLang="en-US" sz="700">
                <a:solidFill>
                  <a:srgbClr val="FF0000"/>
                </a:solidFill>
                <a:latin typeface="Meiryo UI" panose="020B0604030504040204" pitchFamily="34" charset="-128"/>
                <a:ea typeface="Meiryo UI" panose="020B0604030504040204" pitchFamily="34" charset="-128"/>
              </a:rPr>
              <a:t>お問合せ内容は必須かつ○字以上、○字以下で入力してください。</a:t>
            </a:r>
            <a:endParaRPr kumimoji="1" lang="ja-JP" altLang="en-US" sz="700">
              <a:solidFill>
                <a:srgbClr val="FF0000"/>
              </a:solidFill>
              <a:latin typeface="Meiryo UI" panose="020B0604030504040204" pitchFamily="34" charset="-128"/>
              <a:ea typeface="Meiryo UI" panose="020B0604030504040204" pitchFamily="34" charset="-128"/>
            </a:endParaRPr>
          </a:p>
        </p:txBody>
      </p:sp>
      <p:sp>
        <p:nvSpPr>
          <p:cNvPr id="59" name="テキスト ボックス 58">
            <a:extLst>
              <a:ext uri="{FF2B5EF4-FFF2-40B4-BE49-F238E27FC236}">
                <a16:creationId xmlns:a16="http://schemas.microsoft.com/office/drawing/2014/main" id="{A995352E-9A18-BB79-F467-41F3199B7FF1}"/>
              </a:ext>
            </a:extLst>
          </p:cNvPr>
          <p:cNvSpPr txBox="1"/>
          <p:nvPr/>
        </p:nvSpPr>
        <p:spPr>
          <a:xfrm>
            <a:off x="6862647" y="3542548"/>
            <a:ext cx="1423940" cy="784830"/>
          </a:xfrm>
          <a:prstGeom prst="rect">
            <a:avLst/>
          </a:prstGeom>
          <a:noFill/>
          <a:ln>
            <a:noFill/>
          </a:ln>
        </p:spPr>
        <p:txBody>
          <a:bodyPr wrap="square" rtlCol="0">
            <a:spAutoFit/>
          </a:bodyPr>
          <a:lstStyle/>
          <a:p>
            <a:r>
              <a:rPr kumimoji="1" lang="en-US" altLang="ja-JP" sz="900" dirty="0">
                <a:latin typeface="Meiryo UI" panose="020B0604030504040204" pitchFamily="34" charset="-128"/>
                <a:ea typeface="Meiryo UI" panose="020B0604030504040204" pitchFamily="34" charset="-128"/>
              </a:rPr>
              <a:t>API</a:t>
            </a:r>
            <a:r>
              <a:rPr kumimoji="1" lang="ja-JP" altLang="en-US" sz="900">
                <a:latin typeface="Meiryo UI" panose="020B0604030504040204" pitchFamily="34" charset="-128"/>
                <a:ea typeface="Meiryo UI" panose="020B0604030504040204" pitchFamily="34" charset="-128"/>
              </a:rPr>
              <a:t>は以下の操作を提供</a:t>
            </a:r>
            <a:endParaRPr kumimoji="1" lang="en-US" altLang="ja-JP" sz="900" dirty="0">
              <a:latin typeface="Meiryo UI" panose="020B0604030504040204" pitchFamily="34" charset="-128"/>
              <a:ea typeface="Meiryo UI" panose="020B0604030504040204" pitchFamily="34" charset="-128"/>
            </a:endParaRPr>
          </a:p>
          <a:p>
            <a:r>
              <a:rPr kumimoji="1" lang="ja-JP" altLang="en-US" sz="900">
                <a:latin typeface="Meiryo UI" panose="020B0604030504040204" pitchFamily="34" charset="-128"/>
                <a:ea typeface="Meiryo UI" panose="020B0604030504040204" pitchFamily="34" charset="-128"/>
              </a:rPr>
              <a:t>・送信内容の受け取り</a:t>
            </a:r>
            <a:endParaRPr kumimoji="1" lang="en-US" altLang="ja-JP" sz="900" dirty="0">
              <a:latin typeface="Meiryo UI" panose="020B0604030504040204" pitchFamily="34" charset="-128"/>
              <a:ea typeface="Meiryo UI" panose="020B0604030504040204" pitchFamily="34" charset="-128"/>
            </a:endParaRPr>
          </a:p>
          <a:p>
            <a:r>
              <a:rPr lang="ja-JP" altLang="en-US" sz="900">
                <a:latin typeface="Meiryo UI" panose="020B0604030504040204" pitchFamily="34" charset="-128"/>
                <a:ea typeface="Meiryo UI" panose="020B0604030504040204" pitchFamily="34" charset="-128"/>
              </a:rPr>
              <a:t>・送信内容の検証</a:t>
            </a:r>
            <a:endParaRPr lang="en-US" altLang="ja-JP" sz="900" dirty="0">
              <a:latin typeface="Meiryo UI" panose="020B0604030504040204" pitchFamily="34" charset="-128"/>
              <a:ea typeface="Meiryo UI" panose="020B0604030504040204" pitchFamily="34" charset="-128"/>
            </a:endParaRPr>
          </a:p>
          <a:p>
            <a:r>
              <a:rPr kumimoji="1" lang="ja-JP" altLang="en-US" sz="900">
                <a:latin typeface="Meiryo UI" panose="020B0604030504040204" pitchFamily="34" charset="-128"/>
                <a:ea typeface="Meiryo UI" panose="020B0604030504040204" pitchFamily="34" charset="-128"/>
              </a:rPr>
              <a:t>・送信内容の保存</a:t>
            </a:r>
            <a:endParaRPr kumimoji="1" lang="en-US" altLang="ja-JP" sz="900" dirty="0">
              <a:latin typeface="Meiryo UI" panose="020B0604030504040204" pitchFamily="34" charset="-128"/>
              <a:ea typeface="Meiryo UI" panose="020B0604030504040204" pitchFamily="34" charset="-128"/>
            </a:endParaRPr>
          </a:p>
          <a:p>
            <a:r>
              <a:rPr lang="ja-JP" altLang="en-US" sz="900">
                <a:latin typeface="Meiryo UI" panose="020B0604030504040204" pitchFamily="34" charset="-128"/>
                <a:ea typeface="Meiryo UI" panose="020B0604030504040204" pitchFamily="34" charset="-128"/>
              </a:rPr>
              <a:t>・送信結果の通知</a:t>
            </a:r>
            <a:endParaRPr kumimoji="1" lang="ja-JP" altLang="en-US" sz="900">
              <a:latin typeface="Meiryo UI" panose="020B0604030504040204" pitchFamily="34" charset="-128"/>
              <a:ea typeface="Meiryo UI" panose="020B0604030504040204" pitchFamily="34" charset="-128"/>
            </a:endParaRPr>
          </a:p>
        </p:txBody>
      </p:sp>
      <p:sp>
        <p:nvSpPr>
          <p:cNvPr id="60" name="テキスト ボックス 59">
            <a:extLst>
              <a:ext uri="{FF2B5EF4-FFF2-40B4-BE49-F238E27FC236}">
                <a16:creationId xmlns:a16="http://schemas.microsoft.com/office/drawing/2014/main" id="{615FA926-941B-26D3-5DBE-76ED4C6D6014}"/>
              </a:ext>
            </a:extLst>
          </p:cNvPr>
          <p:cNvSpPr txBox="1"/>
          <p:nvPr/>
        </p:nvSpPr>
        <p:spPr>
          <a:xfrm>
            <a:off x="814619" y="5730025"/>
            <a:ext cx="2230331" cy="229012"/>
          </a:xfrm>
          <a:prstGeom prst="rect">
            <a:avLst/>
          </a:prstGeom>
          <a:noFill/>
          <a:ln>
            <a:noFill/>
          </a:ln>
        </p:spPr>
        <p:txBody>
          <a:bodyPr wrap="square" rtlCol="0">
            <a:spAutoFit/>
          </a:bodyPr>
          <a:lstStyle/>
          <a:p>
            <a:r>
              <a:rPr lang="en-US" altLang="ja-JP" sz="900" dirty="0">
                <a:latin typeface="Meiryo UI" panose="020B0604030504040204" pitchFamily="34" charset="-128"/>
                <a:ea typeface="Meiryo UI" panose="020B0604030504040204" pitchFamily="34" charset="-128"/>
              </a:rPr>
              <a:t>PC</a:t>
            </a:r>
            <a:r>
              <a:rPr lang="ja-JP" altLang="en-US" sz="900">
                <a:latin typeface="Meiryo UI" panose="020B0604030504040204" pitchFamily="34" charset="-128"/>
                <a:ea typeface="Meiryo UI" panose="020B0604030504040204" pitchFamily="34" charset="-128"/>
              </a:rPr>
              <a:t>およびモバイル（スマホ）から利用可能</a:t>
            </a:r>
            <a:endParaRPr kumimoji="1" lang="ja-JP" altLang="en-US" sz="900">
              <a:latin typeface="Meiryo UI" panose="020B0604030504040204" pitchFamily="34" charset="-128"/>
              <a:ea typeface="Meiryo UI" panose="020B0604030504040204" pitchFamily="34" charset="-128"/>
            </a:endParaRPr>
          </a:p>
        </p:txBody>
      </p:sp>
      <p:sp>
        <p:nvSpPr>
          <p:cNvPr id="3" name="テキスト ボックス 2">
            <a:extLst>
              <a:ext uri="{FF2B5EF4-FFF2-40B4-BE49-F238E27FC236}">
                <a16:creationId xmlns:a16="http://schemas.microsoft.com/office/drawing/2014/main" id="{BCAB2ED5-DCAB-02BC-D78F-D8DD3182F4F7}"/>
              </a:ext>
            </a:extLst>
          </p:cNvPr>
          <p:cNvSpPr txBox="1"/>
          <p:nvPr/>
        </p:nvSpPr>
        <p:spPr>
          <a:xfrm>
            <a:off x="669751" y="1879317"/>
            <a:ext cx="534121" cy="230832"/>
          </a:xfrm>
          <a:prstGeom prst="rect">
            <a:avLst/>
          </a:prstGeom>
          <a:noFill/>
        </p:spPr>
        <p:txBody>
          <a:bodyPr wrap="none" rtlCol="0">
            <a:spAutoFit/>
          </a:bodyPr>
          <a:lstStyle/>
          <a:p>
            <a:r>
              <a:rPr kumimoji="1" lang="ja-JP" altLang="en-US" sz="900">
                <a:latin typeface="Meiryo UI" panose="020B0604030504040204" pitchFamily="34" charset="-128"/>
                <a:ea typeface="Meiryo UI" panose="020B0604030504040204" pitchFamily="34" charset="-128"/>
              </a:rPr>
              <a:t>アクセス</a:t>
            </a:r>
          </a:p>
        </p:txBody>
      </p:sp>
      <p:sp>
        <p:nvSpPr>
          <p:cNvPr id="11" name="テキスト ボックス 10">
            <a:extLst>
              <a:ext uri="{FF2B5EF4-FFF2-40B4-BE49-F238E27FC236}">
                <a16:creationId xmlns:a16="http://schemas.microsoft.com/office/drawing/2014/main" id="{75124D1B-547F-92A1-F07C-FCBB4B131004}"/>
              </a:ext>
            </a:extLst>
          </p:cNvPr>
          <p:cNvSpPr txBox="1"/>
          <p:nvPr/>
        </p:nvSpPr>
        <p:spPr>
          <a:xfrm>
            <a:off x="3425616" y="1684743"/>
            <a:ext cx="700833" cy="230832"/>
          </a:xfrm>
          <a:prstGeom prst="rect">
            <a:avLst/>
          </a:prstGeom>
          <a:noFill/>
        </p:spPr>
        <p:txBody>
          <a:bodyPr wrap="none" rtlCol="0">
            <a:spAutoFit/>
          </a:bodyPr>
          <a:lstStyle/>
          <a:p>
            <a:r>
              <a:rPr kumimoji="1" lang="ja-JP" altLang="en-US" sz="900">
                <a:latin typeface="Meiryo UI" panose="020B0604030504040204" pitchFamily="34" charset="-128"/>
                <a:ea typeface="Meiryo UI" panose="020B0604030504040204" pitchFamily="34" charset="-128"/>
              </a:rPr>
              <a:t>ページ遷移</a:t>
            </a:r>
          </a:p>
        </p:txBody>
      </p:sp>
      <p:sp>
        <p:nvSpPr>
          <p:cNvPr id="37" name="テキスト ボックス 36">
            <a:extLst>
              <a:ext uri="{FF2B5EF4-FFF2-40B4-BE49-F238E27FC236}">
                <a16:creationId xmlns:a16="http://schemas.microsoft.com/office/drawing/2014/main" id="{340E81A0-DCC4-C7EB-167D-D4C017DDC4DE}"/>
              </a:ext>
            </a:extLst>
          </p:cNvPr>
          <p:cNvSpPr txBox="1"/>
          <p:nvPr/>
        </p:nvSpPr>
        <p:spPr>
          <a:xfrm>
            <a:off x="3286791" y="5729977"/>
            <a:ext cx="3024060" cy="230832"/>
          </a:xfrm>
          <a:prstGeom prst="rect">
            <a:avLst/>
          </a:prstGeom>
          <a:noFill/>
          <a:ln>
            <a:noFill/>
          </a:ln>
        </p:spPr>
        <p:txBody>
          <a:bodyPr wrap="square" rtlCol="0">
            <a:spAutoFit/>
          </a:bodyPr>
          <a:lstStyle/>
          <a:p>
            <a:r>
              <a:rPr kumimoji="1" lang="ja-JP" altLang="en-US" sz="900">
                <a:latin typeface="Meiryo UI" panose="020B0604030504040204" pitchFamily="34" charset="-128"/>
                <a:ea typeface="Meiryo UI" panose="020B0604030504040204" pitchFamily="34" charset="-128"/>
              </a:rPr>
              <a:t>送信ボタン押下時にネットワーク状況および入力内容を検証</a:t>
            </a:r>
          </a:p>
        </p:txBody>
      </p:sp>
      <p:sp>
        <p:nvSpPr>
          <p:cNvPr id="39" name="テキスト ボックス 38">
            <a:extLst>
              <a:ext uri="{FF2B5EF4-FFF2-40B4-BE49-F238E27FC236}">
                <a16:creationId xmlns:a16="http://schemas.microsoft.com/office/drawing/2014/main" id="{1DA8086B-53DD-8D47-77C5-D3BE72D9535D}"/>
              </a:ext>
            </a:extLst>
          </p:cNvPr>
          <p:cNvSpPr txBox="1"/>
          <p:nvPr/>
        </p:nvSpPr>
        <p:spPr>
          <a:xfrm>
            <a:off x="8425471" y="3542548"/>
            <a:ext cx="1939229" cy="230832"/>
          </a:xfrm>
          <a:prstGeom prst="rect">
            <a:avLst/>
          </a:prstGeom>
          <a:noFill/>
          <a:ln>
            <a:noFill/>
          </a:ln>
        </p:spPr>
        <p:txBody>
          <a:bodyPr wrap="square" rtlCol="0">
            <a:spAutoFit/>
          </a:bodyPr>
          <a:lstStyle/>
          <a:p>
            <a:r>
              <a:rPr lang="ja-JP" altLang="en-US" sz="900">
                <a:latin typeface="Meiryo UI" panose="020B0604030504040204" pitchFamily="34" charset="-128"/>
                <a:ea typeface="Meiryo UI" panose="020B0604030504040204" pitchFamily="34" charset="-128"/>
              </a:rPr>
              <a:t>問合せ内容の閲覧・編集（手動）</a:t>
            </a:r>
            <a:endParaRPr lang="en-US" altLang="ja-JP" sz="900" dirty="0">
              <a:latin typeface="Meiryo UI" panose="020B0604030504040204" pitchFamily="34" charset="-128"/>
              <a:ea typeface="Meiryo UI" panose="020B0604030504040204" pitchFamily="34" charset="-128"/>
            </a:endParaRPr>
          </a:p>
        </p:txBody>
      </p:sp>
      <p:sp>
        <p:nvSpPr>
          <p:cNvPr id="40" name="テキスト ボックス 39">
            <a:extLst>
              <a:ext uri="{FF2B5EF4-FFF2-40B4-BE49-F238E27FC236}">
                <a16:creationId xmlns:a16="http://schemas.microsoft.com/office/drawing/2014/main" id="{B451C7F9-0316-2795-7A30-180FE13E7570}"/>
              </a:ext>
            </a:extLst>
          </p:cNvPr>
          <p:cNvSpPr txBox="1"/>
          <p:nvPr/>
        </p:nvSpPr>
        <p:spPr>
          <a:xfrm>
            <a:off x="10041949" y="2713252"/>
            <a:ext cx="415498" cy="230832"/>
          </a:xfrm>
          <a:prstGeom prst="rect">
            <a:avLst/>
          </a:prstGeom>
          <a:noFill/>
        </p:spPr>
        <p:txBody>
          <a:bodyPr wrap="none" rtlCol="0">
            <a:spAutoFit/>
          </a:bodyPr>
          <a:lstStyle/>
          <a:p>
            <a:r>
              <a:rPr lang="ja-JP" altLang="en-US" sz="900">
                <a:latin typeface="Meiryo UI" panose="020B0604030504040204" pitchFamily="34" charset="-128"/>
                <a:ea typeface="Meiryo UI" panose="020B0604030504040204" pitchFamily="34" charset="-128"/>
              </a:rPr>
              <a:t>確認</a:t>
            </a:r>
            <a:endParaRPr kumimoji="1" lang="ja-JP" altLang="en-US" sz="900">
              <a:latin typeface="Meiryo UI" panose="020B0604030504040204" pitchFamily="34" charset="-128"/>
              <a:ea typeface="Meiryo UI" panose="020B0604030504040204" pitchFamily="34" charset="-128"/>
            </a:endParaRPr>
          </a:p>
        </p:txBody>
      </p:sp>
      <p:sp>
        <p:nvSpPr>
          <p:cNvPr id="49" name="四角形吹き出し 48">
            <a:extLst>
              <a:ext uri="{FF2B5EF4-FFF2-40B4-BE49-F238E27FC236}">
                <a16:creationId xmlns:a16="http://schemas.microsoft.com/office/drawing/2014/main" id="{0451F89C-91D2-92AD-914A-A9BE3AF3A207}"/>
              </a:ext>
            </a:extLst>
          </p:cNvPr>
          <p:cNvSpPr/>
          <p:nvPr/>
        </p:nvSpPr>
        <p:spPr>
          <a:xfrm>
            <a:off x="7772692" y="4468613"/>
            <a:ext cx="3826254" cy="1405253"/>
          </a:xfrm>
          <a:prstGeom prst="wedgeRectCallout">
            <a:avLst>
              <a:gd name="adj1" fmla="val -15280"/>
              <a:gd name="adj2" fmla="val -97724"/>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91D0CD4A-0AD7-6D0D-1274-6C986274D92E}"/>
              </a:ext>
            </a:extLst>
          </p:cNvPr>
          <p:cNvSpPr txBox="1"/>
          <p:nvPr/>
        </p:nvSpPr>
        <p:spPr>
          <a:xfrm>
            <a:off x="290116" y="2233585"/>
            <a:ext cx="524503" cy="230832"/>
          </a:xfrm>
          <a:prstGeom prst="rect">
            <a:avLst/>
          </a:prstGeom>
          <a:solidFill>
            <a:schemeClr val="tx1"/>
          </a:solidFill>
        </p:spPr>
        <p:txBody>
          <a:bodyPr wrap="none" rtlCol="0">
            <a:spAutoFit/>
          </a:bodyPr>
          <a:lstStyle/>
          <a:p>
            <a:r>
              <a:rPr kumimoji="1" lang="en-US" altLang="ja-JP" sz="900" dirty="0">
                <a:solidFill>
                  <a:schemeClr val="bg1"/>
                </a:solidFill>
                <a:latin typeface="Meiryo UI" panose="020B0604030504040204" pitchFamily="34" charset="-128"/>
                <a:ea typeface="Meiryo UI" panose="020B0604030504040204" pitchFamily="34" charset="-128"/>
              </a:rPr>
              <a:t>FR-01</a:t>
            </a:r>
            <a:endParaRPr kumimoji="1" lang="ja-JP" altLang="en-US" sz="900">
              <a:solidFill>
                <a:schemeClr val="bg1"/>
              </a:solidFill>
              <a:latin typeface="Meiryo UI" panose="020B0604030504040204" pitchFamily="34" charset="-128"/>
              <a:ea typeface="Meiryo UI" panose="020B0604030504040204" pitchFamily="34" charset="-128"/>
            </a:endParaRPr>
          </a:p>
        </p:txBody>
      </p:sp>
      <p:sp>
        <p:nvSpPr>
          <p:cNvPr id="52" name="テキスト ボックス 51">
            <a:extLst>
              <a:ext uri="{FF2B5EF4-FFF2-40B4-BE49-F238E27FC236}">
                <a16:creationId xmlns:a16="http://schemas.microsoft.com/office/drawing/2014/main" id="{1F84092A-6F6F-1094-1262-C144D5EFF918}"/>
              </a:ext>
            </a:extLst>
          </p:cNvPr>
          <p:cNvSpPr txBox="1"/>
          <p:nvPr/>
        </p:nvSpPr>
        <p:spPr>
          <a:xfrm>
            <a:off x="4361671" y="5992921"/>
            <a:ext cx="708848" cy="230832"/>
          </a:xfrm>
          <a:prstGeom prst="rect">
            <a:avLst/>
          </a:prstGeom>
          <a:solidFill>
            <a:schemeClr val="tx1"/>
          </a:solidFill>
        </p:spPr>
        <p:txBody>
          <a:bodyPr wrap="none" rtlCol="0">
            <a:spAutoFit/>
          </a:bodyPr>
          <a:lstStyle/>
          <a:p>
            <a:r>
              <a:rPr lang="en-US" altLang="ja-JP" sz="900" dirty="0">
                <a:solidFill>
                  <a:schemeClr val="bg1"/>
                </a:solidFill>
                <a:latin typeface="Meiryo UI" panose="020B0604030504040204" pitchFamily="34" charset="-128"/>
                <a:ea typeface="Meiryo UI" panose="020B0604030504040204" pitchFamily="34" charset="-128"/>
              </a:rPr>
              <a:t>FR-03,04</a:t>
            </a:r>
            <a:endParaRPr kumimoji="1" lang="ja-JP" altLang="en-US" sz="900">
              <a:solidFill>
                <a:schemeClr val="bg1"/>
              </a:solidFill>
              <a:latin typeface="Meiryo UI" panose="020B0604030504040204" pitchFamily="34" charset="-128"/>
              <a:ea typeface="Meiryo UI" panose="020B0604030504040204" pitchFamily="34" charset="-128"/>
            </a:endParaRPr>
          </a:p>
        </p:txBody>
      </p:sp>
      <p:sp>
        <p:nvSpPr>
          <p:cNvPr id="56" name="テキスト ボックス 55">
            <a:extLst>
              <a:ext uri="{FF2B5EF4-FFF2-40B4-BE49-F238E27FC236}">
                <a16:creationId xmlns:a16="http://schemas.microsoft.com/office/drawing/2014/main" id="{68890966-B9EE-3570-8D4B-D12B8D8ECC88}"/>
              </a:ext>
            </a:extLst>
          </p:cNvPr>
          <p:cNvSpPr txBox="1"/>
          <p:nvPr/>
        </p:nvSpPr>
        <p:spPr>
          <a:xfrm>
            <a:off x="5786348" y="2233585"/>
            <a:ext cx="524503" cy="230832"/>
          </a:xfrm>
          <a:prstGeom prst="rect">
            <a:avLst/>
          </a:prstGeom>
          <a:solidFill>
            <a:schemeClr val="tx1"/>
          </a:solidFill>
        </p:spPr>
        <p:txBody>
          <a:bodyPr wrap="none" rtlCol="0">
            <a:spAutoFit/>
          </a:bodyPr>
          <a:lstStyle/>
          <a:p>
            <a:r>
              <a:rPr kumimoji="1" lang="en-US" altLang="ja-JP" sz="900" dirty="0">
                <a:solidFill>
                  <a:schemeClr val="bg1"/>
                </a:solidFill>
                <a:latin typeface="Meiryo UI" panose="020B0604030504040204" pitchFamily="34" charset="-128"/>
                <a:ea typeface="Meiryo UI" panose="020B0604030504040204" pitchFamily="34" charset="-128"/>
              </a:rPr>
              <a:t>FR-02</a:t>
            </a:r>
            <a:endParaRPr kumimoji="1" lang="ja-JP" altLang="en-US" sz="900">
              <a:solidFill>
                <a:schemeClr val="bg1"/>
              </a:solidFill>
              <a:latin typeface="Meiryo UI" panose="020B0604030504040204" pitchFamily="34" charset="-128"/>
              <a:ea typeface="Meiryo UI" panose="020B0604030504040204" pitchFamily="34" charset="-128"/>
            </a:endParaRPr>
          </a:p>
        </p:txBody>
      </p:sp>
      <p:sp>
        <p:nvSpPr>
          <p:cNvPr id="57" name="テキスト ボックス 56">
            <a:extLst>
              <a:ext uri="{FF2B5EF4-FFF2-40B4-BE49-F238E27FC236}">
                <a16:creationId xmlns:a16="http://schemas.microsoft.com/office/drawing/2014/main" id="{8864E2AB-DAFC-7C32-3AAC-4E4DB7B3C190}"/>
              </a:ext>
            </a:extLst>
          </p:cNvPr>
          <p:cNvSpPr txBox="1"/>
          <p:nvPr/>
        </p:nvSpPr>
        <p:spPr>
          <a:xfrm>
            <a:off x="7066761" y="2233585"/>
            <a:ext cx="893193" cy="230832"/>
          </a:xfrm>
          <a:prstGeom prst="rect">
            <a:avLst/>
          </a:prstGeom>
          <a:solidFill>
            <a:schemeClr val="tx1"/>
          </a:solidFill>
        </p:spPr>
        <p:txBody>
          <a:bodyPr wrap="none" rtlCol="0">
            <a:spAutoFit/>
          </a:bodyPr>
          <a:lstStyle/>
          <a:p>
            <a:r>
              <a:rPr lang="en-US" altLang="ja-JP" sz="900" dirty="0">
                <a:solidFill>
                  <a:schemeClr val="bg1"/>
                </a:solidFill>
                <a:latin typeface="Meiryo UI" panose="020B0604030504040204" pitchFamily="34" charset="-128"/>
                <a:ea typeface="Meiryo UI" panose="020B0604030504040204" pitchFamily="34" charset="-128"/>
              </a:rPr>
              <a:t>FR-05,06,07</a:t>
            </a:r>
            <a:endParaRPr kumimoji="1" lang="ja-JP" altLang="en-US" sz="900">
              <a:solidFill>
                <a:schemeClr val="bg1"/>
              </a:solidFill>
              <a:latin typeface="Meiryo UI" panose="020B0604030504040204" pitchFamily="34" charset="-128"/>
              <a:ea typeface="Meiryo UI" panose="020B0604030504040204" pitchFamily="34" charset="-128"/>
            </a:endParaRPr>
          </a:p>
        </p:txBody>
      </p:sp>
      <p:sp>
        <p:nvSpPr>
          <p:cNvPr id="58" name="テキスト ボックス 57">
            <a:extLst>
              <a:ext uri="{FF2B5EF4-FFF2-40B4-BE49-F238E27FC236}">
                <a16:creationId xmlns:a16="http://schemas.microsoft.com/office/drawing/2014/main" id="{355F8E4E-FE19-4422-500B-14C0211BADE4}"/>
              </a:ext>
            </a:extLst>
          </p:cNvPr>
          <p:cNvSpPr txBox="1"/>
          <p:nvPr/>
        </p:nvSpPr>
        <p:spPr>
          <a:xfrm>
            <a:off x="9075332" y="2233585"/>
            <a:ext cx="524503" cy="230832"/>
          </a:xfrm>
          <a:prstGeom prst="rect">
            <a:avLst/>
          </a:prstGeom>
          <a:solidFill>
            <a:schemeClr val="tx1"/>
          </a:solidFill>
        </p:spPr>
        <p:txBody>
          <a:bodyPr wrap="none" rtlCol="0">
            <a:spAutoFit/>
          </a:bodyPr>
          <a:lstStyle/>
          <a:p>
            <a:r>
              <a:rPr lang="en-US" altLang="ja-JP" sz="900" dirty="0">
                <a:solidFill>
                  <a:schemeClr val="bg1"/>
                </a:solidFill>
                <a:latin typeface="Meiryo UI" panose="020B0604030504040204" pitchFamily="34" charset="-128"/>
                <a:ea typeface="Meiryo UI" panose="020B0604030504040204" pitchFamily="34" charset="-128"/>
              </a:rPr>
              <a:t>FR-08</a:t>
            </a:r>
            <a:endParaRPr kumimoji="1" lang="ja-JP" altLang="en-US" sz="900">
              <a:solidFill>
                <a:schemeClr val="bg1"/>
              </a:solidFill>
              <a:latin typeface="Meiryo UI" panose="020B0604030504040204" pitchFamily="34" charset="-128"/>
              <a:ea typeface="Meiryo UI" panose="020B0604030504040204" pitchFamily="34" charset="-128"/>
            </a:endParaRPr>
          </a:p>
        </p:txBody>
      </p:sp>
      <p:sp>
        <p:nvSpPr>
          <p:cNvPr id="64" name="正方形/長方形 63">
            <a:extLst>
              <a:ext uri="{FF2B5EF4-FFF2-40B4-BE49-F238E27FC236}">
                <a16:creationId xmlns:a16="http://schemas.microsoft.com/office/drawing/2014/main" id="{B185C83D-52A5-8466-9FE9-793B9B13422B}"/>
              </a:ext>
            </a:extLst>
          </p:cNvPr>
          <p:cNvSpPr/>
          <p:nvPr/>
        </p:nvSpPr>
        <p:spPr>
          <a:xfrm>
            <a:off x="8029555" y="4642741"/>
            <a:ext cx="468531" cy="31398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800" dirty="0">
                <a:latin typeface="Meiryo UI" panose="020B0604030504040204" pitchFamily="34" charset="-128"/>
                <a:ea typeface="Meiryo UI" panose="020B0604030504040204" pitchFamily="34" charset="-128"/>
              </a:rPr>
              <a:t>No</a:t>
            </a:r>
            <a:endParaRPr kumimoji="1" lang="ja-JP" altLang="en-US" sz="800">
              <a:latin typeface="Meiryo UI" panose="020B0604030504040204" pitchFamily="34" charset="-128"/>
              <a:ea typeface="Meiryo UI" panose="020B0604030504040204" pitchFamily="34" charset="-128"/>
            </a:endParaRPr>
          </a:p>
        </p:txBody>
      </p:sp>
      <p:sp>
        <p:nvSpPr>
          <p:cNvPr id="65" name="正方形/長方形 64">
            <a:extLst>
              <a:ext uri="{FF2B5EF4-FFF2-40B4-BE49-F238E27FC236}">
                <a16:creationId xmlns:a16="http://schemas.microsoft.com/office/drawing/2014/main" id="{A98CC0F6-C904-D7AE-A23C-8947539429A1}"/>
              </a:ext>
            </a:extLst>
          </p:cNvPr>
          <p:cNvSpPr/>
          <p:nvPr/>
        </p:nvSpPr>
        <p:spPr>
          <a:xfrm>
            <a:off x="8498086" y="4642741"/>
            <a:ext cx="575695" cy="31398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800">
                <a:latin typeface="Meiryo UI" panose="020B0604030504040204" pitchFamily="34" charset="-128"/>
                <a:ea typeface="Meiryo UI" panose="020B0604030504040204" pitchFamily="34" charset="-128"/>
              </a:rPr>
              <a:t>お名前</a:t>
            </a:r>
          </a:p>
        </p:txBody>
      </p:sp>
      <p:sp>
        <p:nvSpPr>
          <p:cNvPr id="67" name="正方形/長方形 66">
            <a:extLst>
              <a:ext uri="{FF2B5EF4-FFF2-40B4-BE49-F238E27FC236}">
                <a16:creationId xmlns:a16="http://schemas.microsoft.com/office/drawing/2014/main" id="{7932EACC-0E94-6818-482A-B342EE3BD1BD}"/>
              </a:ext>
            </a:extLst>
          </p:cNvPr>
          <p:cNvSpPr/>
          <p:nvPr/>
        </p:nvSpPr>
        <p:spPr>
          <a:xfrm>
            <a:off x="9073781" y="4642741"/>
            <a:ext cx="575695" cy="31398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800" dirty="0">
                <a:latin typeface="Meiryo UI" panose="020B0604030504040204" pitchFamily="34" charset="-128"/>
                <a:ea typeface="Meiryo UI" panose="020B0604030504040204" pitchFamily="34" charset="-128"/>
              </a:rPr>
              <a:t>Email</a:t>
            </a:r>
            <a:endParaRPr kumimoji="1" lang="ja-JP" altLang="en-US" sz="800">
              <a:latin typeface="Meiryo UI" panose="020B0604030504040204" pitchFamily="34" charset="-128"/>
              <a:ea typeface="Meiryo UI" panose="020B0604030504040204" pitchFamily="34" charset="-128"/>
            </a:endParaRPr>
          </a:p>
        </p:txBody>
      </p:sp>
      <p:sp>
        <p:nvSpPr>
          <p:cNvPr id="70" name="正方形/長方形 69">
            <a:extLst>
              <a:ext uri="{FF2B5EF4-FFF2-40B4-BE49-F238E27FC236}">
                <a16:creationId xmlns:a16="http://schemas.microsoft.com/office/drawing/2014/main" id="{4A0CE134-21AC-A79D-61AC-DB61BC243966}"/>
              </a:ext>
            </a:extLst>
          </p:cNvPr>
          <p:cNvSpPr/>
          <p:nvPr/>
        </p:nvSpPr>
        <p:spPr>
          <a:xfrm>
            <a:off x="9649476" y="4642741"/>
            <a:ext cx="575695" cy="31398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800">
                <a:latin typeface="Meiryo UI" panose="020B0604030504040204" pitchFamily="34" charset="-128"/>
                <a:ea typeface="Meiryo UI" panose="020B0604030504040204" pitchFamily="34" charset="-128"/>
              </a:rPr>
              <a:t>お問合せ内容</a:t>
            </a:r>
            <a:endParaRPr kumimoji="1" lang="ja-JP" altLang="en-US" sz="800">
              <a:latin typeface="Meiryo UI" panose="020B0604030504040204" pitchFamily="34" charset="-128"/>
              <a:ea typeface="Meiryo UI" panose="020B0604030504040204" pitchFamily="34" charset="-128"/>
            </a:endParaRPr>
          </a:p>
        </p:txBody>
      </p:sp>
      <p:sp>
        <p:nvSpPr>
          <p:cNvPr id="71" name="正方形/長方形 70">
            <a:extLst>
              <a:ext uri="{FF2B5EF4-FFF2-40B4-BE49-F238E27FC236}">
                <a16:creationId xmlns:a16="http://schemas.microsoft.com/office/drawing/2014/main" id="{26BEFECA-16E6-A091-496D-90A0B12C5309}"/>
              </a:ext>
            </a:extLst>
          </p:cNvPr>
          <p:cNvSpPr/>
          <p:nvPr/>
        </p:nvSpPr>
        <p:spPr>
          <a:xfrm>
            <a:off x="10225171" y="4642741"/>
            <a:ext cx="575695" cy="31398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800">
                <a:latin typeface="Meiryo UI" panose="020B0604030504040204" pitchFamily="34" charset="-128"/>
                <a:ea typeface="Meiryo UI" panose="020B0604030504040204" pitchFamily="34" charset="-128"/>
              </a:rPr>
              <a:t>ステータス</a:t>
            </a:r>
          </a:p>
        </p:txBody>
      </p:sp>
      <p:sp>
        <p:nvSpPr>
          <p:cNvPr id="72" name="正方形/長方形 71">
            <a:extLst>
              <a:ext uri="{FF2B5EF4-FFF2-40B4-BE49-F238E27FC236}">
                <a16:creationId xmlns:a16="http://schemas.microsoft.com/office/drawing/2014/main" id="{03E306E3-4C47-EBEF-5754-599B2F7DD220}"/>
              </a:ext>
            </a:extLst>
          </p:cNvPr>
          <p:cNvSpPr/>
          <p:nvPr/>
        </p:nvSpPr>
        <p:spPr>
          <a:xfrm>
            <a:off x="10800866" y="4642741"/>
            <a:ext cx="575695" cy="31398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800">
                <a:latin typeface="Meiryo UI" panose="020B0604030504040204" pitchFamily="34" charset="-128"/>
                <a:ea typeface="Meiryo UI" panose="020B0604030504040204" pitchFamily="34" charset="-128"/>
              </a:rPr>
              <a:t>受付</a:t>
            </a:r>
            <a:endParaRPr kumimoji="1" lang="en-US" altLang="ja-JP" sz="800" dirty="0">
              <a:latin typeface="Meiryo UI" panose="020B0604030504040204" pitchFamily="34" charset="-128"/>
              <a:ea typeface="Meiryo UI" panose="020B0604030504040204" pitchFamily="34" charset="-128"/>
            </a:endParaRPr>
          </a:p>
          <a:p>
            <a:pPr algn="ctr"/>
            <a:r>
              <a:rPr kumimoji="1" lang="ja-JP" altLang="en-US" sz="800">
                <a:latin typeface="Meiryo UI" panose="020B0604030504040204" pitchFamily="34" charset="-128"/>
                <a:ea typeface="Meiryo UI" panose="020B0604030504040204" pitchFamily="34" charset="-128"/>
              </a:rPr>
              <a:t>日次</a:t>
            </a:r>
          </a:p>
        </p:txBody>
      </p:sp>
      <p:sp>
        <p:nvSpPr>
          <p:cNvPr id="73" name="正方形/長方形 72">
            <a:extLst>
              <a:ext uri="{FF2B5EF4-FFF2-40B4-BE49-F238E27FC236}">
                <a16:creationId xmlns:a16="http://schemas.microsoft.com/office/drawing/2014/main" id="{F0CF70B9-7AAB-8C17-55BD-5C748AEA8EB9}"/>
              </a:ext>
            </a:extLst>
          </p:cNvPr>
          <p:cNvSpPr/>
          <p:nvPr/>
        </p:nvSpPr>
        <p:spPr>
          <a:xfrm>
            <a:off x="8029555" y="4956723"/>
            <a:ext cx="468531"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74" name="正方形/長方形 73">
            <a:extLst>
              <a:ext uri="{FF2B5EF4-FFF2-40B4-BE49-F238E27FC236}">
                <a16:creationId xmlns:a16="http://schemas.microsoft.com/office/drawing/2014/main" id="{0FAE4DD4-DE54-072B-B9E2-8950ED5870D4}"/>
              </a:ext>
            </a:extLst>
          </p:cNvPr>
          <p:cNvSpPr/>
          <p:nvPr/>
        </p:nvSpPr>
        <p:spPr>
          <a:xfrm>
            <a:off x="8498086" y="49567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75" name="正方形/長方形 74">
            <a:extLst>
              <a:ext uri="{FF2B5EF4-FFF2-40B4-BE49-F238E27FC236}">
                <a16:creationId xmlns:a16="http://schemas.microsoft.com/office/drawing/2014/main" id="{78EC6D70-65CC-6AE9-4302-CBB5B4F6E2CF}"/>
              </a:ext>
            </a:extLst>
          </p:cNvPr>
          <p:cNvSpPr/>
          <p:nvPr/>
        </p:nvSpPr>
        <p:spPr>
          <a:xfrm>
            <a:off x="9073781" y="49567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76" name="正方形/長方形 75">
            <a:extLst>
              <a:ext uri="{FF2B5EF4-FFF2-40B4-BE49-F238E27FC236}">
                <a16:creationId xmlns:a16="http://schemas.microsoft.com/office/drawing/2014/main" id="{C6324753-802B-A538-856F-1302BA2CDC27}"/>
              </a:ext>
            </a:extLst>
          </p:cNvPr>
          <p:cNvSpPr/>
          <p:nvPr/>
        </p:nvSpPr>
        <p:spPr>
          <a:xfrm>
            <a:off x="9649476" y="49567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77" name="正方形/長方形 76">
            <a:extLst>
              <a:ext uri="{FF2B5EF4-FFF2-40B4-BE49-F238E27FC236}">
                <a16:creationId xmlns:a16="http://schemas.microsoft.com/office/drawing/2014/main" id="{4520B20C-7647-9685-2634-DEB81FCEAA34}"/>
              </a:ext>
            </a:extLst>
          </p:cNvPr>
          <p:cNvSpPr/>
          <p:nvPr/>
        </p:nvSpPr>
        <p:spPr>
          <a:xfrm>
            <a:off x="10225171" y="49567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78" name="正方形/長方形 77">
            <a:extLst>
              <a:ext uri="{FF2B5EF4-FFF2-40B4-BE49-F238E27FC236}">
                <a16:creationId xmlns:a16="http://schemas.microsoft.com/office/drawing/2014/main" id="{F4EE1907-660B-5411-C104-11FCE88CE894}"/>
              </a:ext>
            </a:extLst>
          </p:cNvPr>
          <p:cNvSpPr/>
          <p:nvPr/>
        </p:nvSpPr>
        <p:spPr>
          <a:xfrm>
            <a:off x="10800866" y="49567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79" name="正方形/長方形 78">
            <a:extLst>
              <a:ext uri="{FF2B5EF4-FFF2-40B4-BE49-F238E27FC236}">
                <a16:creationId xmlns:a16="http://schemas.microsoft.com/office/drawing/2014/main" id="{F863D19A-D6E1-9C66-DF17-7201A0213F60}"/>
              </a:ext>
            </a:extLst>
          </p:cNvPr>
          <p:cNvSpPr/>
          <p:nvPr/>
        </p:nvSpPr>
        <p:spPr>
          <a:xfrm>
            <a:off x="8029555" y="5183423"/>
            <a:ext cx="468531"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80" name="正方形/長方形 79">
            <a:extLst>
              <a:ext uri="{FF2B5EF4-FFF2-40B4-BE49-F238E27FC236}">
                <a16:creationId xmlns:a16="http://schemas.microsoft.com/office/drawing/2014/main" id="{BEB5CD1D-48AD-A603-6855-0DA650EA47FC}"/>
              </a:ext>
            </a:extLst>
          </p:cNvPr>
          <p:cNvSpPr/>
          <p:nvPr/>
        </p:nvSpPr>
        <p:spPr>
          <a:xfrm>
            <a:off x="8498086" y="51834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81" name="正方形/長方形 80">
            <a:extLst>
              <a:ext uri="{FF2B5EF4-FFF2-40B4-BE49-F238E27FC236}">
                <a16:creationId xmlns:a16="http://schemas.microsoft.com/office/drawing/2014/main" id="{DC5B7585-3D7B-1024-BECA-3F0EBE72CABA}"/>
              </a:ext>
            </a:extLst>
          </p:cNvPr>
          <p:cNvSpPr/>
          <p:nvPr/>
        </p:nvSpPr>
        <p:spPr>
          <a:xfrm>
            <a:off x="9073781" y="51834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82" name="正方形/長方形 81">
            <a:extLst>
              <a:ext uri="{FF2B5EF4-FFF2-40B4-BE49-F238E27FC236}">
                <a16:creationId xmlns:a16="http://schemas.microsoft.com/office/drawing/2014/main" id="{4E29FF37-0EB8-697C-51CD-A9479D65B53F}"/>
              </a:ext>
            </a:extLst>
          </p:cNvPr>
          <p:cNvSpPr/>
          <p:nvPr/>
        </p:nvSpPr>
        <p:spPr>
          <a:xfrm>
            <a:off x="9649476" y="51834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83" name="正方形/長方形 82">
            <a:extLst>
              <a:ext uri="{FF2B5EF4-FFF2-40B4-BE49-F238E27FC236}">
                <a16:creationId xmlns:a16="http://schemas.microsoft.com/office/drawing/2014/main" id="{CAF76F6D-AEFF-170D-2417-0828C46513D5}"/>
              </a:ext>
            </a:extLst>
          </p:cNvPr>
          <p:cNvSpPr/>
          <p:nvPr/>
        </p:nvSpPr>
        <p:spPr>
          <a:xfrm>
            <a:off x="10225171" y="51834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84" name="正方形/長方形 83">
            <a:extLst>
              <a:ext uri="{FF2B5EF4-FFF2-40B4-BE49-F238E27FC236}">
                <a16:creationId xmlns:a16="http://schemas.microsoft.com/office/drawing/2014/main" id="{C5C1F127-7815-FBF2-C3DF-7917B37333A1}"/>
              </a:ext>
            </a:extLst>
          </p:cNvPr>
          <p:cNvSpPr/>
          <p:nvPr/>
        </p:nvSpPr>
        <p:spPr>
          <a:xfrm>
            <a:off x="10800866" y="518342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91" name="正方形/長方形 90">
            <a:extLst>
              <a:ext uri="{FF2B5EF4-FFF2-40B4-BE49-F238E27FC236}">
                <a16:creationId xmlns:a16="http://schemas.microsoft.com/office/drawing/2014/main" id="{40365DBE-400F-AAEA-6DAE-D142047CC0CF}"/>
              </a:ext>
            </a:extLst>
          </p:cNvPr>
          <p:cNvSpPr/>
          <p:nvPr/>
        </p:nvSpPr>
        <p:spPr>
          <a:xfrm>
            <a:off x="8029555" y="5409383"/>
            <a:ext cx="468531"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92" name="正方形/長方形 91">
            <a:extLst>
              <a:ext uri="{FF2B5EF4-FFF2-40B4-BE49-F238E27FC236}">
                <a16:creationId xmlns:a16="http://schemas.microsoft.com/office/drawing/2014/main" id="{2965D61C-32D0-5F86-979A-E1297C7802C8}"/>
              </a:ext>
            </a:extLst>
          </p:cNvPr>
          <p:cNvSpPr/>
          <p:nvPr/>
        </p:nvSpPr>
        <p:spPr>
          <a:xfrm>
            <a:off x="8498086" y="540938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93" name="正方形/長方形 92">
            <a:extLst>
              <a:ext uri="{FF2B5EF4-FFF2-40B4-BE49-F238E27FC236}">
                <a16:creationId xmlns:a16="http://schemas.microsoft.com/office/drawing/2014/main" id="{A7314A82-0D0F-D7D1-1D16-5150CDB75E22}"/>
              </a:ext>
            </a:extLst>
          </p:cNvPr>
          <p:cNvSpPr/>
          <p:nvPr/>
        </p:nvSpPr>
        <p:spPr>
          <a:xfrm>
            <a:off x="9073781" y="540938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94" name="正方形/長方形 93">
            <a:extLst>
              <a:ext uri="{FF2B5EF4-FFF2-40B4-BE49-F238E27FC236}">
                <a16:creationId xmlns:a16="http://schemas.microsoft.com/office/drawing/2014/main" id="{2ABB65D6-6619-B946-8AFC-E794FF14B14B}"/>
              </a:ext>
            </a:extLst>
          </p:cNvPr>
          <p:cNvSpPr/>
          <p:nvPr/>
        </p:nvSpPr>
        <p:spPr>
          <a:xfrm>
            <a:off x="9649476" y="540938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95" name="正方形/長方形 94">
            <a:extLst>
              <a:ext uri="{FF2B5EF4-FFF2-40B4-BE49-F238E27FC236}">
                <a16:creationId xmlns:a16="http://schemas.microsoft.com/office/drawing/2014/main" id="{8BAB8E29-C7A5-C725-0E3B-B63F72D3F8D1}"/>
              </a:ext>
            </a:extLst>
          </p:cNvPr>
          <p:cNvSpPr/>
          <p:nvPr/>
        </p:nvSpPr>
        <p:spPr>
          <a:xfrm>
            <a:off x="10225171" y="540938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
        <p:nvSpPr>
          <p:cNvPr id="96" name="正方形/長方形 95">
            <a:extLst>
              <a:ext uri="{FF2B5EF4-FFF2-40B4-BE49-F238E27FC236}">
                <a16:creationId xmlns:a16="http://schemas.microsoft.com/office/drawing/2014/main" id="{FD3682D3-2712-31B6-0011-48E73BA13DF4}"/>
              </a:ext>
            </a:extLst>
          </p:cNvPr>
          <p:cNvSpPr/>
          <p:nvPr/>
        </p:nvSpPr>
        <p:spPr>
          <a:xfrm>
            <a:off x="10800866" y="5409383"/>
            <a:ext cx="575695" cy="230595"/>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8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95226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FB76A-D903-FA62-C118-177067DFBB05}"/>
              </a:ext>
            </a:extLst>
          </p:cNvPr>
          <p:cNvSpPr>
            <a:spLocks noGrp="1"/>
          </p:cNvSpPr>
          <p:nvPr>
            <p:ph type="title"/>
          </p:nvPr>
        </p:nvSpPr>
        <p:spPr/>
        <p:txBody>
          <a:bodyPr>
            <a:normAutofit fontScale="90000"/>
          </a:bodyPr>
          <a:lstStyle/>
          <a:p>
            <a:r>
              <a:rPr kumimoji="1" lang="ja-JP" altLang="en-US"/>
              <a:t>非機能要件</a:t>
            </a:r>
          </a:p>
        </p:txBody>
      </p:sp>
      <p:sp>
        <p:nvSpPr>
          <p:cNvPr id="4" name="フッター プレースホルダー 3">
            <a:extLst>
              <a:ext uri="{FF2B5EF4-FFF2-40B4-BE49-F238E27FC236}">
                <a16:creationId xmlns:a16="http://schemas.microsoft.com/office/drawing/2014/main" id="{75F3D536-D715-5485-D7EA-B448949FA2B1}"/>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1C22B9A1-F3DD-F517-60CC-951ED86AF727}"/>
              </a:ext>
            </a:extLst>
          </p:cNvPr>
          <p:cNvSpPr>
            <a:spLocks noGrp="1"/>
          </p:cNvSpPr>
          <p:nvPr>
            <p:ph type="sldNum" sz="quarter" idx="12"/>
          </p:nvPr>
        </p:nvSpPr>
        <p:spPr/>
        <p:txBody>
          <a:bodyPr/>
          <a:lstStyle/>
          <a:p>
            <a:fld id="{462052E6-07CA-9B46-B866-FDE18BF74505}" type="slidenum">
              <a:rPr lang="ja-JP" altLang="en-US" smtClean="0"/>
              <a:pPr/>
              <a:t>8</a:t>
            </a:fld>
            <a:endParaRPr lang="ja-JP" altLang="en-US"/>
          </a:p>
        </p:txBody>
      </p:sp>
      <p:sp>
        <p:nvSpPr>
          <p:cNvPr id="8" name="コンテンツ プレースホルダー 2">
            <a:extLst>
              <a:ext uri="{FF2B5EF4-FFF2-40B4-BE49-F238E27FC236}">
                <a16:creationId xmlns:a16="http://schemas.microsoft.com/office/drawing/2014/main" id="{7543A326-38E2-CB79-70B9-73A6BF0AB100}"/>
              </a:ext>
            </a:extLst>
          </p:cNvPr>
          <p:cNvSpPr>
            <a:spLocks noGrp="1"/>
          </p:cNvSpPr>
          <p:nvPr>
            <p:ph idx="1"/>
          </p:nvPr>
        </p:nvSpPr>
        <p:spPr>
          <a:xfrm>
            <a:off x="397565" y="805967"/>
            <a:ext cx="11396870" cy="504451"/>
          </a:xfrm>
        </p:spPr>
        <p:txBody>
          <a:bodyPr>
            <a:normAutofit/>
          </a:bodyPr>
          <a:lstStyle/>
          <a:p>
            <a:pPr>
              <a:lnSpc>
                <a:spcPct val="120000"/>
              </a:lnSpc>
            </a:pPr>
            <a:r>
              <a:rPr kumimoji="1" lang="ja-JP" altLang="en-US" sz="2000"/>
              <a:t>非機能要件では機能要件以外を定義するが、多岐に及ぶため以下</a:t>
            </a:r>
            <a:r>
              <a:rPr lang="ja-JP" altLang="en-US" sz="2000"/>
              <a:t>の方針で対応する</a:t>
            </a:r>
            <a:endParaRPr kumimoji="1" lang="en-US" altLang="ja-JP" sz="2000" dirty="0"/>
          </a:p>
          <a:p>
            <a:pPr marL="0" indent="0">
              <a:lnSpc>
                <a:spcPct val="120000"/>
              </a:lnSpc>
              <a:buNone/>
            </a:pPr>
            <a:endParaRPr kumimoji="1" lang="ja-JP" altLang="en-US" sz="2000"/>
          </a:p>
        </p:txBody>
      </p:sp>
      <p:sp>
        <p:nvSpPr>
          <p:cNvPr id="9" name="正方形/長方形 8">
            <a:extLst>
              <a:ext uri="{FF2B5EF4-FFF2-40B4-BE49-F238E27FC236}">
                <a16:creationId xmlns:a16="http://schemas.microsoft.com/office/drawing/2014/main" id="{23ACDD94-810D-0161-3064-DAC94F38F319}"/>
              </a:ext>
            </a:extLst>
          </p:cNvPr>
          <p:cNvSpPr/>
          <p:nvPr/>
        </p:nvSpPr>
        <p:spPr>
          <a:xfrm>
            <a:off x="397565" y="1310418"/>
            <a:ext cx="2105248" cy="39340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非機能要件</a:t>
            </a:r>
            <a:endParaRPr kumimoji="1" lang="ja-JP" altLang="en-US" sz="1200" dirty="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B686E711-DFCF-CBB1-C962-C5E3C900666D}"/>
              </a:ext>
            </a:extLst>
          </p:cNvPr>
          <p:cNvSpPr/>
          <p:nvPr/>
        </p:nvSpPr>
        <p:spPr>
          <a:xfrm>
            <a:off x="397565" y="1703822"/>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可用性（信頼性）</a:t>
            </a:r>
            <a:endParaRPr kumimoji="1" lang="ja-JP" altLang="en-US" sz="1050" dirty="0">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7439559A-E1F1-EC30-7E9D-DEFD75DF45D5}"/>
              </a:ext>
            </a:extLst>
          </p:cNvPr>
          <p:cNvSpPr/>
          <p:nvPr/>
        </p:nvSpPr>
        <p:spPr>
          <a:xfrm>
            <a:off x="397565" y="2097226"/>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性能</a:t>
            </a:r>
            <a:endParaRPr kumimoji="1" lang="ja-JP" altLang="en-US" sz="1050" dirty="0">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DF6738A2-F457-03EE-E0E6-39D994ACA671}"/>
              </a:ext>
            </a:extLst>
          </p:cNvPr>
          <p:cNvSpPr/>
          <p:nvPr/>
        </p:nvSpPr>
        <p:spPr>
          <a:xfrm>
            <a:off x="397565" y="2490630"/>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セキュリティー</a:t>
            </a:r>
            <a:endParaRPr kumimoji="1" lang="ja-JP" altLang="en-US" sz="1050" dirty="0">
              <a:latin typeface="Meiryo UI" panose="020B0604030504040204" pitchFamily="34" charset="-128"/>
              <a:ea typeface="Meiryo UI" panose="020B0604030504040204" pitchFamily="34" charset="-128"/>
            </a:endParaRPr>
          </a:p>
        </p:txBody>
      </p:sp>
      <p:sp>
        <p:nvSpPr>
          <p:cNvPr id="14" name="正方形/長方形 13">
            <a:extLst>
              <a:ext uri="{FF2B5EF4-FFF2-40B4-BE49-F238E27FC236}">
                <a16:creationId xmlns:a16="http://schemas.microsoft.com/office/drawing/2014/main" id="{7720D3D7-C348-41F2-5815-BDB7F6E44625}"/>
              </a:ext>
            </a:extLst>
          </p:cNvPr>
          <p:cNvSpPr/>
          <p:nvPr/>
        </p:nvSpPr>
        <p:spPr>
          <a:xfrm>
            <a:off x="397565" y="3670842"/>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プロジェクト上の留意事項</a:t>
            </a:r>
            <a:endParaRPr kumimoji="1" lang="ja-JP" altLang="en-US" sz="1050" dirty="0">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F0588052-B7B3-2E74-4397-7BD3593B7D5C}"/>
              </a:ext>
            </a:extLst>
          </p:cNvPr>
          <p:cNvSpPr/>
          <p:nvPr/>
        </p:nvSpPr>
        <p:spPr>
          <a:xfrm>
            <a:off x="397565" y="4064246"/>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環境・エコロジー</a:t>
            </a:r>
            <a:endParaRPr kumimoji="1" lang="ja-JP" altLang="en-US" sz="1050" dirty="0">
              <a:latin typeface="Meiryo UI" panose="020B0604030504040204" pitchFamily="34" charset="-128"/>
              <a:ea typeface="Meiryo UI" panose="020B0604030504040204" pitchFamily="34" charset="-128"/>
            </a:endParaRPr>
          </a:p>
        </p:txBody>
      </p:sp>
      <p:sp>
        <p:nvSpPr>
          <p:cNvPr id="16" name="正方形/長方形 15">
            <a:extLst>
              <a:ext uri="{FF2B5EF4-FFF2-40B4-BE49-F238E27FC236}">
                <a16:creationId xmlns:a16="http://schemas.microsoft.com/office/drawing/2014/main" id="{3A0C370C-5E94-FCB9-7802-AE2779330276}"/>
              </a:ext>
            </a:extLst>
          </p:cNvPr>
          <p:cNvSpPr/>
          <p:nvPr/>
        </p:nvSpPr>
        <p:spPr>
          <a:xfrm>
            <a:off x="397565" y="4457650"/>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アクセシビリティー</a:t>
            </a:r>
            <a:endParaRPr kumimoji="1" lang="ja-JP" altLang="en-US" sz="1050" dirty="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7FA37B46-DEB5-AD26-5059-50E0FB159715}"/>
              </a:ext>
            </a:extLst>
          </p:cNvPr>
          <p:cNvSpPr/>
          <p:nvPr/>
        </p:nvSpPr>
        <p:spPr>
          <a:xfrm>
            <a:off x="397565" y="4851054"/>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操作性（使いやすさ）</a:t>
            </a:r>
            <a:endParaRPr kumimoji="1" lang="ja-JP" altLang="en-US" sz="1050" dirty="0">
              <a:latin typeface="Meiryo UI" panose="020B0604030504040204" pitchFamily="34" charset="-128"/>
              <a:ea typeface="Meiryo UI" panose="020B0604030504040204" pitchFamily="34" charset="-128"/>
            </a:endParaRPr>
          </a:p>
        </p:txBody>
      </p:sp>
      <p:sp>
        <p:nvSpPr>
          <p:cNvPr id="19" name="正方形/長方形 18">
            <a:extLst>
              <a:ext uri="{FF2B5EF4-FFF2-40B4-BE49-F238E27FC236}">
                <a16:creationId xmlns:a16="http://schemas.microsoft.com/office/drawing/2014/main" id="{66CD212D-4A19-EAC3-EF31-9C8886FA1123}"/>
              </a:ext>
            </a:extLst>
          </p:cNvPr>
          <p:cNvSpPr/>
          <p:nvPr/>
        </p:nvSpPr>
        <p:spPr>
          <a:xfrm>
            <a:off x="397565" y="2884034"/>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移行性</a:t>
            </a:r>
            <a:endParaRPr kumimoji="1" lang="ja-JP" altLang="en-US" sz="1050" dirty="0">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577D4A01-3C94-E863-252D-E1FF56B821E6}"/>
              </a:ext>
            </a:extLst>
          </p:cNvPr>
          <p:cNvSpPr/>
          <p:nvPr/>
        </p:nvSpPr>
        <p:spPr>
          <a:xfrm>
            <a:off x="397565" y="3277438"/>
            <a:ext cx="210524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保守性</a:t>
            </a:r>
            <a:endParaRPr kumimoji="1" lang="ja-JP" altLang="en-US" sz="1050" dirty="0">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F90206C1-E183-8EFC-1F0F-B2A7979731EB}"/>
              </a:ext>
            </a:extLst>
          </p:cNvPr>
          <p:cNvSpPr/>
          <p:nvPr/>
        </p:nvSpPr>
        <p:spPr>
          <a:xfrm>
            <a:off x="3651131" y="1310418"/>
            <a:ext cx="1148318" cy="39340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個別定義対象</a:t>
            </a:r>
            <a:endParaRPr kumimoji="1" lang="ja-JP" altLang="en-US" sz="1200" dirty="0">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595AEE24-A207-E5C8-EBBC-BD7036DB26C9}"/>
              </a:ext>
            </a:extLst>
          </p:cNvPr>
          <p:cNvSpPr/>
          <p:nvPr/>
        </p:nvSpPr>
        <p:spPr>
          <a:xfrm>
            <a:off x="3651131" y="1703822"/>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23" name="正方形/長方形 22">
            <a:extLst>
              <a:ext uri="{FF2B5EF4-FFF2-40B4-BE49-F238E27FC236}">
                <a16:creationId xmlns:a16="http://schemas.microsoft.com/office/drawing/2014/main" id="{C5214442-503A-DAD5-A2D8-31D5B40AEC4C}"/>
              </a:ext>
            </a:extLst>
          </p:cNvPr>
          <p:cNvSpPr/>
          <p:nvPr/>
        </p:nvSpPr>
        <p:spPr>
          <a:xfrm>
            <a:off x="3651131" y="2097226"/>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24" name="正方形/長方形 23">
            <a:extLst>
              <a:ext uri="{FF2B5EF4-FFF2-40B4-BE49-F238E27FC236}">
                <a16:creationId xmlns:a16="http://schemas.microsoft.com/office/drawing/2014/main" id="{8F7813EF-C1FB-52CD-EDB8-3554B07EDA0A}"/>
              </a:ext>
            </a:extLst>
          </p:cNvPr>
          <p:cNvSpPr/>
          <p:nvPr/>
        </p:nvSpPr>
        <p:spPr>
          <a:xfrm>
            <a:off x="3651131" y="2490630"/>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25" name="正方形/長方形 24">
            <a:extLst>
              <a:ext uri="{FF2B5EF4-FFF2-40B4-BE49-F238E27FC236}">
                <a16:creationId xmlns:a16="http://schemas.microsoft.com/office/drawing/2014/main" id="{D44DEB1A-ECAA-7902-EF1C-1E27AAC975EE}"/>
              </a:ext>
            </a:extLst>
          </p:cNvPr>
          <p:cNvSpPr/>
          <p:nvPr/>
        </p:nvSpPr>
        <p:spPr>
          <a:xfrm>
            <a:off x="3651131" y="3670842"/>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26" name="正方形/長方形 25">
            <a:extLst>
              <a:ext uri="{FF2B5EF4-FFF2-40B4-BE49-F238E27FC236}">
                <a16:creationId xmlns:a16="http://schemas.microsoft.com/office/drawing/2014/main" id="{EAC1B2C0-7627-26FE-E5D6-9F1891B44401}"/>
              </a:ext>
            </a:extLst>
          </p:cNvPr>
          <p:cNvSpPr/>
          <p:nvPr/>
        </p:nvSpPr>
        <p:spPr>
          <a:xfrm>
            <a:off x="3651131" y="4064246"/>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050" dirty="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27" name="正方形/長方形 26">
            <a:extLst>
              <a:ext uri="{FF2B5EF4-FFF2-40B4-BE49-F238E27FC236}">
                <a16:creationId xmlns:a16="http://schemas.microsoft.com/office/drawing/2014/main" id="{0985B91F-816A-3714-3D74-A453F0C55BB3}"/>
              </a:ext>
            </a:extLst>
          </p:cNvPr>
          <p:cNvSpPr/>
          <p:nvPr/>
        </p:nvSpPr>
        <p:spPr>
          <a:xfrm>
            <a:off x="3651131" y="4457650"/>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050" dirty="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28" name="正方形/長方形 27">
            <a:extLst>
              <a:ext uri="{FF2B5EF4-FFF2-40B4-BE49-F238E27FC236}">
                <a16:creationId xmlns:a16="http://schemas.microsoft.com/office/drawing/2014/main" id="{95403C8A-885C-7B3A-C6CD-53BAB0DDF4F5}"/>
              </a:ext>
            </a:extLst>
          </p:cNvPr>
          <p:cNvSpPr/>
          <p:nvPr/>
        </p:nvSpPr>
        <p:spPr>
          <a:xfrm>
            <a:off x="3651131" y="4851054"/>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050" dirty="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29" name="正方形/長方形 28">
            <a:extLst>
              <a:ext uri="{FF2B5EF4-FFF2-40B4-BE49-F238E27FC236}">
                <a16:creationId xmlns:a16="http://schemas.microsoft.com/office/drawing/2014/main" id="{FA6B9ADC-911F-0F52-78F2-68831604B29A}"/>
              </a:ext>
            </a:extLst>
          </p:cNvPr>
          <p:cNvSpPr/>
          <p:nvPr/>
        </p:nvSpPr>
        <p:spPr>
          <a:xfrm>
            <a:off x="3651131" y="2884034"/>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30" name="正方形/長方形 29">
            <a:extLst>
              <a:ext uri="{FF2B5EF4-FFF2-40B4-BE49-F238E27FC236}">
                <a16:creationId xmlns:a16="http://schemas.microsoft.com/office/drawing/2014/main" id="{BF269DE5-9D3D-C9A4-B14D-1AEB7E6CA9AB}"/>
              </a:ext>
            </a:extLst>
          </p:cNvPr>
          <p:cNvSpPr/>
          <p:nvPr/>
        </p:nvSpPr>
        <p:spPr>
          <a:xfrm>
            <a:off x="3651131" y="3277438"/>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050" dirty="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31" name="正方形/長方形 30">
            <a:extLst>
              <a:ext uri="{FF2B5EF4-FFF2-40B4-BE49-F238E27FC236}">
                <a16:creationId xmlns:a16="http://schemas.microsoft.com/office/drawing/2014/main" id="{0D2E7B1A-0B07-7443-60F6-411937271D1F}"/>
              </a:ext>
            </a:extLst>
          </p:cNvPr>
          <p:cNvSpPr/>
          <p:nvPr/>
        </p:nvSpPr>
        <p:spPr>
          <a:xfrm>
            <a:off x="2502813" y="1310418"/>
            <a:ext cx="1148318" cy="39340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管理番号</a:t>
            </a:r>
            <a:endParaRPr kumimoji="1" lang="ja-JP" altLang="en-US" sz="1200" dirty="0">
              <a:latin typeface="Meiryo UI" panose="020B0604030504040204" pitchFamily="34" charset="-128"/>
              <a:ea typeface="Meiryo UI" panose="020B0604030504040204" pitchFamily="34" charset="-128"/>
            </a:endParaRPr>
          </a:p>
        </p:txBody>
      </p:sp>
      <p:sp>
        <p:nvSpPr>
          <p:cNvPr id="32" name="正方形/長方形 31">
            <a:extLst>
              <a:ext uri="{FF2B5EF4-FFF2-40B4-BE49-F238E27FC236}">
                <a16:creationId xmlns:a16="http://schemas.microsoft.com/office/drawing/2014/main" id="{BFF07F7C-4BF4-2DF1-5DCC-A9D8D706D070}"/>
              </a:ext>
            </a:extLst>
          </p:cNvPr>
          <p:cNvSpPr/>
          <p:nvPr/>
        </p:nvSpPr>
        <p:spPr>
          <a:xfrm>
            <a:off x="2502813" y="1703822"/>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050" dirty="0">
                <a:latin typeface="Meiryo UI" panose="020B0604030504040204" pitchFamily="34" charset="-128"/>
                <a:ea typeface="Meiryo UI" panose="020B0604030504040204" pitchFamily="34" charset="-128"/>
              </a:rPr>
              <a:t>NR-01</a:t>
            </a:r>
            <a:endParaRPr kumimoji="1" lang="ja-JP" altLang="en-US" sz="1050" dirty="0">
              <a:latin typeface="Meiryo UI" panose="020B0604030504040204" pitchFamily="34" charset="-128"/>
              <a:ea typeface="Meiryo UI" panose="020B0604030504040204" pitchFamily="34" charset="-128"/>
            </a:endParaRPr>
          </a:p>
        </p:txBody>
      </p:sp>
      <p:sp>
        <p:nvSpPr>
          <p:cNvPr id="33" name="正方形/長方形 32">
            <a:extLst>
              <a:ext uri="{FF2B5EF4-FFF2-40B4-BE49-F238E27FC236}">
                <a16:creationId xmlns:a16="http://schemas.microsoft.com/office/drawing/2014/main" id="{8DE1181A-05A4-C53F-F02F-BDDB5094A2EC}"/>
              </a:ext>
            </a:extLst>
          </p:cNvPr>
          <p:cNvSpPr/>
          <p:nvPr/>
        </p:nvSpPr>
        <p:spPr>
          <a:xfrm>
            <a:off x="2502813" y="2097226"/>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050" dirty="0">
                <a:latin typeface="Meiryo UI" panose="020B0604030504040204" pitchFamily="34" charset="-128"/>
                <a:ea typeface="Meiryo UI" panose="020B0604030504040204" pitchFamily="34" charset="-128"/>
              </a:rPr>
              <a:t>NR-02</a:t>
            </a:r>
            <a:endParaRPr kumimoji="1" lang="ja-JP" altLang="en-US" sz="1050" dirty="0">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034E7B85-7D05-39F4-3DBD-7477535BAC2D}"/>
              </a:ext>
            </a:extLst>
          </p:cNvPr>
          <p:cNvSpPr/>
          <p:nvPr/>
        </p:nvSpPr>
        <p:spPr>
          <a:xfrm>
            <a:off x="2502813" y="2490630"/>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NR-03</a:t>
            </a:r>
            <a:endParaRPr lang="ja-JP" altLang="en-US" sz="1050" dirty="0">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7DDAA876-702B-259A-F715-93B01F8D6D7C}"/>
              </a:ext>
            </a:extLst>
          </p:cNvPr>
          <p:cNvSpPr/>
          <p:nvPr/>
        </p:nvSpPr>
        <p:spPr>
          <a:xfrm>
            <a:off x="2502813" y="3670842"/>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NR-06</a:t>
            </a:r>
            <a:endParaRPr lang="ja-JP" altLang="en-US" sz="1050" dirty="0">
              <a:latin typeface="Meiryo UI" panose="020B0604030504040204" pitchFamily="34" charset="-128"/>
              <a:ea typeface="Meiryo UI" panose="020B0604030504040204" pitchFamily="34" charset="-128"/>
            </a:endParaRPr>
          </a:p>
        </p:txBody>
      </p:sp>
      <p:sp>
        <p:nvSpPr>
          <p:cNvPr id="36" name="正方形/長方形 35">
            <a:extLst>
              <a:ext uri="{FF2B5EF4-FFF2-40B4-BE49-F238E27FC236}">
                <a16:creationId xmlns:a16="http://schemas.microsoft.com/office/drawing/2014/main" id="{36E6D19C-5691-5EEE-641C-26EEACFC94AF}"/>
              </a:ext>
            </a:extLst>
          </p:cNvPr>
          <p:cNvSpPr/>
          <p:nvPr/>
        </p:nvSpPr>
        <p:spPr>
          <a:xfrm>
            <a:off x="2502813" y="4064246"/>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NR-07</a:t>
            </a:r>
            <a:endParaRPr lang="ja-JP" altLang="en-US" sz="1050" dirty="0">
              <a:latin typeface="Meiryo UI" panose="020B0604030504040204" pitchFamily="34" charset="-128"/>
              <a:ea typeface="Meiryo UI" panose="020B0604030504040204" pitchFamily="34" charset="-128"/>
            </a:endParaRPr>
          </a:p>
        </p:txBody>
      </p:sp>
      <p:sp>
        <p:nvSpPr>
          <p:cNvPr id="37" name="正方形/長方形 36">
            <a:extLst>
              <a:ext uri="{FF2B5EF4-FFF2-40B4-BE49-F238E27FC236}">
                <a16:creationId xmlns:a16="http://schemas.microsoft.com/office/drawing/2014/main" id="{38C7E651-3A94-395A-CBEC-DD5DB7BC3BEA}"/>
              </a:ext>
            </a:extLst>
          </p:cNvPr>
          <p:cNvSpPr/>
          <p:nvPr/>
        </p:nvSpPr>
        <p:spPr>
          <a:xfrm>
            <a:off x="2502813" y="4457650"/>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NR-08</a:t>
            </a:r>
            <a:endParaRPr lang="ja-JP" altLang="en-US" sz="1050" dirty="0">
              <a:latin typeface="Meiryo UI" panose="020B0604030504040204" pitchFamily="34" charset="-128"/>
              <a:ea typeface="Meiryo UI" panose="020B0604030504040204" pitchFamily="34" charset="-128"/>
            </a:endParaRPr>
          </a:p>
        </p:txBody>
      </p:sp>
      <p:sp>
        <p:nvSpPr>
          <p:cNvPr id="38" name="正方形/長方形 37">
            <a:extLst>
              <a:ext uri="{FF2B5EF4-FFF2-40B4-BE49-F238E27FC236}">
                <a16:creationId xmlns:a16="http://schemas.microsoft.com/office/drawing/2014/main" id="{04F57DE1-4368-0189-307E-95377C6A54E1}"/>
              </a:ext>
            </a:extLst>
          </p:cNvPr>
          <p:cNvSpPr/>
          <p:nvPr/>
        </p:nvSpPr>
        <p:spPr>
          <a:xfrm>
            <a:off x="2502813" y="4851054"/>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NR-09</a:t>
            </a:r>
            <a:endParaRPr lang="ja-JP" altLang="en-US" sz="1050" dirty="0">
              <a:latin typeface="Meiryo UI" panose="020B0604030504040204" pitchFamily="34" charset="-128"/>
              <a:ea typeface="Meiryo UI" panose="020B0604030504040204" pitchFamily="34" charset="-128"/>
            </a:endParaRPr>
          </a:p>
        </p:txBody>
      </p:sp>
      <p:sp>
        <p:nvSpPr>
          <p:cNvPr id="39" name="正方形/長方形 38">
            <a:extLst>
              <a:ext uri="{FF2B5EF4-FFF2-40B4-BE49-F238E27FC236}">
                <a16:creationId xmlns:a16="http://schemas.microsoft.com/office/drawing/2014/main" id="{9C0F1BBE-1DA1-10E0-62A7-57EF88BF4B7E}"/>
              </a:ext>
            </a:extLst>
          </p:cNvPr>
          <p:cNvSpPr/>
          <p:nvPr/>
        </p:nvSpPr>
        <p:spPr>
          <a:xfrm>
            <a:off x="2502813" y="2884034"/>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NR-04</a:t>
            </a:r>
            <a:endParaRPr lang="ja-JP" altLang="en-US" sz="1050" dirty="0">
              <a:latin typeface="Meiryo UI" panose="020B0604030504040204" pitchFamily="34" charset="-128"/>
              <a:ea typeface="Meiryo UI" panose="020B0604030504040204" pitchFamily="34" charset="-128"/>
            </a:endParaRPr>
          </a:p>
        </p:txBody>
      </p:sp>
      <p:sp>
        <p:nvSpPr>
          <p:cNvPr id="40" name="正方形/長方形 39">
            <a:extLst>
              <a:ext uri="{FF2B5EF4-FFF2-40B4-BE49-F238E27FC236}">
                <a16:creationId xmlns:a16="http://schemas.microsoft.com/office/drawing/2014/main" id="{37D52452-B148-2362-A539-DC6AACE631B1}"/>
              </a:ext>
            </a:extLst>
          </p:cNvPr>
          <p:cNvSpPr/>
          <p:nvPr/>
        </p:nvSpPr>
        <p:spPr>
          <a:xfrm>
            <a:off x="2502813" y="3277438"/>
            <a:ext cx="1148318"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NR-05</a:t>
            </a:r>
            <a:endParaRPr lang="ja-JP" altLang="en-US" sz="1050" dirty="0">
              <a:latin typeface="Meiryo UI" panose="020B0604030504040204" pitchFamily="34" charset="-128"/>
              <a:ea typeface="Meiryo UI" panose="020B0604030504040204" pitchFamily="34" charset="-128"/>
            </a:endParaRPr>
          </a:p>
        </p:txBody>
      </p:sp>
      <p:sp>
        <p:nvSpPr>
          <p:cNvPr id="41" name="正方形/長方形 40">
            <a:extLst>
              <a:ext uri="{FF2B5EF4-FFF2-40B4-BE49-F238E27FC236}">
                <a16:creationId xmlns:a16="http://schemas.microsoft.com/office/drawing/2014/main" id="{6D8FFB64-51D4-3AF5-B3AD-84D0CF181D7D}"/>
              </a:ext>
            </a:extLst>
          </p:cNvPr>
          <p:cNvSpPr/>
          <p:nvPr/>
        </p:nvSpPr>
        <p:spPr>
          <a:xfrm>
            <a:off x="4799449" y="1310418"/>
            <a:ext cx="6875100" cy="39340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200">
                <a:latin typeface="Meiryo UI" panose="020B0604030504040204" pitchFamily="34" charset="-128"/>
                <a:ea typeface="Meiryo UI" panose="020B0604030504040204" pitchFamily="34" charset="-128"/>
              </a:rPr>
              <a:t>内容</a:t>
            </a:r>
            <a:endParaRPr kumimoji="1" lang="ja-JP" altLang="en-US" sz="1200" dirty="0">
              <a:latin typeface="Meiryo UI" panose="020B0604030504040204" pitchFamily="34" charset="-128"/>
              <a:ea typeface="Meiryo UI" panose="020B0604030504040204" pitchFamily="34" charset="-128"/>
            </a:endParaRPr>
          </a:p>
        </p:txBody>
      </p:sp>
      <p:sp>
        <p:nvSpPr>
          <p:cNvPr id="42" name="正方形/長方形 41">
            <a:extLst>
              <a:ext uri="{FF2B5EF4-FFF2-40B4-BE49-F238E27FC236}">
                <a16:creationId xmlns:a16="http://schemas.microsoft.com/office/drawing/2014/main" id="{A25CF11E-FD1A-649C-0D74-76FCF82524FA}"/>
              </a:ext>
            </a:extLst>
          </p:cNvPr>
          <p:cNvSpPr/>
          <p:nvPr/>
        </p:nvSpPr>
        <p:spPr>
          <a:xfrm>
            <a:off x="4799449" y="1703822"/>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050">
                <a:latin typeface="Meiryo UI" panose="020B0604030504040204" pitchFamily="34" charset="-128"/>
                <a:ea typeface="Meiryo UI" panose="020B0604030504040204" pitchFamily="34" charset="-128"/>
              </a:rPr>
              <a:t>システムの利用可能率についての方針を定義する。</a:t>
            </a:r>
            <a:endParaRPr kumimoji="1" lang="en-US" altLang="ja-JP" sz="1050" dirty="0">
              <a:latin typeface="Meiryo UI" panose="020B0604030504040204" pitchFamily="34" charset="-128"/>
              <a:ea typeface="Meiryo UI" panose="020B0604030504040204" pitchFamily="34" charset="-128"/>
            </a:endParaRPr>
          </a:p>
          <a:p>
            <a:r>
              <a:rPr lang="ja-JP" altLang="en-US" sz="1050">
                <a:latin typeface="Meiryo UI" panose="020B0604030504040204" pitchFamily="34" charset="-128"/>
                <a:ea typeface="Meiryo UI" panose="020B0604030504040204" pitchFamily="34" charset="-128"/>
              </a:rPr>
              <a:t>目標としては</a:t>
            </a:r>
            <a:r>
              <a:rPr lang="en-US" altLang="ja-JP" sz="1050" dirty="0">
                <a:latin typeface="Meiryo UI" panose="020B0604030504040204" pitchFamily="34" charset="-128"/>
                <a:ea typeface="Meiryo UI" panose="020B0604030504040204" pitchFamily="34" charset="-128"/>
              </a:rPr>
              <a:t>24</a:t>
            </a:r>
            <a:r>
              <a:rPr lang="ja-JP" altLang="en-US" sz="1050">
                <a:latin typeface="Meiryo UI" panose="020B0604030504040204" pitchFamily="34" charset="-128"/>
                <a:ea typeface="Meiryo UI" panose="020B0604030504040204" pitchFamily="34" charset="-128"/>
              </a:rPr>
              <a:t>時間</a:t>
            </a:r>
            <a:r>
              <a:rPr lang="en-US" altLang="ja-JP" sz="1050" dirty="0">
                <a:latin typeface="Meiryo UI" panose="020B0604030504040204" pitchFamily="34" charset="-128"/>
                <a:ea typeface="Meiryo UI" panose="020B0604030504040204" pitchFamily="34" charset="-128"/>
              </a:rPr>
              <a:t>365</a:t>
            </a:r>
            <a:r>
              <a:rPr lang="ja-JP" altLang="en-US" sz="1050">
                <a:latin typeface="Meiryo UI" panose="020B0604030504040204" pitchFamily="34" charset="-128"/>
                <a:ea typeface="Meiryo UI" panose="020B0604030504040204" pitchFamily="34" charset="-128"/>
              </a:rPr>
              <a:t>日稼働。但し、除外項目を設定。</a:t>
            </a:r>
            <a:r>
              <a:rPr kumimoji="1" lang="ja-JP" altLang="en-US" sz="1050">
                <a:latin typeface="Meiryo UI" panose="020B0604030504040204" pitchFamily="34" charset="-128"/>
                <a:ea typeface="Meiryo UI" panose="020B0604030504040204" pitchFamily="34" charset="-128"/>
              </a:rPr>
              <a:t>詳細は別紙にて定義。</a:t>
            </a:r>
            <a:endParaRPr kumimoji="1" lang="ja-JP" altLang="en-US" sz="1050" dirty="0">
              <a:latin typeface="Meiryo UI" panose="020B0604030504040204" pitchFamily="34" charset="-128"/>
              <a:ea typeface="Meiryo UI" panose="020B0604030504040204" pitchFamily="34" charset="-128"/>
            </a:endParaRPr>
          </a:p>
        </p:txBody>
      </p:sp>
      <p:sp>
        <p:nvSpPr>
          <p:cNvPr id="43" name="正方形/長方形 42">
            <a:extLst>
              <a:ext uri="{FF2B5EF4-FFF2-40B4-BE49-F238E27FC236}">
                <a16:creationId xmlns:a16="http://schemas.microsoft.com/office/drawing/2014/main" id="{68031F21-D352-48FB-E638-93838435AACA}"/>
              </a:ext>
            </a:extLst>
          </p:cNvPr>
          <p:cNvSpPr/>
          <p:nvPr/>
        </p:nvSpPr>
        <p:spPr>
          <a:xfrm>
            <a:off x="4799449" y="2097226"/>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050">
                <a:latin typeface="Meiryo UI" panose="020B0604030504040204" pitchFamily="34" charset="-128"/>
                <a:ea typeface="Meiryo UI" panose="020B0604030504040204" pitchFamily="34" charset="-128"/>
              </a:rPr>
              <a:t>システムが達成すべき性能について定義する。</a:t>
            </a:r>
            <a:endParaRPr lang="en-US" altLang="ja-JP" sz="1050" dirty="0">
              <a:latin typeface="Meiryo UI" panose="020B0604030504040204" pitchFamily="34" charset="-128"/>
              <a:ea typeface="Meiryo UI" panose="020B0604030504040204" pitchFamily="34" charset="-128"/>
            </a:endParaRPr>
          </a:p>
          <a:p>
            <a:r>
              <a:rPr lang="ja-JP" altLang="en-US" sz="1050">
                <a:latin typeface="Meiryo UI" panose="020B0604030504040204" pitchFamily="34" charset="-128"/>
                <a:ea typeface="Meiryo UI" panose="020B0604030504040204" pitchFamily="34" charset="-128"/>
              </a:rPr>
              <a:t>表示速度平均</a:t>
            </a:r>
            <a:r>
              <a:rPr lang="en-US" altLang="ja-JP" sz="1050" dirty="0">
                <a:latin typeface="Meiryo UI" panose="020B0604030504040204" pitchFamily="34" charset="-128"/>
                <a:ea typeface="Meiryo UI" panose="020B0604030504040204" pitchFamily="34" charset="-128"/>
              </a:rPr>
              <a:t>1</a:t>
            </a:r>
            <a:r>
              <a:rPr lang="ja-JP" altLang="en-US" sz="1050">
                <a:latin typeface="Meiryo UI" panose="020B0604030504040204" pitchFamily="34" charset="-128"/>
                <a:ea typeface="Meiryo UI" panose="020B0604030504040204" pitchFamily="34" charset="-128"/>
              </a:rPr>
              <a:t>秒以内。書込み速度平均</a:t>
            </a:r>
            <a:r>
              <a:rPr lang="en-US" altLang="ja-JP" sz="1050" dirty="0">
                <a:latin typeface="Meiryo UI" panose="020B0604030504040204" pitchFamily="34" charset="-128"/>
                <a:ea typeface="Meiryo UI" panose="020B0604030504040204" pitchFamily="34" charset="-128"/>
              </a:rPr>
              <a:t>2</a:t>
            </a:r>
            <a:r>
              <a:rPr lang="ja-JP" altLang="en-US" sz="1050">
                <a:latin typeface="Meiryo UI" panose="020B0604030504040204" pitchFamily="34" charset="-128"/>
                <a:ea typeface="Meiryo UI" panose="020B0604030504040204" pitchFamily="34" charset="-128"/>
              </a:rPr>
              <a:t>秒以内とする。詳細は別紙にて定義。</a:t>
            </a:r>
            <a:endParaRPr kumimoji="1" lang="ja-JP" altLang="en-US" sz="1050" dirty="0">
              <a:latin typeface="Meiryo UI" panose="020B0604030504040204" pitchFamily="34" charset="-128"/>
              <a:ea typeface="Meiryo UI" panose="020B0604030504040204" pitchFamily="34" charset="-128"/>
            </a:endParaRPr>
          </a:p>
        </p:txBody>
      </p:sp>
      <p:sp>
        <p:nvSpPr>
          <p:cNvPr id="44" name="正方形/長方形 43">
            <a:extLst>
              <a:ext uri="{FF2B5EF4-FFF2-40B4-BE49-F238E27FC236}">
                <a16:creationId xmlns:a16="http://schemas.microsoft.com/office/drawing/2014/main" id="{AAE91C4E-74ED-0C9A-9664-AA350B9C9987}"/>
              </a:ext>
            </a:extLst>
          </p:cNvPr>
          <p:cNvSpPr/>
          <p:nvPr/>
        </p:nvSpPr>
        <p:spPr>
          <a:xfrm>
            <a:off x="4799449" y="2490630"/>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050">
                <a:latin typeface="Meiryo UI" panose="020B0604030504040204" pitchFamily="34" charset="-128"/>
                <a:ea typeface="Meiryo UI" panose="020B0604030504040204" pitchFamily="34" charset="-128"/>
              </a:rPr>
              <a:t>システムが有すべきセキュリティーについて定義する。詳細は別紙にて定義。</a:t>
            </a:r>
            <a:endParaRPr kumimoji="1" lang="ja-JP" altLang="en-US" sz="1050" dirty="0">
              <a:latin typeface="Meiryo UI" panose="020B0604030504040204" pitchFamily="34" charset="-128"/>
              <a:ea typeface="Meiryo UI" panose="020B0604030504040204" pitchFamily="34" charset="-128"/>
            </a:endParaRPr>
          </a:p>
        </p:txBody>
      </p:sp>
      <p:sp>
        <p:nvSpPr>
          <p:cNvPr id="45" name="正方形/長方形 44">
            <a:extLst>
              <a:ext uri="{FF2B5EF4-FFF2-40B4-BE49-F238E27FC236}">
                <a16:creationId xmlns:a16="http://schemas.microsoft.com/office/drawing/2014/main" id="{A699E11C-BC9B-286B-4C18-63BF748E2D1E}"/>
              </a:ext>
            </a:extLst>
          </p:cNvPr>
          <p:cNvSpPr/>
          <p:nvPr/>
        </p:nvSpPr>
        <p:spPr>
          <a:xfrm>
            <a:off x="4799449" y="3670842"/>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050">
                <a:latin typeface="Meiryo UI" panose="020B0604030504040204" pitchFamily="34" charset="-128"/>
                <a:ea typeface="Meiryo UI" panose="020B0604030504040204" pitchFamily="34" charset="-128"/>
              </a:rPr>
              <a:t>本システムは</a:t>
            </a:r>
            <a:r>
              <a:rPr kumimoji="1" lang="en-US" altLang="ja-JP" sz="1050" dirty="0">
                <a:latin typeface="Meiryo UI" panose="020B0604030504040204" pitchFamily="34" charset="-128"/>
                <a:ea typeface="Meiryo UI" panose="020B0604030504040204" pitchFamily="34" charset="-128"/>
              </a:rPr>
              <a:t>Web</a:t>
            </a:r>
            <a:r>
              <a:rPr kumimoji="1" lang="ja-JP" altLang="en-US" sz="1050">
                <a:latin typeface="Meiryo UI" panose="020B0604030504040204" pitchFamily="34" charset="-128"/>
                <a:ea typeface="Meiryo UI" panose="020B0604030504040204" pitchFamily="34" charset="-128"/>
              </a:rPr>
              <a:t>システムのため、動作可能なブラウザについて非機能要件にて定義する。また、</a:t>
            </a:r>
            <a:r>
              <a:rPr kumimoji="1" lang="en-US" altLang="ja-JP" sz="1050" dirty="0">
                <a:latin typeface="Meiryo UI" panose="020B0604030504040204" pitchFamily="34" charset="-128"/>
                <a:ea typeface="Meiryo UI" panose="020B0604030504040204" pitchFamily="34" charset="-128"/>
              </a:rPr>
              <a:t>Google</a:t>
            </a:r>
            <a:r>
              <a:rPr kumimoji="1" lang="ja-JP" altLang="en-US" sz="1050">
                <a:latin typeface="Meiryo UI" panose="020B0604030504040204" pitchFamily="34" charset="-128"/>
                <a:ea typeface="Meiryo UI" panose="020B0604030504040204" pitchFamily="34" charset="-128"/>
              </a:rPr>
              <a:t>スプレッドシート等、予め利用が決まっている環境について定義する。</a:t>
            </a:r>
            <a:r>
              <a:rPr lang="ja-JP" altLang="en-US" sz="1050">
                <a:latin typeface="Meiryo UI" panose="020B0604030504040204" pitchFamily="34" charset="-128"/>
                <a:ea typeface="Meiryo UI" panose="020B0604030504040204" pitchFamily="34" charset="-128"/>
              </a:rPr>
              <a:t>詳細は別紙にて定義。</a:t>
            </a:r>
            <a:endParaRPr kumimoji="1" lang="ja-JP" altLang="en-US" sz="1050" dirty="0">
              <a:latin typeface="Meiryo UI" panose="020B0604030504040204" pitchFamily="34" charset="-128"/>
              <a:ea typeface="Meiryo UI" panose="020B0604030504040204" pitchFamily="34" charset="-128"/>
            </a:endParaRPr>
          </a:p>
        </p:txBody>
      </p:sp>
      <p:sp>
        <p:nvSpPr>
          <p:cNvPr id="46" name="正方形/長方形 45">
            <a:extLst>
              <a:ext uri="{FF2B5EF4-FFF2-40B4-BE49-F238E27FC236}">
                <a16:creationId xmlns:a16="http://schemas.microsoft.com/office/drawing/2014/main" id="{92B690EA-9278-65A4-41B9-637204A926F5}"/>
              </a:ext>
            </a:extLst>
          </p:cNvPr>
          <p:cNvSpPr/>
          <p:nvPr/>
        </p:nvSpPr>
        <p:spPr>
          <a:xfrm>
            <a:off x="4799449" y="4064246"/>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050">
                <a:latin typeface="Meiryo UI" panose="020B0604030504040204" pitchFamily="34" charset="-128"/>
                <a:ea typeface="Meiryo UI" panose="020B0604030504040204" pitchFamily="34" charset="-128"/>
              </a:rPr>
              <a:t>本システムとしては特に定義しないが、利用するクラウドサービスなど、可能な限り環境に考慮したものを選定する。</a:t>
            </a:r>
            <a:endParaRPr kumimoji="1" lang="ja-JP" altLang="en-US" sz="1050" dirty="0">
              <a:latin typeface="Meiryo UI" panose="020B0604030504040204" pitchFamily="34" charset="-128"/>
              <a:ea typeface="Meiryo UI" panose="020B0604030504040204" pitchFamily="34" charset="-128"/>
            </a:endParaRPr>
          </a:p>
        </p:txBody>
      </p:sp>
      <p:sp>
        <p:nvSpPr>
          <p:cNvPr id="47" name="正方形/長方形 46">
            <a:extLst>
              <a:ext uri="{FF2B5EF4-FFF2-40B4-BE49-F238E27FC236}">
                <a16:creationId xmlns:a16="http://schemas.microsoft.com/office/drawing/2014/main" id="{CA1F3DD5-97D8-C90A-9594-19E91D44466B}"/>
              </a:ext>
            </a:extLst>
          </p:cNvPr>
          <p:cNvSpPr/>
          <p:nvPr/>
        </p:nvSpPr>
        <p:spPr>
          <a:xfrm>
            <a:off x="4799449" y="4457650"/>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050">
                <a:latin typeface="Meiryo UI" panose="020B0604030504040204" pitchFamily="34" charset="-128"/>
                <a:ea typeface="Meiryo UI" panose="020B0604030504040204" pitchFamily="34" charset="-128"/>
              </a:rPr>
              <a:t>本システムは</a:t>
            </a:r>
            <a:r>
              <a:rPr kumimoji="1" lang="en-US" altLang="ja-JP" sz="1050" dirty="0">
                <a:latin typeface="Meiryo UI" panose="020B0604030504040204" pitchFamily="34" charset="-128"/>
                <a:ea typeface="Meiryo UI" panose="020B0604030504040204" pitchFamily="34" charset="-128"/>
              </a:rPr>
              <a:t>B2C</a:t>
            </a:r>
            <a:r>
              <a:rPr kumimoji="1" lang="ja-JP" altLang="en-US" sz="1050">
                <a:latin typeface="Meiryo UI" panose="020B0604030504040204" pitchFamily="34" charset="-128"/>
                <a:ea typeface="Meiryo UI" panose="020B0604030504040204" pitchFamily="34" charset="-128"/>
              </a:rPr>
              <a:t>システムであるため、アクセシビリティーについての要求は定義しない。</a:t>
            </a:r>
            <a:endParaRPr kumimoji="1" lang="ja-JP" altLang="en-US" sz="1050" dirty="0">
              <a:latin typeface="Meiryo UI" panose="020B0604030504040204" pitchFamily="34" charset="-128"/>
              <a:ea typeface="Meiryo UI" panose="020B0604030504040204" pitchFamily="34" charset="-128"/>
            </a:endParaRPr>
          </a:p>
        </p:txBody>
      </p:sp>
      <p:sp>
        <p:nvSpPr>
          <p:cNvPr id="48" name="正方形/長方形 47">
            <a:extLst>
              <a:ext uri="{FF2B5EF4-FFF2-40B4-BE49-F238E27FC236}">
                <a16:creationId xmlns:a16="http://schemas.microsoft.com/office/drawing/2014/main" id="{6A5DDB47-3D64-2F3E-094F-277ECA309783}"/>
              </a:ext>
            </a:extLst>
          </p:cNvPr>
          <p:cNvSpPr/>
          <p:nvPr/>
        </p:nvSpPr>
        <p:spPr>
          <a:xfrm>
            <a:off x="4799449" y="4851054"/>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050">
                <a:latin typeface="Meiryo UI" panose="020B0604030504040204" pitchFamily="34" charset="-128"/>
                <a:ea typeface="Meiryo UI" panose="020B0604030504040204" pitchFamily="34" charset="-128"/>
              </a:rPr>
              <a:t>本システムはシンプルな操作性であるため操作性の要求は定義しない。</a:t>
            </a:r>
            <a:br>
              <a:rPr kumimoji="1" lang="en-US" altLang="ja-JP" sz="1050" dirty="0">
                <a:latin typeface="Meiryo UI" panose="020B0604030504040204" pitchFamily="34" charset="-128"/>
                <a:ea typeface="Meiryo UI" panose="020B0604030504040204" pitchFamily="34" charset="-128"/>
              </a:rPr>
            </a:br>
            <a:r>
              <a:rPr kumimoji="1" lang="ja-JP" altLang="en-US" sz="1050">
                <a:latin typeface="Meiryo UI" panose="020B0604030504040204" pitchFamily="34" charset="-128"/>
                <a:ea typeface="Meiryo UI" panose="020B0604030504040204" pitchFamily="34" charset="-128"/>
              </a:rPr>
              <a:t>もし、操作性に課題がある場合はリリース後の定期改修により対応するものとする。</a:t>
            </a:r>
            <a:endParaRPr kumimoji="1" lang="ja-JP" altLang="en-US" sz="1050" dirty="0">
              <a:latin typeface="Meiryo UI" panose="020B0604030504040204" pitchFamily="34" charset="-128"/>
              <a:ea typeface="Meiryo UI" panose="020B0604030504040204" pitchFamily="34" charset="-128"/>
            </a:endParaRPr>
          </a:p>
        </p:txBody>
      </p:sp>
      <p:sp>
        <p:nvSpPr>
          <p:cNvPr id="49" name="正方形/長方形 48">
            <a:extLst>
              <a:ext uri="{FF2B5EF4-FFF2-40B4-BE49-F238E27FC236}">
                <a16:creationId xmlns:a16="http://schemas.microsoft.com/office/drawing/2014/main" id="{16C669B3-8FCF-D794-ED0B-E5AFBCC1508C}"/>
              </a:ext>
            </a:extLst>
          </p:cNvPr>
          <p:cNvSpPr/>
          <p:nvPr/>
        </p:nvSpPr>
        <p:spPr>
          <a:xfrm>
            <a:off x="4799449" y="2884034"/>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050">
                <a:latin typeface="Meiryo UI" panose="020B0604030504040204" pitchFamily="34" charset="-128"/>
                <a:ea typeface="Meiryo UI" panose="020B0604030504040204" pitchFamily="34" charset="-128"/>
              </a:rPr>
              <a:t>業務移行、データ移行、システム移行について定義する。詳細は別紙にて定義。</a:t>
            </a:r>
            <a:endParaRPr kumimoji="1" lang="ja-JP" altLang="en-US" sz="1050" dirty="0">
              <a:latin typeface="Meiryo UI" panose="020B0604030504040204" pitchFamily="34" charset="-128"/>
              <a:ea typeface="Meiryo UI" panose="020B0604030504040204" pitchFamily="34" charset="-128"/>
            </a:endParaRPr>
          </a:p>
        </p:txBody>
      </p:sp>
      <p:sp>
        <p:nvSpPr>
          <p:cNvPr id="50" name="正方形/長方形 49">
            <a:extLst>
              <a:ext uri="{FF2B5EF4-FFF2-40B4-BE49-F238E27FC236}">
                <a16:creationId xmlns:a16="http://schemas.microsoft.com/office/drawing/2014/main" id="{F3DE60C1-124C-88DD-4B77-05E6108FBE2F}"/>
              </a:ext>
            </a:extLst>
          </p:cNvPr>
          <p:cNvSpPr/>
          <p:nvPr/>
        </p:nvSpPr>
        <p:spPr>
          <a:xfrm>
            <a:off x="4799449" y="3277438"/>
            <a:ext cx="6875100" cy="3934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050">
                <a:latin typeface="Meiryo UI" panose="020B0604030504040204" pitchFamily="34" charset="-128"/>
                <a:ea typeface="Meiryo UI" panose="020B0604030504040204" pitchFamily="34" charset="-128"/>
              </a:rPr>
              <a:t>可能な限りメンテナンスフリーな環境（クラウド等）を利用するものとする。クラウド利用の場合もなるべくメンテナンス性の高いサービス（</a:t>
            </a:r>
            <a:r>
              <a:rPr kumimoji="1" lang="en-US" altLang="ja-JP" sz="1050" dirty="0">
                <a:latin typeface="Meiryo UI" panose="020B0604030504040204" pitchFamily="34" charset="-128"/>
                <a:ea typeface="Meiryo UI" panose="020B0604030504040204" pitchFamily="34" charset="-128"/>
              </a:rPr>
              <a:t>SaaS, PaaS</a:t>
            </a:r>
            <a:r>
              <a:rPr kumimoji="1" lang="ja-JP" altLang="en-US" sz="1050">
                <a:latin typeface="Meiryo UI" panose="020B0604030504040204" pitchFamily="34" charset="-128"/>
                <a:ea typeface="Meiryo UI" panose="020B0604030504040204" pitchFamily="34" charset="-128"/>
              </a:rPr>
              <a:t>等のサーバレス環境）を利用するものとする。</a:t>
            </a:r>
            <a:endParaRPr kumimoji="1" lang="ja-JP" altLang="en-US" sz="1050" dirty="0">
              <a:latin typeface="Meiryo UI" panose="020B0604030504040204" pitchFamily="34" charset="-128"/>
              <a:ea typeface="Meiryo UI" panose="020B0604030504040204" pitchFamily="34" charset="-128"/>
            </a:endParaRPr>
          </a:p>
        </p:txBody>
      </p:sp>
      <p:sp>
        <p:nvSpPr>
          <p:cNvPr id="51" name="正方形/長方形 50">
            <a:extLst>
              <a:ext uri="{FF2B5EF4-FFF2-40B4-BE49-F238E27FC236}">
                <a16:creationId xmlns:a16="http://schemas.microsoft.com/office/drawing/2014/main" id="{AB648243-3F0E-DEE8-4DCC-E4E26F86BD41}"/>
              </a:ext>
            </a:extLst>
          </p:cNvPr>
          <p:cNvSpPr/>
          <p:nvPr/>
        </p:nvSpPr>
        <p:spPr>
          <a:xfrm>
            <a:off x="397565" y="5244458"/>
            <a:ext cx="2105248" cy="393404"/>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方式</a:t>
            </a:r>
            <a:endParaRPr kumimoji="1" lang="ja-JP" altLang="en-US" sz="1050" dirty="0">
              <a:latin typeface="Meiryo UI" panose="020B0604030504040204" pitchFamily="34" charset="-128"/>
              <a:ea typeface="Meiryo UI" panose="020B0604030504040204" pitchFamily="34" charset="-128"/>
            </a:endParaRPr>
          </a:p>
        </p:txBody>
      </p:sp>
      <p:sp>
        <p:nvSpPr>
          <p:cNvPr id="52" name="正方形/長方形 51">
            <a:extLst>
              <a:ext uri="{FF2B5EF4-FFF2-40B4-BE49-F238E27FC236}">
                <a16:creationId xmlns:a16="http://schemas.microsoft.com/office/drawing/2014/main" id="{8759C93F-E1C6-3F45-8325-053E6BEC038B}"/>
              </a:ext>
            </a:extLst>
          </p:cNvPr>
          <p:cNvSpPr/>
          <p:nvPr/>
        </p:nvSpPr>
        <p:spPr>
          <a:xfrm>
            <a:off x="3651131" y="5244458"/>
            <a:ext cx="1148318" cy="393404"/>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050" dirty="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53" name="正方形/長方形 52">
            <a:extLst>
              <a:ext uri="{FF2B5EF4-FFF2-40B4-BE49-F238E27FC236}">
                <a16:creationId xmlns:a16="http://schemas.microsoft.com/office/drawing/2014/main" id="{A6F0335C-5385-1AE2-1216-066AA5D4EF3C}"/>
              </a:ext>
            </a:extLst>
          </p:cNvPr>
          <p:cNvSpPr/>
          <p:nvPr/>
        </p:nvSpPr>
        <p:spPr>
          <a:xfrm>
            <a:off x="2502813" y="5244458"/>
            <a:ext cx="1148318" cy="393404"/>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NR-10</a:t>
            </a:r>
            <a:endParaRPr lang="ja-JP" altLang="en-US" sz="1050" dirty="0">
              <a:latin typeface="Meiryo UI" panose="020B0604030504040204" pitchFamily="34" charset="-128"/>
              <a:ea typeface="Meiryo UI" panose="020B0604030504040204" pitchFamily="34" charset="-128"/>
            </a:endParaRPr>
          </a:p>
        </p:txBody>
      </p:sp>
      <p:sp>
        <p:nvSpPr>
          <p:cNvPr id="54" name="正方形/長方形 53">
            <a:extLst>
              <a:ext uri="{FF2B5EF4-FFF2-40B4-BE49-F238E27FC236}">
                <a16:creationId xmlns:a16="http://schemas.microsoft.com/office/drawing/2014/main" id="{8669622A-2AD5-D5BA-D464-6B26351E403A}"/>
              </a:ext>
            </a:extLst>
          </p:cNvPr>
          <p:cNvSpPr/>
          <p:nvPr/>
        </p:nvSpPr>
        <p:spPr>
          <a:xfrm>
            <a:off x="4799449" y="5244458"/>
            <a:ext cx="6875100" cy="393404"/>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r>
              <a:rPr lang="ja-JP" altLang="en-US" sz="1050">
                <a:latin typeface="Meiryo UI" panose="020B0604030504040204" pitchFamily="34" charset="-128"/>
                <a:ea typeface="Meiryo UI" panose="020B0604030504040204" pitchFamily="34" charset="-128"/>
              </a:rPr>
              <a:t>方式については</a:t>
            </a:r>
            <a:r>
              <a:rPr lang="ja-JP" altLang="en-US" sz="1050">
                <a:highlight>
                  <a:srgbClr val="FFFF00"/>
                </a:highlight>
                <a:latin typeface="Meiryo UI" panose="020B0604030504040204" pitchFamily="34" charset="-128"/>
                <a:ea typeface="Meiryo UI" panose="020B0604030504040204" pitchFamily="34" charset="-128"/>
              </a:rPr>
              <a:t>基本設計における「方式設計」にて行うものとする</a:t>
            </a:r>
            <a:r>
              <a:rPr lang="ja-JP" altLang="en-US" sz="1050">
                <a:latin typeface="Meiryo UI" panose="020B0604030504040204" pitchFamily="34" charset="-128"/>
                <a:ea typeface="Meiryo UI" panose="020B0604030504040204" pitchFamily="34" charset="-128"/>
              </a:rPr>
              <a:t>（要件定義の範囲外）。</a:t>
            </a:r>
            <a:endParaRPr lang="en-US" altLang="ja-JP" sz="1050" dirty="0">
              <a:latin typeface="Meiryo UI" panose="020B0604030504040204" pitchFamily="34" charset="-128"/>
              <a:ea typeface="Meiryo UI" panose="020B0604030504040204" pitchFamily="34" charset="-128"/>
            </a:endParaRPr>
          </a:p>
          <a:p>
            <a:r>
              <a:rPr kumimoji="1" lang="ja-JP" altLang="en-US" sz="1050">
                <a:latin typeface="Meiryo UI" panose="020B0604030504040204" pitchFamily="34" charset="-128"/>
                <a:ea typeface="Meiryo UI" panose="020B0604030504040204" pitchFamily="34" charset="-128"/>
              </a:rPr>
              <a:t>方式検討の際は、継続性の観点から主要な技術を採用するものとする。</a:t>
            </a:r>
            <a:endParaRPr kumimoji="1" lang="ja-JP" altLang="en-US" sz="1050" dirty="0">
              <a:latin typeface="Meiryo UI" panose="020B0604030504040204" pitchFamily="34" charset="-128"/>
              <a:ea typeface="Meiryo UI" panose="020B0604030504040204" pitchFamily="34" charset="-128"/>
            </a:endParaRPr>
          </a:p>
        </p:txBody>
      </p:sp>
      <p:sp>
        <p:nvSpPr>
          <p:cNvPr id="3" name="正方形/長方形 2">
            <a:extLst>
              <a:ext uri="{FF2B5EF4-FFF2-40B4-BE49-F238E27FC236}">
                <a16:creationId xmlns:a16="http://schemas.microsoft.com/office/drawing/2014/main" id="{D70192DC-7641-AAC5-8360-47E7DD159AAE}"/>
              </a:ext>
            </a:extLst>
          </p:cNvPr>
          <p:cNvSpPr/>
          <p:nvPr/>
        </p:nvSpPr>
        <p:spPr>
          <a:xfrm>
            <a:off x="397565" y="5637862"/>
            <a:ext cx="2105248" cy="393404"/>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050">
                <a:latin typeface="Meiryo UI" panose="020B0604030504040204" pitchFamily="34" charset="-128"/>
                <a:ea typeface="Meiryo UI" panose="020B0604030504040204" pitchFamily="34" charset="-128"/>
              </a:rPr>
              <a:t>運用性</a:t>
            </a:r>
            <a:endParaRPr kumimoji="1" lang="ja-JP" altLang="en-US" sz="1050" dirty="0">
              <a:latin typeface="Meiryo UI" panose="020B0604030504040204" pitchFamily="34" charset="-128"/>
              <a:ea typeface="Meiryo UI" panose="020B0604030504040204" pitchFamily="34" charset="-128"/>
            </a:endParaRPr>
          </a:p>
        </p:txBody>
      </p:sp>
      <p:sp>
        <p:nvSpPr>
          <p:cNvPr id="6" name="正方形/長方形 5">
            <a:extLst>
              <a:ext uri="{FF2B5EF4-FFF2-40B4-BE49-F238E27FC236}">
                <a16:creationId xmlns:a16="http://schemas.microsoft.com/office/drawing/2014/main" id="{533BD389-2EFE-5488-4D22-DCD078B96D47}"/>
              </a:ext>
            </a:extLst>
          </p:cNvPr>
          <p:cNvSpPr/>
          <p:nvPr/>
        </p:nvSpPr>
        <p:spPr>
          <a:xfrm>
            <a:off x="3651131" y="5637862"/>
            <a:ext cx="1148318" cy="393404"/>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1050" dirty="0">
                <a:latin typeface="Meiryo UI" panose="020B0604030504040204" pitchFamily="34" charset="-128"/>
                <a:ea typeface="Meiryo UI" panose="020B0604030504040204" pitchFamily="34" charset="-128"/>
              </a:rPr>
              <a:t>-</a:t>
            </a:r>
            <a:endParaRPr kumimoji="1" lang="ja-JP" altLang="en-US" sz="1050" dirty="0">
              <a:latin typeface="Meiryo UI" panose="020B0604030504040204" pitchFamily="34" charset="-128"/>
              <a:ea typeface="Meiryo UI" panose="020B0604030504040204" pitchFamily="34" charset="-128"/>
            </a:endParaRPr>
          </a:p>
        </p:txBody>
      </p:sp>
      <p:sp>
        <p:nvSpPr>
          <p:cNvPr id="7" name="正方形/長方形 6">
            <a:extLst>
              <a:ext uri="{FF2B5EF4-FFF2-40B4-BE49-F238E27FC236}">
                <a16:creationId xmlns:a16="http://schemas.microsoft.com/office/drawing/2014/main" id="{5D0A1F6F-C89E-4DDC-CA8F-319CF313517E}"/>
              </a:ext>
            </a:extLst>
          </p:cNvPr>
          <p:cNvSpPr/>
          <p:nvPr/>
        </p:nvSpPr>
        <p:spPr>
          <a:xfrm>
            <a:off x="2502813" y="5637862"/>
            <a:ext cx="1148318" cy="393404"/>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050" dirty="0">
                <a:latin typeface="Meiryo UI" panose="020B0604030504040204" pitchFamily="34" charset="-128"/>
                <a:ea typeface="Meiryo UI" panose="020B0604030504040204" pitchFamily="34" charset="-128"/>
              </a:rPr>
              <a:t>NR-11</a:t>
            </a:r>
            <a:endParaRPr lang="ja-JP" altLang="en-US" sz="1050" dirty="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D3BF4349-BF73-758B-C857-F62026D06BD6}"/>
              </a:ext>
            </a:extLst>
          </p:cNvPr>
          <p:cNvSpPr/>
          <p:nvPr/>
        </p:nvSpPr>
        <p:spPr>
          <a:xfrm>
            <a:off x="4799449" y="5637862"/>
            <a:ext cx="6875100" cy="393404"/>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050">
                <a:latin typeface="Meiryo UI" panose="020B0604030504040204" pitchFamily="34" charset="-128"/>
                <a:ea typeface="Meiryo UI" panose="020B0604030504040204" pitchFamily="34" charset="-128"/>
              </a:rPr>
              <a:t>運用についての要求は</a:t>
            </a:r>
            <a:r>
              <a:rPr kumimoji="1" lang="ja-JP" altLang="en-US" sz="1050">
                <a:highlight>
                  <a:srgbClr val="FFFF00"/>
                </a:highlight>
                <a:latin typeface="Meiryo UI" panose="020B0604030504040204" pitchFamily="34" charset="-128"/>
                <a:ea typeface="Meiryo UI" panose="020B0604030504040204" pitchFamily="34" charset="-128"/>
              </a:rPr>
              <a:t>別途「運用計画書」にて定義</a:t>
            </a:r>
            <a:r>
              <a:rPr kumimoji="1" lang="ja-JP" altLang="en-US" sz="1050">
                <a:latin typeface="Meiryo UI" panose="020B0604030504040204" pitchFamily="34" charset="-128"/>
                <a:ea typeface="Meiryo UI" panose="020B0604030504040204" pitchFamily="34" charset="-128"/>
              </a:rPr>
              <a:t>するものとする（要件定義の範囲外）。</a:t>
            </a:r>
            <a:endParaRPr kumimoji="1" lang="ja-JP" altLang="en-US" sz="105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798324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FB76A-D903-FA62-C118-177067DFBB05}"/>
              </a:ext>
            </a:extLst>
          </p:cNvPr>
          <p:cNvSpPr>
            <a:spLocks noGrp="1"/>
          </p:cNvSpPr>
          <p:nvPr>
            <p:ph type="title"/>
          </p:nvPr>
        </p:nvSpPr>
        <p:spPr/>
        <p:txBody>
          <a:bodyPr>
            <a:normAutofit fontScale="90000"/>
          </a:bodyPr>
          <a:lstStyle/>
          <a:p>
            <a:r>
              <a:rPr kumimoji="1" lang="ja-JP" altLang="en-US"/>
              <a:t>非機能要件：可用性</a:t>
            </a:r>
          </a:p>
        </p:txBody>
      </p:sp>
      <p:sp>
        <p:nvSpPr>
          <p:cNvPr id="4" name="フッター プレースホルダー 3">
            <a:extLst>
              <a:ext uri="{FF2B5EF4-FFF2-40B4-BE49-F238E27FC236}">
                <a16:creationId xmlns:a16="http://schemas.microsoft.com/office/drawing/2014/main" id="{75F3D536-D715-5485-D7EA-B448949FA2B1}"/>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1C22B9A1-F3DD-F517-60CC-951ED86AF727}"/>
              </a:ext>
            </a:extLst>
          </p:cNvPr>
          <p:cNvSpPr>
            <a:spLocks noGrp="1"/>
          </p:cNvSpPr>
          <p:nvPr>
            <p:ph type="sldNum" sz="quarter" idx="12"/>
          </p:nvPr>
        </p:nvSpPr>
        <p:spPr/>
        <p:txBody>
          <a:bodyPr/>
          <a:lstStyle/>
          <a:p>
            <a:fld id="{462052E6-07CA-9B46-B866-FDE18BF74505}" type="slidenum">
              <a:rPr lang="ja-JP" altLang="en-US" smtClean="0"/>
              <a:pPr/>
              <a:t>9</a:t>
            </a:fld>
            <a:endParaRPr lang="ja-JP" altLang="en-US"/>
          </a:p>
        </p:txBody>
      </p:sp>
      <p:sp>
        <p:nvSpPr>
          <p:cNvPr id="8" name="コンテンツ プレースホルダー 2">
            <a:extLst>
              <a:ext uri="{FF2B5EF4-FFF2-40B4-BE49-F238E27FC236}">
                <a16:creationId xmlns:a16="http://schemas.microsoft.com/office/drawing/2014/main" id="{1DCA6FDA-B579-C732-2013-ECA76866E160}"/>
              </a:ext>
            </a:extLst>
          </p:cNvPr>
          <p:cNvSpPr txBox="1">
            <a:spLocks/>
          </p:cNvSpPr>
          <p:nvPr/>
        </p:nvSpPr>
        <p:spPr>
          <a:xfrm>
            <a:off x="397565" y="805967"/>
            <a:ext cx="11396870" cy="5044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34" charset="-128"/>
                <a:ea typeface="Meiryo UI"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34" charset="-128"/>
                <a:ea typeface="Meiryo UI"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34" charset="-128"/>
                <a:ea typeface="Meiryo UI"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20000"/>
              </a:lnSpc>
            </a:pPr>
            <a:r>
              <a:rPr lang="ja-JP" altLang="en-US" sz="2000"/>
              <a:t>可用性に対する要件を下記のように定義する</a:t>
            </a:r>
          </a:p>
        </p:txBody>
      </p:sp>
      <p:sp>
        <p:nvSpPr>
          <p:cNvPr id="9" name="正方形/長方形 8">
            <a:extLst>
              <a:ext uri="{FF2B5EF4-FFF2-40B4-BE49-F238E27FC236}">
                <a16:creationId xmlns:a16="http://schemas.microsoft.com/office/drawing/2014/main" id="{03E6E5C1-24DF-473C-37DE-1DBFC4522185}"/>
              </a:ext>
            </a:extLst>
          </p:cNvPr>
          <p:cNvSpPr/>
          <p:nvPr/>
        </p:nvSpPr>
        <p:spPr>
          <a:xfrm>
            <a:off x="491613" y="1908042"/>
            <a:ext cx="2143431" cy="1164437"/>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基本要件</a:t>
            </a:r>
            <a:endParaRPr kumimoji="1" lang="ja-JP" altLang="en-US" sz="1400" dirty="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04C07F2B-8DE9-2DA3-AD11-FDCF8F750519}"/>
              </a:ext>
            </a:extLst>
          </p:cNvPr>
          <p:cNvSpPr/>
          <p:nvPr/>
        </p:nvSpPr>
        <p:spPr>
          <a:xfrm>
            <a:off x="2635044" y="1908042"/>
            <a:ext cx="9065343" cy="116443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400">
                <a:latin typeface="Meiryo UI" panose="020B0604030504040204" pitchFamily="34" charset="-128"/>
                <a:ea typeface="Meiryo UI" panose="020B0604030504040204" pitchFamily="34" charset="-128"/>
              </a:rPr>
              <a:t>・</a:t>
            </a:r>
            <a:r>
              <a:rPr kumimoji="1" lang="en-US" altLang="ja-JP" sz="1400" dirty="0">
                <a:latin typeface="Meiryo UI" panose="020B0604030504040204" pitchFamily="34" charset="-128"/>
                <a:ea typeface="Meiryo UI" panose="020B0604030504040204" pitchFamily="34" charset="-128"/>
              </a:rPr>
              <a:t>24</a:t>
            </a:r>
            <a:r>
              <a:rPr kumimoji="1" lang="ja-JP" altLang="en-US" sz="1400">
                <a:latin typeface="Meiryo UI" panose="020B0604030504040204" pitchFamily="34" charset="-128"/>
                <a:ea typeface="Meiryo UI" panose="020B0604030504040204" pitchFamily="34" charset="-128"/>
              </a:rPr>
              <a:t>時間</a:t>
            </a:r>
            <a:r>
              <a:rPr kumimoji="1" lang="en-US" altLang="ja-JP" sz="1400" dirty="0">
                <a:latin typeface="Meiryo UI" panose="020B0604030504040204" pitchFamily="34" charset="-128"/>
                <a:ea typeface="Meiryo UI" panose="020B0604030504040204" pitchFamily="34" charset="-128"/>
              </a:rPr>
              <a:t> 365</a:t>
            </a:r>
            <a:r>
              <a:rPr kumimoji="1" lang="ja-JP" altLang="en-US" sz="1400">
                <a:latin typeface="Meiryo UI" panose="020B0604030504040204" pitchFamily="34" charset="-128"/>
                <a:ea typeface="Meiryo UI" panose="020B0604030504040204" pitchFamily="34" charset="-128"/>
              </a:rPr>
              <a:t>日の稼働を目標とする（必達ではなく目標値）</a:t>
            </a:r>
            <a:endParaRPr kumimoji="1"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- 98.89%</a:t>
            </a:r>
            <a:r>
              <a:rPr lang="ja-JP" altLang="en-US" sz="1400">
                <a:latin typeface="Meiryo UI" panose="020B0604030504040204" pitchFamily="34" charset="-128"/>
                <a:ea typeface="Meiryo UI" panose="020B0604030504040204" pitchFamily="34" charset="-128"/>
              </a:rPr>
              <a:t>以上の稼働を期待する（詳細は補足を確認）</a:t>
            </a:r>
            <a:endParaRPr kumimoji="1" lang="ja-JP" altLang="en-US" sz="1400" dirty="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534C6EE8-BFBB-8AC7-717B-211FA1498D0E}"/>
              </a:ext>
            </a:extLst>
          </p:cNvPr>
          <p:cNvSpPr/>
          <p:nvPr/>
        </p:nvSpPr>
        <p:spPr>
          <a:xfrm>
            <a:off x="491613" y="4010772"/>
            <a:ext cx="2143431" cy="2187956"/>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補足</a:t>
            </a:r>
            <a:endParaRPr kumimoji="1" lang="ja-JP" altLang="en-US" sz="1400" dirty="0">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918262C8-80C8-F080-77D4-44FFD121C323}"/>
              </a:ext>
            </a:extLst>
          </p:cNvPr>
          <p:cNvSpPr/>
          <p:nvPr/>
        </p:nvSpPr>
        <p:spPr>
          <a:xfrm>
            <a:off x="2635044" y="4010772"/>
            <a:ext cx="9065343" cy="21879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400">
                <a:latin typeface="Meiryo UI" panose="020B0604030504040204" pitchFamily="34" charset="-128"/>
                <a:ea typeface="Meiryo UI" panose="020B0604030504040204" pitchFamily="34" charset="-128"/>
              </a:rPr>
              <a:t>・但し、以下の場合の停止は認める</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メンテナンスのための停止（月に</a:t>
            </a:r>
            <a:r>
              <a:rPr lang="en-US" altLang="ja-JP" sz="1400" dirty="0">
                <a:latin typeface="Meiryo UI" panose="020B0604030504040204" pitchFamily="34" charset="-128"/>
                <a:ea typeface="Meiryo UI" panose="020B0604030504040204" pitchFamily="34" charset="-128"/>
              </a:rPr>
              <a:t>8</a:t>
            </a:r>
            <a:r>
              <a:rPr lang="ja-JP" altLang="en-US" sz="1400">
                <a:latin typeface="Meiryo UI" panose="020B0604030504040204" pitchFamily="34" charset="-128"/>
                <a:ea typeface="Meiryo UI" panose="020B0604030504040204" pitchFamily="34" charset="-128"/>
              </a:rPr>
              <a:t>時間以下、</a:t>
            </a:r>
            <a:r>
              <a:rPr lang="en-US" altLang="ja-JP" sz="1400" dirty="0">
                <a:latin typeface="Meiryo UI" panose="020B0604030504040204" pitchFamily="34" charset="-128"/>
                <a:ea typeface="Meiryo UI" panose="020B0604030504040204" pitchFamily="34" charset="-128"/>
              </a:rPr>
              <a:t>0</a:t>
            </a:r>
            <a:r>
              <a:rPr lang="ja-JP" altLang="en-US" sz="1400">
                <a:latin typeface="Meiryo UI" panose="020B0604030504040204" pitchFamily="34" charset="-128"/>
                <a:ea typeface="Meiryo UI" panose="020B0604030504040204" pitchFamily="34" charset="-128"/>
              </a:rPr>
              <a:t>時</a:t>
            </a:r>
            <a:r>
              <a:rPr lang="en-US" altLang="ja-JP" sz="1400" dirty="0">
                <a:latin typeface="Meiryo UI" panose="020B0604030504040204" pitchFamily="34" charset="-128"/>
                <a:ea typeface="Meiryo UI" panose="020B0604030504040204" pitchFamily="34" charset="-128"/>
              </a:rPr>
              <a:t>〜6</a:t>
            </a:r>
            <a:r>
              <a:rPr lang="ja-JP" altLang="en-US" sz="1400">
                <a:latin typeface="Meiryo UI" panose="020B0604030504040204" pitchFamily="34" charset="-128"/>
                <a:ea typeface="Meiryo UI" panose="020B0604030504040204" pitchFamily="34" charset="-128"/>
              </a:rPr>
              <a:t>時が望ましい）稼働率</a:t>
            </a:r>
            <a:r>
              <a:rPr lang="en-US" altLang="ja-JP" sz="1400" dirty="0">
                <a:latin typeface="Meiryo UI" panose="020B0604030504040204" pitchFamily="34" charset="-128"/>
                <a:ea typeface="Meiryo UI" panose="020B0604030504040204" pitchFamily="34" charset="-128"/>
              </a:rPr>
              <a:t> 98.89%</a:t>
            </a:r>
            <a:r>
              <a:rPr lang="ja-JP" altLang="en-US" sz="1400">
                <a:latin typeface="Meiryo UI" panose="020B0604030504040204" pitchFamily="34" charset="-128"/>
                <a:ea typeface="Meiryo UI" panose="020B0604030504040204" pitchFamily="34" charset="-128"/>
              </a:rPr>
              <a:t>以上が望ましい</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利用するクラウドサービスの稼働率</a:t>
            </a:r>
            <a:r>
              <a:rPr lang="en-US" altLang="ja-JP" sz="1400" dirty="0">
                <a:latin typeface="Meiryo UI" panose="020B0604030504040204" pitchFamily="34" charset="-128"/>
                <a:ea typeface="Meiryo UI" panose="020B0604030504040204" pitchFamily="34" charset="-128"/>
              </a:rPr>
              <a:t> 99.95</a:t>
            </a:r>
            <a:r>
              <a:rPr lang="ja-JP" altLang="en-US" sz="1400">
                <a:latin typeface="Meiryo UI" panose="020B0604030504040204" pitchFamily="34" charset="-128"/>
                <a:ea typeface="Meiryo UI" panose="020B0604030504040204" pitchFamily="34" charset="-128"/>
              </a:rPr>
              <a:t>以上が望ましい（停止時の対応を想定しておくこと）</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※1</a:t>
            </a:r>
            <a:r>
              <a:rPr lang="ja-JP" altLang="en-US" sz="1400">
                <a:latin typeface="Meiryo UI" panose="020B0604030504040204" pitchFamily="34" charset="-128"/>
                <a:ea typeface="Meiryo UI" panose="020B0604030504040204" pitchFamily="34" charset="-128"/>
              </a:rPr>
              <a:t>ヶ月を</a:t>
            </a:r>
            <a:r>
              <a:rPr lang="en-US" altLang="ja-JP" sz="1400" dirty="0">
                <a:latin typeface="Meiryo UI" panose="020B0604030504040204" pitchFamily="34" charset="-128"/>
                <a:ea typeface="Meiryo UI" panose="020B0604030504040204" pitchFamily="34" charset="-128"/>
              </a:rPr>
              <a:t>720</a:t>
            </a:r>
            <a:r>
              <a:rPr lang="ja-JP" altLang="en-US" sz="1400">
                <a:latin typeface="Meiryo UI" panose="020B0604030504040204" pitchFamily="34" charset="-128"/>
                <a:ea typeface="Meiryo UI" panose="020B0604030504040204" pitchFamily="34" charset="-128"/>
              </a:rPr>
              <a:t>時間として計算</a:t>
            </a:r>
            <a:endParaRPr lang="en-US" altLang="ja-JP" sz="1400" dirty="0">
              <a:latin typeface="Meiryo UI" panose="020B0604030504040204" pitchFamily="34" charset="-128"/>
              <a:ea typeface="Meiryo UI" panose="020B0604030504040204" pitchFamily="34" charset="-128"/>
            </a:endParaRPr>
          </a:p>
          <a:p>
            <a:endParaRPr lang="en-US" altLang="ja-JP" sz="1400" dirty="0">
              <a:latin typeface="Meiryo UI" panose="020B0604030504040204" pitchFamily="34" charset="-128"/>
              <a:ea typeface="Meiryo UI" panose="020B0604030504040204" pitchFamily="34" charset="-128"/>
            </a:endParaRPr>
          </a:p>
          <a:p>
            <a:r>
              <a:rPr kumimoji="1" lang="ja-JP" altLang="en-US" sz="1400">
                <a:latin typeface="Meiryo UI" panose="020B0604030504040204" pitchFamily="34" charset="-128"/>
                <a:ea typeface="Meiryo UI" panose="020B0604030504040204" pitchFamily="34" charset="-128"/>
              </a:rPr>
              <a:t>・過剰品質の防止</a:t>
            </a:r>
            <a:endParaRPr kumimoji="1"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過剰品質による過剰投資を防止し本要件を満たすため可能な限り安定したクラウドサービス（オンプレではなく）、</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特にサーバレス環境を利用することが望ましい</a:t>
            </a:r>
            <a:endParaRPr lang="en-US" altLang="ja-JP" sz="1400" dirty="0">
              <a:latin typeface="Meiryo UI" panose="020B0604030504040204" pitchFamily="34" charset="-128"/>
              <a:ea typeface="Meiryo UI" panose="020B0604030504040204" pitchFamily="34" charset="-128"/>
            </a:endParaRPr>
          </a:p>
          <a:p>
            <a:r>
              <a:rPr kumimoji="1" lang="ja-JP" altLang="en-US" sz="1400">
                <a:latin typeface="Meiryo UI" panose="020B0604030504040204" pitchFamily="34" charset="-128"/>
                <a:ea typeface="Meiryo UI" panose="020B0604030504040204" pitchFamily="34" charset="-128"/>
              </a:rPr>
              <a:t>　</a:t>
            </a:r>
            <a:r>
              <a:rPr kumimoji="1"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可用性に月額</a:t>
            </a:r>
            <a:r>
              <a:rPr lang="en-US" altLang="ja-JP" sz="1400" dirty="0">
                <a:latin typeface="Meiryo UI" panose="020B0604030504040204" pitchFamily="34" charset="-128"/>
                <a:ea typeface="Meiryo UI" panose="020B0604030504040204" pitchFamily="34" charset="-128"/>
              </a:rPr>
              <a:t>10</a:t>
            </a:r>
            <a:r>
              <a:rPr lang="ja-JP" altLang="en-US" sz="1400">
                <a:latin typeface="Meiryo UI" panose="020B0604030504040204" pitchFamily="34" charset="-128"/>
                <a:ea typeface="Meiryo UI" panose="020B0604030504040204" pitchFamily="34" charset="-128"/>
              </a:rPr>
              <a:t>万円以上の投資をすることを想定していない（費用対効果のバランスが合わない）</a:t>
            </a:r>
            <a:endParaRPr kumimoji="1" lang="ja-JP" altLang="en-US" sz="1400" dirty="0">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250926AA-AC30-DFE5-C99D-522DCAA92CFA}"/>
              </a:ext>
            </a:extLst>
          </p:cNvPr>
          <p:cNvSpPr/>
          <p:nvPr/>
        </p:nvSpPr>
        <p:spPr>
          <a:xfrm>
            <a:off x="491613" y="3072479"/>
            <a:ext cx="2143431" cy="93829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理由</a:t>
            </a:r>
            <a:endParaRPr kumimoji="1" lang="ja-JP" altLang="en-US" sz="1400" dirty="0">
              <a:latin typeface="Meiryo UI" panose="020B0604030504040204" pitchFamily="34" charset="-128"/>
              <a:ea typeface="Meiryo UI" panose="020B0604030504040204" pitchFamily="34" charset="-128"/>
            </a:endParaRPr>
          </a:p>
        </p:txBody>
      </p:sp>
      <p:sp>
        <p:nvSpPr>
          <p:cNvPr id="16" name="正方形/長方形 15">
            <a:extLst>
              <a:ext uri="{FF2B5EF4-FFF2-40B4-BE49-F238E27FC236}">
                <a16:creationId xmlns:a16="http://schemas.microsoft.com/office/drawing/2014/main" id="{DC6D8270-2265-E47E-4462-B937BFCDE53A}"/>
              </a:ext>
            </a:extLst>
          </p:cNvPr>
          <p:cNvSpPr/>
          <p:nvPr/>
        </p:nvSpPr>
        <p:spPr>
          <a:xfrm>
            <a:off x="2635044" y="3072479"/>
            <a:ext cx="9065343" cy="9382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400">
                <a:latin typeface="Meiryo UI" panose="020B0604030504040204" pitchFamily="34" charset="-128"/>
                <a:ea typeface="Meiryo UI" panose="020B0604030504040204" pitchFamily="34" charset="-128"/>
              </a:rPr>
              <a:t>・</a:t>
            </a:r>
            <a:r>
              <a:rPr kumimoji="1" lang="en-US" altLang="ja-JP" sz="1400" dirty="0">
                <a:latin typeface="Meiryo UI" panose="020B0604030504040204" pitchFamily="34" charset="-128"/>
                <a:ea typeface="Meiryo UI" panose="020B0604030504040204" pitchFamily="34" charset="-128"/>
              </a:rPr>
              <a:t>24</a:t>
            </a:r>
            <a:r>
              <a:rPr kumimoji="1" lang="ja-JP" altLang="en-US" sz="1400">
                <a:latin typeface="Meiryo UI" panose="020B0604030504040204" pitchFamily="34" charset="-128"/>
                <a:ea typeface="Meiryo UI" panose="020B0604030504040204" pitchFamily="34" charset="-128"/>
              </a:rPr>
              <a:t>時間</a:t>
            </a:r>
            <a:r>
              <a:rPr kumimoji="1" lang="en-US" altLang="ja-JP" sz="1400" dirty="0">
                <a:latin typeface="Meiryo UI" panose="020B0604030504040204" pitchFamily="34" charset="-128"/>
                <a:ea typeface="Meiryo UI" panose="020B0604030504040204" pitchFamily="34" charset="-128"/>
              </a:rPr>
              <a:t>365</a:t>
            </a:r>
            <a:r>
              <a:rPr kumimoji="1" lang="ja-JP" altLang="en-US" sz="1400">
                <a:latin typeface="Meiryo UI" panose="020B0604030504040204" pitchFamily="34" charset="-128"/>
                <a:ea typeface="Meiryo UI" panose="020B0604030504040204" pitchFamily="34" charset="-128"/>
              </a:rPr>
              <a:t>日の問合せ受付を実現することが本システム導入の目的であるため</a:t>
            </a:r>
            <a:endParaRPr kumimoji="1" lang="ja-JP" altLang="en-US" sz="1400" dirty="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EB25D8A4-FDF9-80B2-4660-BE6FF0EFACC0}"/>
              </a:ext>
            </a:extLst>
          </p:cNvPr>
          <p:cNvSpPr/>
          <p:nvPr/>
        </p:nvSpPr>
        <p:spPr>
          <a:xfrm>
            <a:off x="491613" y="1367270"/>
            <a:ext cx="2143431" cy="54077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管理番号</a:t>
            </a:r>
            <a:endParaRPr kumimoji="1" lang="ja-JP" altLang="en-US" sz="1400" dirty="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AC74BC6C-1195-57E5-F771-392B744647D0}"/>
              </a:ext>
            </a:extLst>
          </p:cNvPr>
          <p:cNvSpPr/>
          <p:nvPr/>
        </p:nvSpPr>
        <p:spPr>
          <a:xfrm>
            <a:off x="2635044" y="1367270"/>
            <a:ext cx="9065343" cy="5407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sz="1400" dirty="0">
                <a:latin typeface="Meiryo UI" panose="020B0604030504040204" pitchFamily="34" charset="-128"/>
                <a:ea typeface="Meiryo UI" panose="020B0604030504040204" pitchFamily="34" charset="-128"/>
              </a:rPr>
              <a:t>NR-01</a:t>
            </a:r>
            <a:endParaRPr kumimoji="1" lang="en-US" altLang="ja-JP" sz="14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446801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FB76A-D903-FA62-C118-177067DFBB05}"/>
              </a:ext>
            </a:extLst>
          </p:cNvPr>
          <p:cNvSpPr>
            <a:spLocks noGrp="1"/>
          </p:cNvSpPr>
          <p:nvPr>
            <p:ph type="title"/>
          </p:nvPr>
        </p:nvSpPr>
        <p:spPr/>
        <p:txBody>
          <a:bodyPr>
            <a:normAutofit fontScale="90000"/>
          </a:bodyPr>
          <a:lstStyle/>
          <a:p>
            <a:r>
              <a:rPr kumimoji="1" lang="ja-JP" altLang="en-US"/>
              <a:t>非機能要件：性能</a:t>
            </a:r>
          </a:p>
        </p:txBody>
      </p:sp>
      <p:sp>
        <p:nvSpPr>
          <p:cNvPr id="4" name="フッター プレースホルダー 3">
            <a:extLst>
              <a:ext uri="{FF2B5EF4-FFF2-40B4-BE49-F238E27FC236}">
                <a16:creationId xmlns:a16="http://schemas.microsoft.com/office/drawing/2014/main" id="{75F3D536-D715-5485-D7EA-B448949FA2B1}"/>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1C22B9A1-F3DD-F517-60CC-951ED86AF727}"/>
              </a:ext>
            </a:extLst>
          </p:cNvPr>
          <p:cNvSpPr>
            <a:spLocks noGrp="1"/>
          </p:cNvSpPr>
          <p:nvPr>
            <p:ph type="sldNum" sz="quarter" idx="12"/>
          </p:nvPr>
        </p:nvSpPr>
        <p:spPr/>
        <p:txBody>
          <a:bodyPr/>
          <a:lstStyle/>
          <a:p>
            <a:fld id="{462052E6-07CA-9B46-B866-FDE18BF74505}" type="slidenum">
              <a:rPr lang="ja-JP" altLang="en-US" smtClean="0"/>
              <a:pPr/>
              <a:t>10</a:t>
            </a:fld>
            <a:endParaRPr lang="ja-JP" altLang="en-US"/>
          </a:p>
        </p:txBody>
      </p:sp>
      <p:sp>
        <p:nvSpPr>
          <p:cNvPr id="8" name="コンテンツ プレースホルダー 2">
            <a:extLst>
              <a:ext uri="{FF2B5EF4-FFF2-40B4-BE49-F238E27FC236}">
                <a16:creationId xmlns:a16="http://schemas.microsoft.com/office/drawing/2014/main" id="{1DCA6FDA-B579-C732-2013-ECA76866E160}"/>
              </a:ext>
            </a:extLst>
          </p:cNvPr>
          <p:cNvSpPr txBox="1">
            <a:spLocks/>
          </p:cNvSpPr>
          <p:nvPr/>
        </p:nvSpPr>
        <p:spPr>
          <a:xfrm>
            <a:off x="397565" y="805967"/>
            <a:ext cx="11396870" cy="5044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34" charset="-128"/>
                <a:ea typeface="Meiryo UI"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34" charset="-128"/>
                <a:ea typeface="Meiryo UI"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34" charset="-128"/>
                <a:ea typeface="Meiryo UI"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20000"/>
              </a:lnSpc>
            </a:pPr>
            <a:r>
              <a:rPr lang="ja-JP" altLang="en-US" sz="2000"/>
              <a:t>性能に対する要件を下記のように定義する</a:t>
            </a:r>
          </a:p>
        </p:txBody>
      </p:sp>
      <p:sp>
        <p:nvSpPr>
          <p:cNvPr id="9" name="正方形/長方形 8">
            <a:extLst>
              <a:ext uri="{FF2B5EF4-FFF2-40B4-BE49-F238E27FC236}">
                <a16:creationId xmlns:a16="http://schemas.microsoft.com/office/drawing/2014/main" id="{03E6E5C1-24DF-473C-37DE-1DBFC4522185}"/>
              </a:ext>
            </a:extLst>
          </p:cNvPr>
          <p:cNvSpPr/>
          <p:nvPr/>
        </p:nvSpPr>
        <p:spPr>
          <a:xfrm>
            <a:off x="491613" y="1908042"/>
            <a:ext cx="2143431" cy="1164437"/>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基本要件</a:t>
            </a:r>
            <a:endParaRPr kumimoji="1" lang="ja-JP" altLang="en-US" sz="1400" dirty="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04C07F2B-8DE9-2DA3-AD11-FDCF8F750519}"/>
              </a:ext>
            </a:extLst>
          </p:cNvPr>
          <p:cNvSpPr/>
          <p:nvPr/>
        </p:nvSpPr>
        <p:spPr>
          <a:xfrm>
            <a:off x="2635044" y="1908042"/>
            <a:ext cx="9065343" cy="116443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400">
                <a:latin typeface="Meiryo UI" panose="020B0604030504040204" pitchFamily="34" charset="-128"/>
                <a:ea typeface="Meiryo UI" panose="020B0604030504040204" pitchFamily="34" charset="-128"/>
              </a:rPr>
              <a:t>・アクセス数要件</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静的ページは</a:t>
            </a:r>
            <a:r>
              <a:rPr lang="en-US" altLang="ja-JP" sz="1400" dirty="0">
                <a:latin typeface="Meiryo UI" panose="020B0604030504040204" pitchFamily="34" charset="-128"/>
                <a:ea typeface="Meiryo UI" panose="020B0604030504040204" pitchFamily="34" charset="-128"/>
              </a:rPr>
              <a:t>10PV/10</a:t>
            </a:r>
            <a:r>
              <a:rPr lang="ja-JP" altLang="en-US" sz="1400">
                <a:latin typeface="Meiryo UI" panose="020B0604030504040204" pitchFamily="34" charset="-128"/>
                <a:ea typeface="Meiryo UI" panose="020B0604030504040204" pitchFamily="34" charset="-128"/>
              </a:rPr>
              <a:t>秒程度のアクセスに対して、平均</a:t>
            </a:r>
            <a:r>
              <a:rPr lang="en-US" altLang="ja-JP" sz="1400" dirty="0">
                <a:latin typeface="Meiryo UI" panose="020B0604030504040204" pitchFamily="34" charset="-128"/>
                <a:ea typeface="Meiryo UI" panose="020B0604030504040204" pitchFamily="34" charset="-128"/>
              </a:rPr>
              <a:t>1</a:t>
            </a:r>
            <a:r>
              <a:rPr lang="ja-JP" altLang="en-US" sz="1400">
                <a:latin typeface="Meiryo UI" panose="020B0604030504040204" pitchFamily="34" charset="-128"/>
                <a:ea typeface="Meiryo UI" panose="020B0604030504040204" pitchFamily="34" charset="-128"/>
              </a:rPr>
              <a:t>秒以内で表示できること</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動的（書込み）ページは</a:t>
            </a:r>
            <a:r>
              <a:rPr lang="en-US" altLang="ja-JP" sz="1400" dirty="0">
                <a:latin typeface="Meiryo UI" panose="020B0604030504040204" pitchFamily="34" charset="-128"/>
                <a:ea typeface="Meiryo UI" panose="020B0604030504040204" pitchFamily="34" charset="-128"/>
              </a:rPr>
              <a:t>10PV/10</a:t>
            </a:r>
            <a:r>
              <a:rPr lang="ja-JP" altLang="en-US" sz="1400">
                <a:latin typeface="Meiryo UI" panose="020B0604030504040204" pitchFamily="34" charset="-128"/>
                <a:ea typeface="Meiryo UI" panose="020B0604030504040204" pitchFamily="34" charset="-128"/>
              </a:rPr>
              <a:t>秒程度のアクセスに対して、平均</a:t>
            </a:r>
            <a:r>
              <a:rPr lang="en-US" altLang="ja-JP" sz="1400" dirty="0">
                <a:latin typeface="Meiryo UI" panose="020B0604030504040204" pitchFamily="34" charset="-128"/>
                <a:ea typeface="Meiryo UI" panose="020B0604030504040204" pitchFamily="34" charset="-128"/>
              </a:rPr>
              <a:t>2</a:t>
            </a:r>
            <a:r>
              <a:rPr lang="ja-JP" altLang="en-US" sz="1400">
                <a:latin typeface="Meiryo UI" panose="020B0604030504040204" pitchFamily="34" charset="-128"/>
                <a:ea typeface="Meiryo UI" panose="020B0604030504040204" pitchFamily="34" charset="-128"/>
              </a:rPr>
              <a:t>秒以内で表示（書込み）できること（</a:t>
            </a:r>
            <a:r>
              <a:rPr lang="en-US" altLang="ja-JP" sz="1400" dirty="0">
                <a:latin typeface="Meiryo UI" panose="020B0604030504040204" pitchFamily="34" charset="-128"/>
                <a:ea typeface="Meiryo UI" panose="020B0604030504040204" pitchFamily="34" charset="-128"/>
              </a:rPr>
              <a:t>0.5TPS</a:t>
            </a:r>
            <a:r>
              <a:rPr lang="ja-JP" altLang="en-US" sz="1400">
                <a:latin typeface="Meiryo UI" panose="020B0604030504040204" pitchFamily="34" charset="-128"/>
                <a:ea typeface="Meiryo UI" panose="020B0604030504040204" pitchFamily="34" charset="-128"/>
              </a:rPr>
              <a:t>）</a:t>
            </a:r>
            <a:endParaRPr lang="en-US" altLang="ja-JP" sz="1400" dirty="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534C6EE8-BFBB-8AC7-717B-211FA1498D0E}"/>
              </a:ext>
            </a:extLst>
          </p:cNvPr>
          <p:cNvSpPr/>
          <p:nvPr/>
        </p:nvSpPr>
        <p:spPr>
          <a:xfrm>
            <a:off x="491613" y="4010772"/>
            <a:ext cx="2143431" cy="2187956"/>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補足</a:t>
            </a:r>
            <a:endParaRPr kumimoji="1" lang="ja-JP" altLang="en-US" sz="1400" dirty="0">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918262C8-80C8-F080-77D4-44FFD121C323}"/>
              </a:ext>
            </a:extLst>
          </p:cNvPr>
          <p:cNvSpPr/>
          <p:nvPr/>
        </p:nvSpPr>
        <p:spPr>
          <a:xfrm>
            <a:off x="2635044" y="4010772"/>
            <a:ext cx="9065343" cy="21879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400">
                <a:latin typeface="Meiryo UI" panose="020B0604030504040204" pitchFamily="34" charset="-128"/>
                <a:ea typeface="Meiryo UI" panose="020B0604030504040204" pitchFamily="34" charset="-128"/>
              </a:rPr>
              <a:t>・拡張性について</a:t>
            </a:r>
            <a:endParaRPr lang="en-US" altLang="ja-JP" sz="1400" dirty="0">
              <a:latin typeface="Meiryo UI" panose="020B0604030504040204" pitchFamily="34" charset="-128"/>
              <a:ea typeface="Meiryo UI" panose="020B0604030504040204" pitchFamily="34" charset="-128"/>
            </a:endParaRPr>
          </a:p>
          <a:p>
            <a:r>
              <a:rPr kumimoji="1" lang="ja-JP" altLang="en-US" sz="1400">
                <a:latin typeface="Meiryo UI" panose="020B0604030504040204" pitchFamily="34" charset="-128"/>
                <a:ea typeface="Meiryo UI" panose="020B0604030504040204" pitchFamily="34" charset="-128"/>
              </a:rPr>
              <a:t>　</a:t>
            </a:r>
            <a:r>
              <a:rPr kumimoji="1" lang="en-US" altLang="ja-JP" sz="1400" dirty="0">
                <a:latin typeface="Meiryo UI" panose="020B0604030504040204" pitchFamily="34" charset="-128"/>
                <a:ea typeface="Meiryo UI" panose="020B0604030504040204" pitchFamily="34" charset="-128"/>
              </a:rPr>
              <a:t>- </a:t>
            </a:r>
            <a:r>
              <a:rPr kumimoji="1" lang="ja-JP" altLang="en-US" sz="1400">
                <a:latin typeface="Meiryo UI" panose="020B0604030504040204" pitchFamily="34" charset="-128"/>
                <a:ea typeface="Meiryo UI" panose="020B0604030504040204" pitchFamily="34" charset="-128"/>
              </a:rPr>
              <a:t>本開発においては拡張性は検討対象外とする</a:t>
            </a:r>
            <a:r>
              <a:rPr lang="ja-JP" altLang="en-US" sz="1400">
                <a:latin typeface="Meiryo UI" panose="020B0604030504040204" pitchFamily="34" charset="-128"/>
                <a:ea typeface="Meiryo UI" panose="020B0604030504040204" pitchFamily="34" charset="-128"/>
              </a:rPr>
              <a:t>が、</a:t>
            </a:r>
            <a:r>
              <a:rPr lang="ja-JP" altLang="en-US" sz="1400">
                <a:highlight>
                  <a:srgbClr val="FFFF00"/>
                </a:highlight>
                <a:latin typeface="Meiryo UI" panose="020B0604030504040204" pitchFamily="34" charset="-128"/>
                <a:ea typeface="Meiryo UI" panose="020B0604030504040204" pitchFamily="34" charset="-128"/>
              </a:rPr>
              <a:t>性能増強が必要な際の拡張方法は方式設計にて明確にしておくこと</a:t>
            </a:r>
            <a:endParaRPr lang="en-US" altLang="ja-JP" sz="1400" dirty="0">
              <a:highlight>
                <a:srgbClr val="FFFF00"/>
              </a:highlight>
              <a:latin typeface="Meiryo UI" panose="020B0604030504040204" pitchFamily="34" charset="-128"/>
              <a:ea typeface="Meiryo UI" panose="020B0604030504040204" pitchFamily="34" charset="-128"/>
            </a:endParaRPr>
          </a:p>
          <a:p>
            <a:r>
              <a:rPr kumimoji="1" lang="ja-JP" altLang="en-US" sz="140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静的ページ</a:t>
            </a:r>
            <a:r>
              <a:rPr lang="en-US" altLang="ja-JP" sz="1400" dirty="0">
                <a:latin typeface="Meiryo UI" panose="020B0604030504040204" pitchFamily="34" charset="-128"/>
                <a:ea typeface="Meiryo UI" panose="020B0604030504040204" pitchFamily="34" charset="-128"/>
              </a:rPr>
              <a:t> 1000PV/</a:t>
            </a:r>
            <a:r>
              <a:rPr lang="ja-JP" altLang="en-US" sz="1400">
                <a:latin typeface="Meiryo UI" panose="020B0604030504040204" pitchFamily="34" charset="-128"/>
                <a:ea typeface="Meiryo UI" panose="020B0604030504040204" pitchFamily="34" charset="-128"/>
              </a:rPr>
              <a:t>秒、動的ページ</a:t>
            </a:r>
            <a:r>
              <a:rPr lang="en-US" altLang="ja-JP" sz="1400" dirty="0">
                <a:latin typeface="Meiryo UI" panose="020B0604030504040204" pitchFamily="34" charset="-128"/>
                <a:ea typeface="Meiryo UI" panose="020B0604030504040204" pitchFamily="34" charset="-128"/>
              </a:rPr>
              <a:t> 100TPS</a:t>
            </a:r>
            <a:r>
              <a:rPr lang="ja-JP" altLang="en-US" sz="1400">
                <a:latin typeface="Meiryo UI" panose="020B0604030504040204" pitchFamily="34" charset="-128"/>
                <a:ea typeface="Meiryo UI" panose="020B0604030504040204" pitchFamily="34" charset="-128"/>
              </a:rPr>
              <a:t>程度を想定）</a:t>
            </a:r>
            <a:endParaRPr kumimoji="1" lang="en-US" altLang="ja-JP" sz="1400" dirty="0">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250926AA-AC30-DFE5-C99D-522DCAA92CFA}"/>
              </a:ext>
            </a:extLst>
          </p:cNvPr>
          <p:cNvSpPr/>
          <p:nvPr/>
        </p:nvSpPr>
        <p:spPr>
          <a:xfrm>
            <a:off x="491613" y="3072479"/>
            <a:ext cx="2143431" cy="938293"/>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理由</a:t>
            </a:r>
            <a:endParaRPr kumimoji="1" lang="ja-JP" altLang="en-US" sz="1400" dirty="0">
              <a:latin typeface="Meiryo UI" panose="020B0604030504040204" pitchFamily="34" charset="-128"/>
              <a:ea typeface="Meiryo UI" panose="020B0604030504040204" pitchFamily="34" charset="-128"/>
            </a:endParaRPr>
          </a:p>
        </p:txBody>
      </p:sp>
      <p:sp>
        <p:nvSpPr>
          <p:cNvPr id="16" name="正方形/長方形 15">
            <a:extLst>
              <a:ext uri="{FF2B5EF4-FFF2-40B4-BE49-F238E27FC236}">
                <a16:creationId xmlns:a16="http://schemas.microsoft.com/office/drawing/2014/main" id="{DC6D8270-2265-E47E-4462-B937BFCDE53A}"/>
              </a:ext>
            </a:extLst>
          </p:cNvPr>
          <p:cNvSpPr/>
          <p:nvPr/>
        </p:nvSpPr>
        <p:spPr>
          <a:xfrm>
            <a:off x="2635044" y="3072479"/>
            <a:ext cx="9065343" cy="93829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400">
                <a:latin typeface="Meiryo UI" panose="020B0604030504040204" pitchFamily="34" charset="-128"/>
                <a:ea typeface="Meiryo UI" panose="020B0604030504040204" pitchFamily="34" charset="-128"/>
              </a:rPr>
              <a:t>・利用者の利便性を向上し、離脱を防止するため</a:t>
            </a:r>
            <a:endParaRPr kumimoji="1" lang="ja-JP" altLang="en-US" sz="1400" dirty="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EB25D8A4-FDF9-80B2-4660-BE6FF0EFACC0}"/>
              </a:ext>
            </a:extLst>
          </p:cNvPr>
          <p:cNvSpPr/>
          <p:nvPr/>
        </p:nvSpPr>
        <p:spPr>
          <a:xfrm>
            <a:off x="491613" y="1367270"/>
            <a:ext cx="2143431" cy="54077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管理番号</a:t>
            </a:r>
            <a:endParaRPr kumimoji="1" lang="ja-JP" altLang="en-US" sz="1400" dirty="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AC74BC6C-1195-57E5-F771-392B744647D0}"/>
              </a:ext>
            </a:extLst>
          </p:cNvPr>
          <p:cNvSpPr/>
          <p:nvPr/>
        </p:nvSpPr>
        <p:spPr>
          <a:xfrm>
            <a:off x="2635044" y="1367270"/>
            <a:ext cx="9065343" cy="5407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sz="1400" dirty="0">
                <a:latin typeface="Meiryo UI" panose="020B0604030504040204" pitchFamily="34" charset="-128"/>
                <a:ea typeface="Meiryo UI" panose="020B0604030504040204" pitchFamily="34" charset="-128"/>
              </a:rPr>
              <a:t>NR-02</a:t>
            </a:r>
            <a:endParaRPr kumimoji="1" lang="en-US" altLang="ja-JP" sz="14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816568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FB76A-D903-FA62-C118-177067DFBB05}"/>
              </a:ext>
            </a:extLst>
          </p:cNvPr>
          <p:cNvSpPr>
            <a:spLocks noGrp="1"/>
          </p:cNvSpPr>
          <p:nvPr>
            <p:ph type="title"/>
          </p:nvPr>
        </p:nvSpPr>
        <p:spPr/>
        <p:txBody>
          <a:bodyPr>
            <a:normAutofit fontScale="90000"/>
          </a:bodyPr>
          <a:lstStyle/>
          <a:p>
            <a:r>
              <a:rPr kumimoji="1" lang="ja-JP" altLang="en-US"/>
              <a:t>非機能要件：セキュリティー</a:t>
            </a:r>
          </a:p>
        </p:txBody>
      </p:sp>
      <p:sp>
        <p:nvSpPr>
          <p:cNvPr id="4" name="フッター プレースホルダー 3">
            <a:extLst>
              <a:ext uri="{FF2B5EF4-FFF2-40B4-BE49-F238E27FC236}">
                <a16:creationId xmlns:a16="http://schemas.microsoft.com/office/drawing/2014/main" id="{75F3D536-D715-5485-D7EA-B448949FA2B1}"/>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1C22B9A1-F3DD-F517-60CC-951ED86AF727}"/>
              </a:ext>
            </a:extLst>
          </p:cNvPr>
          <p:cNvSpPr>
            <a:spLocks noGrp="1"/>
          </p:cNvSpPr>
          <p:nvPr>
            <p:ph type="sldNum" sz="quarter" idx="12"/>
          </p:nvPr>
        </p:nvSpPr>
        <p:spPr/>
        <p:txBody>
          <a:bodyPr/>
          <a:lstStyle/>
          <a:p>
            <a:fld id="{462052E6-07CA-9B46-B866-FDE18BF74505}" type="slidenum">
              <a:rPr lang="ja-JP" altLang="en-US" smtClean="0"/>
              <a:pPr/>
              <a:t>11</a:t>
            </a:fld>
            <a:endParaRPr lang="ja-JP" altLang="en-US"/>
          </a:p>
        </p:txBody>
      </p:sp>
      <p:sp>
        <p:nvSpPr>
          <p:cNvPr id="8" name="コンテンツ プレースホルダー 2">
            <a:extLst>
              <a:ext uri="{FF2B5EF4-FFF2-40B4-BE49-F238E27FC236}">
                <a16:creationId xmlns:a16="http://schemas.microsoft.com/office/drawing/2014/main" id="{1DCA6FDA-B579-C732-2013-ECA76866E160}"/>
              </a:ext>
            </a:extLst>
          </p:cNvPr>
          <p:cNvSpPr txBox="1">
            <a:spLocks/>
          </p:cNvSpPr>
          <p:nvPr/>
        </p:nvSpPr>
        <p:spPr>
          <a:xfrm>
            <a:off x="397565" y="805967"/>
            <a:ext cx="11396870" cy="5044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34" charset="-128"/>
                <a:ea typeface="Meiryo UI"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34" charset="-128"/>
                <a:ea typeface="Meiryo UI"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34" charset="-128"/>
                <a:ea typeface="Meiryo UI"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20000"/>
              </a:lnSpc>
            </a:pPr>
            <a:r>
              <a:rPr lang="ja-JP" altLang="en-US" sz="2000"/>
              <a:t>セキュリティーに対する要件を下記のように定義する</a:t>
            </a:r>
          </a:p>
        </p:txBody>
      </p:sp>
      <p:sp>
        <p:nvSpPr>
          <p:cNvPr id="9" name="正方形/長方形 8">
            <a:extLst>
              <a:ext uri="{FF2B5EF4-FFF2-40B4-BE49-F238E27FC236}">
                <a16:creationId xmlns:a16="http://schemas.microsoft.com/office/drawing/2014/main" id="{03E6E5C1-24DF-473C-37DE-1DBFC4522185}"/>
              </a:ext>
            </a:extLst>
          </p:cNvPr>
          <p:cNvSpPr/>
          <p:nvPr/>
        </p:nvSpPr>
        <p:spPr>
          <a:xfrm>
            <a:off x="491613" y="1908042"/>
            <a:ext cx="2143431" cy="163717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基本要件</a:t>
            </a:r>
            <a:endParaRPr kumimoji="1" lang="ja-JP" altLang="en-US" sz="1400" dirty="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04C07F2B-8DE9-2DA3-AD11-FDCF8F750519}"/>
              </a:ext>
            </a:extLst>
          </p:cNvPr>
          <p:cNvSpPr/>
          <p:nvPr/>
        </p:nvSpPr>
        <p:spPr>
          <a:xfrm>
            <a:off x="2635044" y="1908042"/>
            <a:ext cx="9065343" cy="163717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400">
                <a:latin typeface="Meiryo UI" panose="020B0604030504040204" pitchFamily="34" charset="-128"/>
                <a:ea typeface="Meiryo UI" panose="020B0604030504040204" pitchFamily="34" charset="-128"/>
              </a:rPr>
              <a:t>・</a:t>
            </a:r>
            <a:r>
              <a:rPr lang="en-US" altLang="ja-JP" sz="1400" dirty="0">
                <a:latin typeface="Meiryo UI" panose="020B0604030504040204" pitchFamily="34" charset="-128"/>
                <a:ea typeface="Meiryo UI" panose="020B0604030504040204" pitchFamily="34" charset="-128"/>
              </a:rPr>
              <a:t>Web</a:t>
            </a:r>
            <a:r>
              <a:rPr lang="ja-JP" altLang="en-US" sz="1400">
                <a:latin typeface="Meiryo UI" panose="020B0604030504040204" pitchFamily="34" charset="-128"/>
                <a:ea typeface="Meiryo UI" panose="020B0604030504040204" pitchFamily="34" charset="-128"/>
              </a:rPr>
              <a:t>システムとしてのセキュリティー</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基本的な</a:t>
            </a:r>
            <a:r>
              <a:rPr lang="en-US" altLang="ja-JP" sz="1400" dirty="0">
                <a:latin typeface="Meiryo UI" panose="020B0604030504040204" pitchFamily="34" charset="-128"/>
                <a:ea typeface="Meiryo UI" panose="020B0604030504040204" pitchFamily="34" charset="-128"/>
              </a:rPr>
              <a:t>Web</a:t>
            </a:r>
            <a:r>
              <a:rPr lang="ja-JP" altLang="en-US" sz="1400">
                <a:latin typeface="Meiryo UI" panose="020B0604030504040204" pitchFamily="34" charset="-128"/>
                <a:ea typeface="Meiryo UI" panose="020B0604030504040204" pitchFamily="34" charset="-128"/>
              </a:rPr>
              <a:t>システムへのセキュリティー対策を実施すること</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IPA</a:t>
            </a:r>
            <a:r>
              <a:rPr lang="ja-JP" altLang="en-US" sz="1400">
                <a:latin typeface="Meiryo UI" panose="020B0604030504040204" pitchFamily="34" charset="-128"/>
                <a:ea typeface="Meiryo UI" panose="020B0604030504040204" pitchFamily="34" charset="-128"/>
              </a:rPr>
              <a:t>「</a:t>
            </a:r>
            <a:r>
              <a:rPr lang="ja-JP" altLang="en-US" sz="1400">
                <a:highlight>
                  <a:srgbClr val="00FFFF"/>
                </a:highlight>
                <a:latin typeface="Meiryo UI" panose="020B0604030504040204" pitchFamily="34" charset="-128"/>
                <a:ea typeface="Meiryo UI" panose="020B0604030504040204" pitchFamily="34" charset="-128"/>
              </a:rPr>
              <a:t>安全なウェブサイトの作り方</a:t>
            </a:r>
            <a:r>
              <a:rPr lang="en-US" altLang="ja-JP" sz="1400" dirty="0">
                <a:highlight>
                  <a:srgbClr val="00FFFF"/>
                </a:highlight>
                <a:latin typeface="Meiryo UI" panose="020B0604030504040204" pitchFamily="34" charset="-128"/>
                <a:ea typeface="Meiryo UI" panose="020B0604030504040204" pitchFamily="34" charset="-128"/>
              </a:rPr>
              <a:t> </a:t>
            </a:r>
            <a:r>
              <a:rPr lang="ja-JP" altLang="en-US" sz="1400">
                <a:highlight>
                  <a:srgbClr val="00FFFF"/>
                </a:highlight>
                <a:latin typeface="Meiryo UI" panose="020B0604030504040204" pitchFamily="34" charset="-128"/>
                <a:ea typeface="Meiryo UI" panose="020B0604030504040204" pitchFamily="34" charset="-128"/>
              </a:rPr>
              <a:t>改定第</a:t>
            </a:r>
            <a:r>
              <a:rPr lang="en-US" altLang="ja-JP" sz="1400" dirty="0">
                <a:highlight>
                  <a:srgbClr val="00FFFF"/>
                </a:highlight>
                <a:latin typeface="Meiryo UI" panose="020B0604030504040204" pitchFamily="34" charset="-128"/>
                <a:ea typeface="Meiryo UI" panose="020B0604030504040204" pitchFamily="34" charset="-128"/>
              </a:rPr>
              <a:t>7</a:t>
            </a:r>
            <a:r>
              <a:rPr lang="ja-JP" altLang="en-US" sz="1400">
                <a:highlight>
                  <a:srgbClr val="00FFFF"/>
                </a:highlight>
                <a:latin typeface="Meiryo UI" panose="020B0604030504040204" pitchFamily="34" charset="-128"/>
                <a:ea typeface="Meiryo UI" panose="020B0604030504040204" pitchFamily="34" charset="-128"/>
              </a:rPr>
              <a:t>版」チェックリスト</a:t>
            </a:r>
            <a:r>
              <a:rPr lang="ja-JP" altLang="en-US" sz="1400">
                <a:latin typeface="Meiryo UI" panose="020B0604030504040204" pitchFamily="34" charset="-128"/>
                <a:ea typeface="Meiryo UI" panose="020B0604030504040204" pitchFamily="34" charset="-128"/>
              </a:rPr>
              <a:t>にて未対策が無いこと</a:t>
            </a:r>
            <a:endParaRPr lang="en-US" altLang="ja-JP" sz="1400" dirty="0">
              <a:latin typeface="Meiryo UI" panose="020B0604030504040204" pitchFamily="34" charset="-128"/>
              <a:ea typeface="Meiryo UI" panose="020B0604030504040204" pitchFamily="34" charset="-128"/>
            </a:endParaRPr>
          </a:p>
          <a:p>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・クラウド環境を含めたセキュリティー</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クラウドを利用するアカウントには</a:t>
            </a:r>
            <a:r>
              <a:rPr lang="en-US" altLang="ja-JP" sz="1400" dirty="0">
                <a:latin typeface="Meiryo UI" panose="020B0604030504040204" pitchFamily="34" charset="-128"/>
                <a:ea typeface="Meiryo UI" panose="020B0604030504040204" pitchFamily="34" charset="-128"/>
              </a:rPr>
              <a:t>MFA</a:t>
            </a:r>
            <a:r>
              <a:rPr lang="ja-JP" altLang="en-US" sz="1400">
                <a:latin typeface="Meiryo UI" panose="020B0604030504040204" pitchFamily="34" charset="-128"/>
                <a:ea typeface="Meiryo UI" panose="020B0604030504040204" pitchFamily="34" charset="-128"/>
              </a:rPr>
              <a:t>を提供する</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ファイル管理サービスを利用する場合は、全公開設定になっていないことを明示的に確認する</a:t>
            </a:r>
            <a:endParaRPr lang="en-US" altLang="ja-JP" sz="1400" dirty="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534C6EE8-BFBB-8AC7-717B-211FA1498D0E}"/>
              </a:ext>
            </a:extLst>
          </p:cNvPr>
          <p:cNvSpPr/>
          <p:nvPr/>
        </p:nvSpPr>
        <p:spPr>
          <a:xfrm>
            <a:off x="491613" y="4483510"/>
            <a:ext cx="2143431" cy="1715218"/>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補足</a:t>
            </a:r>
            <a:endParaRPr kumimoji="1" lang="ja-JP" altLang="en-US" sz="1400" dirty="0">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918262C8-80C8-F080-77D4-44FFD121C323}"/>
              </a:ext>
            </a:extLst>
          </p:cNvPr>
          <p:cNvSpPr/>
          <p:nvPr/>
        </p:nvSpPr>
        <p:spPr>
          <a:xfrm>
            <a:off x="2635044" y="4483510"/>
            <a:ext cx="9065343" cy="171521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400">
                <a:latin typeface="Meiryo UI" panose="020B0604030504040204" pitchFamily="34" charset="-128"/>
                <a:ea typeface="Meiryo UI" panose="020B0604030504040204" pitchFamily="34" charset="-128"/>
              </a:rPr>
              <a:t>・セキュリティーチェックについて</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Web</a:t>
            </a:r>
            <a:r>
              <a:rPr lang="ja-JP" altLang="en-US" sz="1400">
                <a:latin typeface="Meiryo UI" panose="020B0604030504040204" pitchFamily="34" charset="-128"/>
                <a:ea typeface="Meiryo UI" panose="020B0604030504040204" pitchFamily="34" charset="-128"/>
              </a:rPr>
              <a:t>システム</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・セキュリティー診断ツール（</a:t>
            </a:r>
            <a:r>
              <a:rPr lang="en-US" altLang="ja-JP" sz="1400" dirty="0">
                <a:latin typeface="Meiryo UI" panose="020B0604030504040204" pitchFamily="34" charset="-128"/>
                <a:ea typeface="Meiryo UI" panose="020B0604030504040204" pitchFamily="34" charset="-128"/>
              </a:rPr>
              <a:t>OWASP-ZAP</a:t>
            </a:r>
            <a:r>
              <a:rPr lang="ja-JP" altLang="en-US" sz="1400">
                <a:latin typeface="Meiryo UI" panose="020B0604030504040204" pitchFamily="34" charset="-128"/>
                <a:ea typeface="Meiryo UI" panose="020B0604030504040204" pitchFamily="34" charset="-128"/>
              </a:rPr>
              <a:t>）で「</a:t>
            </a:r>
            <a:r>
              <a:rPr lang="en-US" altLang="ja-JP" sz="1400" dirty="0">
                <a:latin typeface="Meiryo UI" panose="020B0604030504040204" pitchFamily="34" charset="-128"/>
                <a:ea typeface="Meiryo UI" panose="020B0604030504040204" pitchFamily="34" charset="-128"/>
              </a:rPr>
              <a:t>High</a:t>
            </a:r>
            <a:r>
              <a:rPr lang="ja-JP" altLang="en-US" sz="1400">
                <a:latin typeface="Meiryo UI" panose="020B0604030504040204" pitchFamily="34" charset="-128"/>
                <a:ea typeface="Meiryo UI" panose="020B0604030504040204" pitchFamily="34" charset="-128"/>
              </a:rPr>
              <a:t>」のエラーが無いことをリリース判定基準とする</a:t>
            </a:r>
            <a:endParaRPr lang="en-US" altLang="ja-JP" sz="1400" dirty="0">
              <a:latin typeface="Meiryo UI" panose="020B0604030504040204" pitchFamily="34" charset="-128"/>
              <a:ea typeface="Meiryo UI" panose="020B0604030504040204" pitchFamily="34" charset="-128"/>
            </a:endParaRPr>
          </a:p>
          <a:p>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 </a:t>
            </a:r>
            <a:r>
              <a:rPr lang="ja-JP" altLang="en-US" sz="1400">
                <a:latin typeface="Meiryo UI" panose="020B0604030504040204" pitchFamily="34" charset="-128"/>
                <a:ea typeface="Meiryo UI" panose="020B0604030504040204" pitchFamily="34" charset="-128"/>
              </a:rPr>
              <a:t>クラウド環境</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・リリース前に「</a:t>
            </a:r>
            <a:r>
              <a:rPr lang="ja-JP" altLang="en-US" sz="1400">
                <a:highlight>
                  <a:srgbClr val="00FF00"/>
                </a:highlight>
                <a:latin typeface="Meiryo UI" panose="020B0604030504040204" pitchFamily="34" charset="-128"/>
                <a:ea typeface="Meiryo UI" panose="020B0604030504040204" pitchFamily="34" charset="-128"/>
              </a:rPr>
              <a:t>社内セキュリティー担当者の監査</a:t>
            </a:r>
            <a:r>
              <a:rPr lang="ja-JP" altLang="en-US" sz="1400">
                <a:latin typeface="Meiryo UI" panose="020B0604030504040204" pitchFamily="34" charset="-128"/>
                <a:ea typeface="Meiryo UI" panose="020B0604030504040204" pitchFamily="34" charset="-128"/>
              </a:rPr>
              <a:t>」をクリアすることをリリース判定基準とする</a:t>
            </a:r>
            <a:endParaRPr lang="en-US" altLang="ja-JP" sz="1400" dirty="0">
              <a:latin typeface="Meiryo UI" panose="020B0604030504040204" pitchFamily="34" charset="-128"/>
              <a:ea typeface="Meiryo UI" panose="020B0604030504040204" pitchFamily="34" charset="-128"/>
            </a:endParaRPr>
          </a:p>
        </p:txBody>
      </p:sp>
      <p:sp>
        <p:nvSpPr>
          <p:cNvPr id="15" name="正方形/長方形 14">
            <a:extLst>
              <a:ext uri="{FF2B5EF4-FFF2-40B4-BE49-F238E27FC236}">
                <a16:creationId xmlns:a16="http://schemas.microsoft.com/office/drawing/2014/main" id="{250926AA-AC30-DFE5-C99D-522DCAA92CFA}"/>
              </a:ext>
            </a:extLst>
          </p:cNvPr>
          <p:cNvSpPr/>
          <p:nvPr/>
        </p:nvSpPr>
        <p:spPr>
          <a:xfrm>
            <a:off x="491613" y="3545217"/>
            <a:ext cx="2143431" cy="938293"/>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理由</a:t>
            </a:r>
            <a:endParaRPr kumimoji="1" lang="ja-JP" altLang="en-US" sz="1400" dirty="0">
              <a:latin typeface="Meiryo UI" panose="020B0604030504040204" pitchFamily="34" charset="-128"/>
              <a:ea typeface="Meiryo UI" panose="020B0604030504040204" pitchFamily="34" charset="-128"/>
            </a:endParaRPr>
          </a:p>
        </p:txBody>
      </p:sp>
      <p:sp>
        <p:nvSpPr>
          <p:cNvPr id="16" name="正方形/長方形 15">
            <a:extLst>
              <a:ext uri="{FF2B5EF4-FFF2-40B4-BE49-F238E27FC236}">
                <a16:creationId xmlns:a16="http://schemas.microsoft.com/office/drawing/2014/main" id="{DC6D8270-2265-E47E-4462-B937BFCDE53A}"/>
              </a:ext>
            </a:extLst>
          </p:cNvPr>
          <p:cNvSpPr/>
          <p:nvPr/>
        </p:nvSpPr>
        <p:spPr>
          <a:xfrm>
            <a:off x="2635044" y="3545217"/>
            <a:ext cx="9065343" cy="93829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400">
                <a:latin typeface="Meiryo UI" panose="020B0604030504040204" pitchFamily="34" charset="-128"/>
                <a:ea typeface="Meiryo UI" panose="020B0604030504040204" pitchFamily="34" charset="-128"/>
              </a:rPr>
              <a:t>・自社はもちろんお客様の問合せ情報を安全に受け取り、管理するため</a:t>
            </a:r>
            <a:endParaRPr kumimoji="1" lang="ja-JP" altLang="en-US" sz="1400" dirty="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EB25D8A4-FDF9-80B2-4660-BE6FF0EFACC0}"/>
              </a:ext>
            </a:extLst>
          </p:cNvPr>
          <p:cNvSpPr/>
          <p:nvPr/>
        </p:nvSpPr>
        <p:spPr>
          <a:xfrm>
            <a:off x="491613" y="1367270"/>
            <a:ext cx="2143431" cy="54077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管理番号</a:t>
            </a:r>
            <a:endParaRPr kumimoji="1" lang="ja-JP" altLang="en-US" sz="1400" dirty="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AC74BC6C-1195-57E5-F771-392B744647D0}"/>
              </a:ext>
            </a:extLst>
          </p:cNvPr>
          <p:cNvSpPr/>
          <p:nvPr/>
        </p:nvSpPr>
        <p:spPr>
          <a:xfrm>
            <a:off x="2635044" y="1367270"/>
            <a:ext cx="9065343" cy="5407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sz="1400" dirty="0">
                <a:latin typeface="Meiryo UI" panose="020B0604030504040204" pitchFamily="34" charset="-128"/>
                <a:ea typeface="Meiryo UI" panose="020B0604030504040204" pitchFamily="34" charset="-128"/>
              </a:rPr>
              <a:t>NR-03</a:t>
            </a:r>
            <a:endParaRPr kumimoji="1" lang="en-US" altLang="ja-JP" sz="14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959927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FB76A-D903-FA62-C118-177067DFBB05}"/>
              </a:ext>
            </a:extLst>
          </p:cNvPr>
          <p:cNvSpPr>
            <a:spLocks noGrp="1"/>
          </p:cNvSpPr>
          <p:nvPr>
            <p:ph type="title"/>
          </p:nvPr>
        </p:nvSpPr>
        <p:spPr/>
        <p:txBody>
          <a:bodyPr>
            <a:normAutofit fontScale="90000"/>
          </a:bodyPr>
          <a:lstStyle/>
          <a:p>
            <a:r>
              <a:rPr kumimoji="1" lang="ja-JP" altLang="en-US"/>
              <a:t>非機能要件：移行性</a:t>
            </a:r>
          </a:p>
        </p:txBody>
      </p:sp>
      <p:sp>
        <p:nvSpPr>
          <p:cNvPr id="4" name="フッター プレースホルダー 3">
            <a:extLst>
              <a:ext uri="{FF2B5EF4-FFF2-40B4-BE49-F238E27FC236}">
                <a16:creationId xmlns:a16="http://schemas.microsoft.com/office/drawing/2014/main" id="{75F3D536-D715-5485-D7EA-B448949FA2B1}"/>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1C22B9A1-F3DD-F517-60CC-951ED86AF727}"/>
              </a:ext>
            </a:extLst>
          </p:cNvPr>
          <p:cNvSpPr>
            <a:spLocks noGrp="1"/>
          </p:cNvSpPr>
          <p:nvPr>
            <p:ph type="sldNum" sz="quarter" idx="12"/>
          </p:nvPr>
        </p:nvSpPr>
        <p:spPr/>
        <p:txBody>
          <a:bodyPr/>
          <a:lstStyle/>
          <a:p>
            <a:fld id="{462052E6-07CA-9B46-B866-FDE18BF74505}" type="slidenum">
              <a:rPr lang="ja-JP" altLang="en-US" smtClean="0"/>
              <a:pPr/>
              <a:t>12</a:t>
            </a:fld>
            <a:endParaRPr lang="ja-JP" altLang="en-US"/>
          </a:p>
        </p:txBody>
      </p:sp>
      <p:sp>
        <p:nvSpPr>
          <p:cNvPr id="8" name="コンテンツ プレースホルダー 2">
            <a:extLst>
              <a:ext uri="{FF2B5EF4-FFF2-40B4-BE49-F238E27FC236}">
                <a16:creationId xmlns:a16="http://schemas.microsoft.com/office/drawing/2014/main" id="{1DCA6FDA-B579-C732-2013-ECA76866E160}"/>
              </a:ext>
            </a:extLst>
          </p:cNvPr>
          <p:cNvSpPr txBox="1">
            <a:spLocks/>
          </p:cNvSpPr>
          <p:nvPr/>
        </p:nvSpPr>
        <p:spPr>
          <a:xfrm>
            <a:off x="397565" y="805967"/>
            <a:ext cx="11396870" cy="5044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34" charset="-128"/>
                <a:ea typeface="Meiryo UI"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34" charset="-128"/>
                <a:ea typeface="Meiryo UI"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34" charset="-128"/>
                <a:ea typeface="Meiryo UI"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20000"/>
              </a:lnSpc>
            </a:pPr>
            <a:r>
              <a:rPr lang="ja-JP" altLang="en-US" sz="2000"/>
              <a:t>移行性に対する要件を下記のように定義する</a:t>
            </a:r>
          </a:p>
        </p:txBody>
      </p:sp>
      <p:sp>
        <p:nvSpPr>
          <p:cNvPr id="9" name="正方形/長方形 8">
            <a:extLst>
              <a:ext uri="{FF2B5EF4-FFF2-40B4-BE49-F238E27FC236}">
                <a16:creationId xmlns:a16="http://schemas.microsoft.com/office/drawing/2014/main" id="{03E6E5C1-24DF-473C-37DE-1DBFC4522185}"/>
              </a:ext>
            </a:extLst>
          </p:cNvPr>
          <p:cNvSpPr/>
          <p:nvPr/>
        </p:nvSpPr>
        <p:spPr>
          <a:xfrm>
            <a:off x="491613" y="1908042"/>
            <a:ext cx="2143431" cy="3582688"/>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基本要件</a:t>
            </a:r>
            <a:endParaRPr kumimoji="1" lang="ja-JP" altLang="en-US" sz="1400" dirty="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04C07F2B-8DE9-2DA3-AD11-FDCF8F750519}"/>
              </a:ext>
            </a:extLst>
          </p:cNvPr>
          <p:cNvSpPr/>
          <p:nvPr/>
        </p:nvSpPr>
        <p:spPr>
          <a:xfrm>
            <a:off x="2635044" y="1908042"/>
            <a:ext cx="9065343" cy="358268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200">
                <a:latin typeface="Meiryo UI" panose="020B0604030504040204" pitchFamily="34" charset="-128"/>
                <a:ea typeface="Meiryo UI" panose="020B0604030504040204" pitchFamily="34" charset="-128"/>
              </a:rPr>
              <a:t>■業務移行（電話から</a:t>
            </a:r>
            <a:r>
              <a:rPr lang="en-US" altLang="ja-JP" sz="1200" dirty="0">
                <a:latin typeface="Meiryo UI" panose="020B0604030504040204" pitchFamily="34" charset="-128"/>
                <a:ea typeface="Meiryo UI" panose="020B0604030504040204" pitchFamily="34" charset="-128"/>
              </a:rPr>
              <a:t>Web</a:t>
            </a:r>
            <a:r>
              <a:rPr lang="ja-JP" altLang="en-US" sz="1200">
                <a:latin typeface="Meiryo UI" panose="020B0604030504040204" pitchFamily="34" charset="-128"/>
                <a:ea typeface="Meiryo UI" panose="020B0604030504040204" pitchFamily="34" charset="-128"/>
              </a:rPr>
              <a:t>へ）</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・問合せ受付業務の</a:t>
            </a:r>
            <a:r>
              <a:rPr lang="en-US" altLang="ja-JP" sz="1200" dirty="0">
                <a:latin typeface="Meiryo UI" panose="020B0604030504040204" pitchFamily="34" charset="-128"/>
                <a:ea typeface="Meiryo UI" panose="020B0604030504040204" pitchFamily="34" charset="-128"/>
              </a:rPr>
              <a:t>Web</a:t>
            </a:r>
            <a:r>
              <a:rPr lang="ja-JP" altLang="en-US" sz="1200">
                <a:latin typeface="Meiryo UI" panose="020B0604030504040204" pitchFamily="34" charset="-128"/>
                <a:ea typeface="Meiryo UI" panose="020B0604030504040204" pitchFamily="34" charset="-128"/>
              </a:rPr>
              <a:t>化に伴い、電話での受付業務は廃止</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・リリース日（</a:t>
            </a:r>
            <a:r>
              <a:rPr lang="en-US" altLang="ja-JP" sz="1200" dirty="0">
                <a:latin typeface="Meiryo UI" panose="020B0604030504040204" pitchFamily="34" charset="-128"/>
                <a:ea typeface="Meiryo UI" panose="020B0604030504040204" pitchFamily="34" charset="-128"/>
              </a:rPr>
              <a:t>3</a:t>
            </a:r>
            <a:r>
              <a:rPr lang="ja-JP" altLang="en-US" sz="1200">
                <a:latin typeface="Meiryo UI" panose="020B0604030504040204" pitchFamily="34" charset="-128"/>
                <a:ea typeface="Meiryo UI" panose="020B0604030504040204" pitchFamily="34" charset="-128"/>
              </a:rPr>
              <a:t>月</a:t>
            </a:r>
            <a:r>
              <a:rPr lang="en-US" altLang="ja-JP" sz="1200" dirty="0">
                <a:latin typeface="Meiryo UI" panose="020B0604030504040204" pitchFamily="34" charset="-128"/>
                <a:ea typeface="Meiryo UI" panose="020B0604030504040204" pitchFamily="34" charset="-128"/>
              </a:rPr>
              <a:t>1</a:t>
            </a:r>
            <a:r>
              <a:rPr lang="ja-JP" altLang="en-US" sz="1200">
                <a:latin typeface="Meiryo UI" panose="020B0604030504040204" pitchFamily="34" charset="-128"/>
                <a:ea typeface="Meiryo UI" panose="020B0604030504040204" pitchFamily="34" charset="-128"/>
              </a:rPr>
              <a:t>日）</a:t>
            </a:r>
            <a:r>
              <a:rPr lang="en-US" altLang="ja-JP" sz="1200" dirty="0">
                <a:latin typeface="Meiryo UI" panose="020B0604030504040204" pitchFamily="34" charset="-128"/>
                <a:ea typeface="Meiryo UI" panose="020B0604030504040204" pitchFamily="34" charset="-128"/>
              </a:rPr>
              <a:t>9</a:t>
            </a:r>
            <a:r>
              <a:rPr lang="ja-JP" altLang="en-US" sz="1200">
                <a:latin typeface="Meiryo UI" panose="020B0604030504040204" pitchFamily="34" charset="-128"/>
                <a:ea typeface="Meiryo UI" panose="020B0604030504040204" pitchFamily="34" charset="-128"/>
              </a:rPr>
              <a:t>時より、従来の問合せ電話には受付業務が</a:t>
            </a:r>
            <a:r>
              <a:rPr lang="en-US" altLang="ja-JP" sz="1200" dirty="0">
                <a:latin typeface="Meiryo UI" panose="020B0604030504040204" pitchFamily="34" charset="-128"/>
                <a:ea typeface="Meiryo UI" panose="020B0604030504040204" pitchFamily="34" charset="-128"/>
              </a:rPr>
              <a:t>Web</a:t>
            </a:r>
            <a:r>
              <a:rPr lang="ja-JP" altLang="en-US" sz="1200">
                <a:latin typeface="Meiryo UI" panose="020B0604030504040204" pitchFamily="34" charset="-128"/>
                <a:ea typeface="Meiryo UI" panose="020B0604030504040204" pitchFamily="34" charset="-128"/>
              </a:rPr>
              <a:t>に移行した旨の自動音声を流す</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・リリース日（</a:t>
            </a:r>
            <a:r>
              <a:rPr lang="en-US" altLang="ja-JP" sz="1200" dirty="0">
                <a:latin typeface="Meiryo UI" panose="020B0604030504040204" pitchFamily="34" charset="-128"/>
                <a:ea typeface="Meiryo UI" panose="020B0604030504040204" pitchFamily="34" charset="-128"/>
              </a:rPr>
              <a:t>3</a:t>
            </a:r>
            <a:r>
              <a:rPr lang="ja-JP" altLang="en-US" sz="1200">
                <a:latin typeface="Meiryo UI" panose="020B0604030504040204" pitchFamily="34" charset="-128"/>
                <a:ea typeface="Meiryo UI" panose="020B0604030504040204" pitchFamily="34" charset="-128"/>
              </a:rPr>
              <a:t>月</a:t>
            </a:r>
            <a:r>
              <a:rPr lang="en-US" altLang="ja-JP" sz="1200" dirty="0">
                <a:latin typeface="Meiryo UI" panose="020B0604030504040204" pitchFamily="34" charset="-128"/>
                <a:ea typeface="Meiryo UI" panose="020B0604030504040204" pitchFamily="34" charset="-128"/>
              </a:rPr>
              <a:t>1</a:t>
            </a:r>
            <a:r>
              <a:rPr lang="ja-JP" altLang="en-US" sz="1200">
                <a:latin typeface="Meiryo UI" panose="020B0604030504040204" pitchFamily="34" charset="-128"/>
                <a:ea typeface="Meiryo UI" panose="020B0604030504040204" pitchFamily="34" charset="-128"/>
              </a:rPr>
              <a:t>日）</a:t>
            </a:r>
            <a:r>
              <a:rPr lang="en-US" altLang="ja-JP" sz="1200" dirty="0">
                <a:latin typeface="Meiryo UI" panose="020B0604030504040204" pitchFamily="34" charset="-128"/>
                <a:ea typeface="Meiryo UI" panose="020B0604030504040204" pitchFamily="34" charset="-128"/>
              </a:rPr>
              <a:t>9</a:t>
            </a:r>
            <a:r>
              <a:rPr lang="ja-JP" altLang="en-US" sz="1200">
                <a:latin typeface="Meiryo UI" panose="020B0604030504040204" pitchFamily="34" charset="-128"/>
                <a:ea typeface="Meiryo UI" panose="020B0604030504040204" pitchFamily="34" charset="-128"/>
              </a:rPr>
              <a:t>時より、新業務マニュアルに従い、問合せ管理表のスプレッドシートの確認を開始</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 </a:t>
            </a:r>
            <a:r>
              <a:rPr lang="ja-JP" altLang="en-US" sz="1200">
                <a:highlight>
                  <a:srgbClr val="FFFF00"/>
                </a:highlight>
                <a:latin typeface="Meiryo UI" panose="020B0604030504040204" pitchFamily="34" charset="-128"/>
                <a:ea typeface="Meiryo UI" panose="020B0604030504040204" pitchFamily="34" charset="-128"/>
              </a:rPr>
              <a:t>運用の詳細については「運用計画」、「運用マニュアル」にて定義</a:t>
            </a:r>
            <a:endParaRPr lang="en-US" altLang="ja-JP" sz="1200" dirty="0">
              <a:highlight>
                <a:srgbClr val="FFFF00"/>
              </a:highlight>
              <a:latin typeface="Meiryo UI" panose="020B0604030504040204" pitchFamily="34" charset="-128"/>
              <a:ea typeface="Meiryo UI" panose="020B0604030504040204" pitchFamily="34" charset="-128"/>
            </a:endParaRPr>
          </a:p>
          <a:p>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■システム移行（旧</a:t>
            </a:r>
            <a:r>
              <a:rPr lang="en-US" altLang="ja-JP" sz="1200" dirty="0">
                <a:latin typeface="Meiryo UI" panose="020B0604030504040204" pitchFamily="34" charset="-128"/>
                <a:ea typeface="Meiryo UI" panose="020B0604030504040204" pitchFamily="34" charset="-128"/>
              </a:rPr>
              <a:t>Web</a:t>
            </a:r>
            <a:r>
              <a:rPr lang="ja-JP" altLang="en-US" sz="1200">
                <a:latin typeface="Meiryo UI" panose="020B0604030504040204" pitchFamily="34" charset="-128"/>
                <a:ea typeface="Meiryo UI" panose="020B0604030504040204" pitchFamily="34" charset="-128"/>
              </a:rPr>
              <a:t>から新</a:t>
            </a:r>
            <a:r>
              <a:rPr lang="en-US" altLang="ja-JP" sz="1200" dirty="0">
                <a:latin typeface="Meiryo UI" panose="020B0604030504040204" pitchFamily="34" charset="-128"/>
                <a:ea typeface="Meiryo UI" panose="020B0604030504040204" pitchFamily="34" charset="-128"/>
              </a:rPr>
              <a:t>Web</a:t>
            </a:r>
            <a:r>
              <a:rPr lang="ja-JP" altLang="en-US" sz="1200">
                <a:latin typeface="Meiryo UI" panose="020B0604030504040204" pitchFamily="34" charset="-128"/>
                <a:ea typeface="Meiryo UI" panose="020B0604030504040204" pitchFamily="34" charset="-128"/>
              </a:rPr>
              <a:t>へ、および、更新時）</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・リリース時</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 </a:t>
            </a:r>
            <a:r>
              <a:rPr lang="ja-JP" altLang="en-US" sz="1200">
                <a:latin typeface="Meiryo UI" panose="020B0604030504040204" pitchFamily="34" charset="-128"/>
                <a:ea typeface="Meiryo UI" panose="020B0604030504040204" pitchFamily="34" charset="-128"/>
              </a:rPr>
              <a:t>リリース日（</a:t>
            </a:r>
            <a:r>
              <a:rPr lang="en-US" altLang="ja-JP" sz="1200" dirty="0">
                <a:latin typeface="Meiryo UI" panose="020B0604030504040204" pitchFamily="34" charset="-128"/>
                <a:ea typeface="Meiryo UI" panose="020B0604030504040204" pitchFamily="34" charset="-128"/>
              </a:rPr>
              <a:t>3</a:t>
            </a:r>
            <a:r>
              <a:rPr lang="ja-JP" altLang="en-US" sz="1200">
                <a:latin typeface="Meiryo UI" panose="020B0604030504040204" pitchFamily="34" charset="-128"/>
                <a:ea typeface="Meiryo UI" panose="020B0604030504040204" pitchFamily="34" charset="-128"/>
              </a:rPr>
              <a:t>月</a:t>
            </a:r>
            <a:r>
              <a:rPr lang="en-US" altLang="ja-JP" sz="1200" dirty="0">
                <a:latin typeface="Meiryo UI" panose="020B0604030504040204" pitchFamily="34" charset="-128"/>
                <a:ea typeface="Meiryo UI" panose="020B0604030504040204" pitchFamily="34" charset="-128"/>
              </a:rPr>
              <a:t>1</a:t>
            </a:r>
            <a:r>
              <a:rPr lang="ja-JP" altLang="en-US" sz="1200">
                <a:latin typeface="Meiryo UI" panose="020B0604030504040204" pitchFamily="34" charset="-128"/>
                <a:ea typeface="Meiryo UI" panose="020B0604030504040204" pitchFamily="34" charset="-128"/>
              </a:rPr>
              <a:t>日）</a:t>
            </a:r>
            <a:r>
              <a:rPr lang="en-US" altLang="ja-JP" sz="1200" dirty="0">
                <a:latin typeface="Meiryo UI" panose="020B0604030504040204" pitchFamily="34" charset="-128"/>
                <a:ea typeface="Meiryo UI" panose="020B0604030504040204" pitchFamily="34" charset="-128"/>
              </a:rPr>
              <a:t>8</a:t>
            </a:r>
            <a:r>
              <a:rPr lang="ja-JP" altLang="en-US" sz="1200">
                <a:latin typeface="Meiryo UI" panose="020B0604030504040204" pitchFamily="34" charset="-128"/>
                <a:ea typeface="Meiryo UI" panose="020B0604030504040204" pitchFamily="34" charset="-128"/>
              </a:rPr>
              <a:t>時に新</a:t>
            </a:r>
            <a:r>
              <a:rPr lang="en-US" altLang="ja-JP" sz="1200" dirty="0">
                <a:latin typeface="Meiryo UI" panose="020B0604030504040204" pitchFamily="34" charset="-128"/>
                <a:ea typeface="Meiryo UI" panose="020B0604030504040204" pitchFamily="34" charset="-128"/>
              </a:rPr>
              <a:t>Web</a:t>
            </a:r>
            <a:r>
              <a:rPr lang="ja-JP" altLang="en-US" sz="1200">
                <a:latin typeface="Meiryo UI" panose="020B0604030504040204" pitchFamily="34" charset="-128"/>
                <a:ea typeface="Meiryo UI" panose="020B0604030504040204" pitchFamily="34" charset="-128"/>
              </a:rPr>
              <a:t>を公開</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 </a:t>
            </a:r>
            <a:r>
              <a:rPr lang="ja-JP" altLang="en-US" sz="1200">
                <a:latin typeface="Meiryo UI" panose="020B0604030504040204" pitchFamily="34" charset="-128"/>
                <a:ea typeface="Meiryo UI" panose="020B0604030504040204" pitchFamily="34" charset="-128"/>
              </a:rPr>
              <a:t>リリース日（</a:t>
            </a:r>
            <a:r>
              <a:rPr lang="en-US" altLang="ja-JP" sz="1200" dirty="0">
                <a:latin typeface="Meiryo UI" panose="020B0604030504040204" pitchFamily="34" charset="-128"/>
                <a:ea typeface="Meiryo UI" panose="020B0604030504040204" pitchFamily="34" charset="-128"/>
              </a:rPr>
              <a:t>3</a:t>
            </a:r>
            <a:r>
              <a:rPr lang="ja-JP" altLang="en-US" sz="1200">
                <a:latin typeface="Meiryo UI" panose="020B0604030504040204" pitchFamily="34" charset="-128"/>
                <a:ea typeface="Meiryo UI" panose="020B0604030504040204" pitchFamily="34" charset="-128"/>
              </a:rPr>
              <a:t>月</a:t>
            </a:r>
            <a:r>
              <a:rPr lang="en-US" altLang="ja-JP" sz="1200" dirty="0">
                <a:latin typeface="Meiryo UI" panose="020B0604030504040204" pitchFamily="34" charset="-128"/>
                <a:ea typeface="Meiryo UI" panose="020B0604030504040204" pitchFamily="34" charset="-128"/>
              </a:rPr>
              <a:t>1</a:t>
            </a:r>
            <a:r>
              <a:rPr lang="ja-JP" altLang="en-US" sz="1200">
                <a:latin typeface="Meiryo UI" panose="020B0604030504040204" pitchFamily="34" charset="-128"/>
                <a:ea typeface="Meiryo UI" panose="020B0604030504040204" pitchFamily="34" charset="-128"/>
              </a:rPr>
              <a:t>日）</a:t>
            </a:r>
            <a:r>
              <a:rPr lang="en-US" altLang="ja-JP" sz="1200" dirty="0">
                <a:latin typeface="Meiryo UI" panose="020B0604030504040204" pitchFamily="34" charset="-128"/>
                <a:ea typeface="Meiryo UI" panose="020B0604030504040204" pitchFamily="34" charset="-128"/>
              </a:rPr>
              <a:t>9</a:t>
            </a:r>
            <a:r>
              <a:rPr lang="ja-JP" altLang="en-US" sz="1200">
                <a:latin typeface="Meiryo UI" panose="020B0604030504040204" pitchFamily="34" charset="-128"/>
                <a:ea typeface="Meiryo UI" panose="020B0604030504040204" pitchFamily="34" charset="-128"/>
              </a:rPr>
              <a:t>時に現在の</a:t>
            </a:r>
            <a:r>
              <a:rPr lang="en-US" altLang="ja-JP" sz="1200" dirty="0">
                <a:latin typeface="Meiryo UI" panose="020B0604030504040204" pitchFamily="34" charset="-128"/>
                <a:ea typeface="Meiryo UI" panose="020B0604030504040204" pitchFamily="34" charset="-128"/>
              </a:rPr>
              <a:t>Web</a:t>
            </a:r>
            <a:r>
              <a:rPr lang="ja-JP" altLang="en-US" sz="1200">
                <a:latin typeface="Meiryo UI" panose="020B0604030504040204" pitchFamily="34" charset="-128"/>
                <a:ea typeface="Meiryo UI" panose="020B0604030504040204" pitchFamily="34" charset="-128"/>
              </a:rPr>
              <a:t>の公開を停止（新サイトへのリダイレクトを設置）</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a:t>
            </a:r>
            <a:r>
              <a:rPr lang="ja-JP" altLang="en-US" sz="1200">
                <a:latin typeface="Meiryo UI" panose="020B0604030504040204" pitchFamily="34" charset="-128"/>
                <a:ea typeface="Meiryo UI" panose="020B0604030504040204" pitchFamily="34" charset="-128"/>
              </a:rPr>
              <a:t>リリース前のリリース判定会議にてリリース判定基準を満たしていることが前提となる</a:t>
            </a:r>
            <a:endParaRPr lang="en-US" altLang="ja-JP" sz="1200" dirty="0">
              <a:latin typeface="Meiryo UI" panose="020B0604030504040204" pitchFamily="34" charset="-128"/>
              <a:ea typeface="Meiryo UI" panose="020B0604030504040204" pitchFamily="34" charset="-128"/>
            </a:endParaRPr>
          </a:p>
          <a:p>
            <a:endParaRPr lang="en-US" altLang="ja-JP" sz="1200" dirty="0">
              <a:latin typeface="Meiryo UI" panose="020B0604030504040204" pitchFamily="34" charset="-128"/>
              <a:ea typeface="Meiryo UI" panose="020B0604030504040204" pitchFamily="34" charset="-128"/>
            </a:endParaRPr>
          </a:p>
          <a:p>
            <a:r>
              <a:rPr lang="en-US" altLang="ja-JP" sz="1200" dirty="0">
                <a:latin typeface="Meiryo UI" panose="020B0604030504040204" pitchFamily="34" charset="-128"/>
                <a:ea typeface="Meiryo UI" panose="020B0604030504040204" pitchFamily="34" charset="-128"/>
              </a:rPr>
              <a:t> </a:t>
            </a:r>
            <a:r>
              <a:rPr lang="ja-JP" altLang="en-US" sz="1200">
                <a:latin typeface="Meiryo UI" panose="020B0604030504040204" pitchFamily="34" charset="-128"/>
                <a:ea typeface="Meiryo UI" panose="020B0604030504040204" pitchFamily="34" charset="-128"/>
              </a:rPr>
              <a:t>・</a:t>
            </a:r>
            <a:r>
              <a:rPr lang="en-US" altLang="ja-JP" sz="1200" dirty="0">
                <a:latin typeface="Meiryo UI" panose="020B0604030504040204" pitchFamily="34" charset="-128"/>
                <a:ea typeface="Meiryo UI" panose="020B0604030504040204" pitchFamily="34" charset="-128"/>
              </a:rPr>
              <a:t>Web</a:t>
            </a:r>
            <a:r>
              <a:rPr lang="ja-JP" altLang="en-US" sz="1200">
                <a:latin typeface="Meiryo UI" panose="020B0604030504040204" pitchFamily="34" charset="-128"/>
                <a:ea typeface="Meiryo UI" panose="020B0604030504040204" pitchFamily="34" charset="-128"/>
              </a:rPr>
              <a:t>サイト更新</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a:t>
            </a:r>
            <a:r>
              <a:rPr lang="en-US" altLang="ja-JP" sz="1200" dirty="0">
                <a:latin typeface="Meiryo UI" panose="020B0604030504040204" pitchFamily="34" charset="-128"/>
                <a:ea typeface="Meiryo UI" panose="020B0604030504040204" pitchFamily="34" charset="-128"/>
              </a:rPr>
              <a:t>- </a:t>
            </a:r>
            <a:r>
              <a:rPr lang="ja-JP" altLang="en-US" sz="1200">
                <a:latin typeface="Meiryo UI" panose="020B0604030504040204" pitchFamily="34" charset="-128"/>
                <a:ea typeface="Meiryo UI" panose="020B0604030504040204" pitchFamily="34" charset="-128"/>
              </a:rPr>
              <a:t>ステージング環境は用意せず、ローカルで動作確認後、本番環境へ反映させるものとする</a:t>
            </a:r>
            <a:r>
              <a:rPr lang="ja-JP" altLang="en-US" sz="1100">
                <a:highlight>
                  <a:srgbClr val="FFFF00"/>
                </a:highlight>
                <a:latin typeface="Meiryo UI" panose="020B0604030504040204" pitchFamily="34" charset="-128"/>
                <a:ea typeface="Meiryo UI" panose="020B0604030504040204" pitchFamily="34" charset="-128"/>
              </a:rPr>
              <a:t>（詳細は運用マニュアルで定義）</a:t>
            </a:r>
            <a:endParaRPr lang="en-US" altLang="ja-JP" sz="1100" dirty="0">
              <a:highlight>
                <a:srgbClr val="FFFF00"/>
              </a:highlight>
              <a:latin typeface="Meiryo UI" panose="020B0604030504040204" pitchFamily="34" charset="-128"/>
              <a:ea typeface="Meiryo UI" panose="020B0604030504040204" pitchFamily="34" charset="-128"/>
            </a:endParaRPr>
          </a:p>
          <a:p>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■データ</a:t>
            </a:r>
            <a:endParaRPr lang="en-US" altLang="ja-JP" sz="1200"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　・移行すべきデータは存在しない（リリース前に本番環境にテストデータが保存されてないか確認。テストデータがあれば削除）</a:t>
            </a:r>
            <a:endParaRPr lang="en-US" altLang="ja-JP" sz="1200" dirty="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534C6EE8-BFBB-8AC7-717B-211FA1498D0E}"/>
              </a:ext>
            </a:extLst>
          </p:cNvPr>
          <p:cNvSpPr/>
          <p:nvPr/>
        </p:nvSpPr>
        <p:spPr>
          <a:xfrm>
            <a:off x="491613" y="5490730"/>
            <a:ext cx="2143431" cy="707997"/>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補足</a:t>
            </a:r>
            <a:endParaRPr kumimoji="1" lang="ja-JP" altLang="en-US" sz="1400" dirty="0">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918262C8-80C8-F080-77D4-44FFD121C323}"/>
              </a:ext>
            </a:extLst>
          </p:cNvPr>
          <p:cNvSpPr/>
          <p:nvPr/>
        </p:nvSpPr>
        <p:spPr>
          <a:xfrm>
            <a:off x="2635044" y="5490730"/>
            <a:ext cx="9065343" cy="7079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400">
                <a:latin typeface="Meiryo UI" panose="020B0604030504040204" pitchFamily="34" charset="-128"/>
                <a:ea typeface="Meiryo UI" panose="020B0604030504040204" pitchFamily="34" charset="-128"/>
              </a:rPr>
              <a:t>・現</a:t>
            </a:r>
            <a:r>
              <a:rPr lang="en-US" altLang="ja-JP" sz="1400" dirty="0">
                <a:latin typeface="Meiryo UI" panose="020B0604030504040204" pitchFamily="34" charset="-128"/>
                <a:ea typeface="Meiryo UI" panose="020B0604030504040204" pitchFamily="34" charset="-128"/>
              </a:rPr>
              <a:t>Web</a:t>
            </a:r>
            <a:r>
              <a:rPr lang="ja-JP" altLang="en-US" sz="1400">
                <a:latin typeface="Meiryo UI" panose="020B0604030504040204" pitchFamily="34" charset="-128"/>
                <a:ea typeface="Meiryo UI" panose="020B0604030504040204" pitchFamily="34" charset="-128"/>
              </a:rPr>
              <a:t>サイトには新</a:t>
            </a:r>
            <a:r>
              <a:rPr lang="en-US" altLang="ja-JP" sz="1400" dirty="0">
                <a:latin typeface="Meiryo UI" panose="020B0604030504040204" pitchFamily="34" charset="-128"/>
                <a:ea typeface="Meiryo UI" panose="020B0604030504040204" pitchFamily="34" charset="-128"/>
              </a:rPr>
              <a:t>Web</a:t>
            </a:r>
            <a:r>
              <a:rPr lang="ja-JP" altLang="en-US" sz="1400">
                <a:latin typeface="Meiryo UI" panose="020B0604030504040204" pitchFamily="34" charset="-128"/>
                <a:ea typeface="Meiryo UI" panose="020B0604030504040204" pitchFamily="34" charset="-128"/>
              </a:rPr>
              <a:t>サイト公開の</a:t>
            </a:r>
            <a:r>
              <a:rPr lang="en-US" altLang="ja-JP" sz="1400" dirty="0">
                <a:latin typeface="Meiryo UI" panose="020B0604030504040204" pitchFamily="34" charset="-128"/>
                <a:ea typeface="Meiryo UI" panose="020B0604030504040204" pitchFamily="34" charset="-128"/>
              </a:rPr>
              <a:t>1</a:t>
            </a:r>
            <a:r>
              <a:rPr lang="ja-JP" altLang="en-US" sz="1400">
                <a:latin typeface="Meiryo UI" panose="020B0604030504040204" pitchFamily="34" charset="-128"/>
                <a:ea typeface="Meiryo UI" panose="020B0604030504040204" pitchFamily="34" charset="-128"/>
              </a:rPr>
              <a:t>ヶ月前（</a:t>
            </a:r>
            <a:r>
              <a:rPr lang="en-US" altLang="ja-JP" sz="1400" dirty="0">
                <a:latin typeface="Meiryo UI" panose="020B0604030504040204" pitchFamily="34" charset="-128"/>
                <a:ea typeface="Meiryo UI" panose="020B0604030504040204" pitchFamily="34" charset="-128"/>
              </a:rPr>
              <a:t>2</a:t>
            </a:r>
            <a:r>
              <a:rPr lang="ja-JP" altLang="en-US" sz="1400">
                <a:latin typeface="Meiryo UI" panose="020B0604030504040204" pitchFamily="34" charset="-128"/>
                <a:ea typeface="Meiryo UI" panose="020B0604030504040204" pitchFamily="34" charset="-128"/>
              </a:rPr>
              <a:t>月</a:t>
            </a:r>
            <a:r>
              <a:rPr lang="en-US" altLang="ja-JP" sz="1400" dirty="0">
                <a:latin typeface="Meiryo UI" panose="020B0604030504040204" pitchFamily="34" charset="-128"/>
                <a:ea typeface="Meiryo UI" panose="020B0604030504040204" pitchFamily="34" charset="-128"/>
              </a:rPr>
              <a:t>1</a:t>
            </a:r>
            <a:r>
              <a:rPr lang="ja-JP" altLang="en-US" sz="1400">
                <a:latin typeface="Meiryo UI" panose="020B0604030504040204" pitchFamily="34" charset="-128"/>
                <a:ea typeface="Meiryo UI" panose="020B0604030504040204" pitchFamily="34" charset="-128"/>
              </a:rPr>
              <a:t>日）より、電話受付の廃止、新</a:t>
            </a:r>
            <a:r>
              <a:rPr lang="en-US" altLang="ja-JP" sz="1400" dirty="0">
                <a:latin typeface="Meiryo UI" panose="020B0604030504040204" pitchFamily="34" charset="-128"/>
                <a:ea typeface="Meiryo UI" panose="020B0604030504040204" pitchFamily="34" charset="-128"/>
              </a:rPr>
              <a:t>Web</a:t>
            </a:r>
            <a:r>
              <a:rPr lang="ja-JP" altLang="en-US" sz="1400">
                <a:latin typeface="Meiryo UI" panose="020B0604030504040204" pitchFamily="34" charset="-128"/>
                <a:ea typeface="Meiryo UI" panose="020B0604030504040204" pitchFamily="34" charset="-128"/>
              </a:rPr>
              <a:t>への移行の告知を行う</a:t>
            </a:r>
            <a:endParaRPr lang="en-US" altLang="ja-JP" sz="1400" dirty="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EB25D8A4-FDF9-80B2-4660-BE6FF0EFACC0}"/>
              </a:ext>
            </a:extLst>
          </p:cNvPr>
          <p:cNvSpPr/>
          <p:nvPr/>
        </p:nvSpPr>
        <p:spPr>
          <a:xfrm>
            <a:off x="491613" y="1367270"/>
            <a:ext cx="2143431" cy="54077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管理番号</a:t>
            </a:r>
            <a:endParaRPr kumimoji="1" lang="ja-JP" altLang="en-US" sz="1400" dirty="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AC74BC6C-1195-57E5-F771-392B744647D0}"/>
              </a:ext>
            </a:extLst>
          </p:cNvPr>
          <p:cNvSpPr/>
          <p:nvPr/>
        </p:nvSpPr>
        <p:spPr>
          <a:xfrm>
            <a:off x="2635044" y="1367270"/>
            <a:ext cx="9065343" cy="5407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sz="1400" dirty="0">
                <a:latin typeface="Meiryo UI" panose="020B0604030504040204" pitchFamily="34" charset="-128"/>
                <a:ea typeface="Meiryo UI" panose="020B0604030504040204" pitchFamily="34" charset="-128"/>
              </a:rPr>
              <a:t>NR-04</a:t>
            </a:r>
            <a:endParaRPr kumimoji="1" lang="en-US" altLang="ja-JP" sz="14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9413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5FB76A-D903-FA62-C118-177067DFBB05}"/>
              </a:ext>
            </a:extLst>
          </p:cNvPr>
          <p:cNvSpPr>
            <a:spLocks noGrp="1"/>
          </p:cNvSpPr>
          <p:nvPr>
            <p:ph type="title"/>
          </p:nvPr>
        </p:nvSpPr>
        <p:spPr/>
        <p:txBody>
          <a:bodyPr>
            <a:normAutofit fontScale="90000"/>
          </a:bodyPr>
          <a:lstStyle/>
          <a:p>
            <a:r>
              <a:rPr kumimoji="1" lang="ja-JP" altLang="en-US"/>
              <a:t>非機能要件：</a:t>
            </a:r>
            <a:r>
              <a:rPr lang="ja-JP" altLang="en-US"/>
              <a:t>プロジェクト上の留意事項</a:t>
            </a:r>
            <a:endParaRPr kumimoji="1" lang="ja-JP" altLang="en-US"/>
          </a:p>
        </p:txBody>
      </p:sp>
      <p:sp>
        <p:nvSpPr>
          <p:cNvPr id="4" name="フッター プレースホルダー 3">
            <a:extLst>
              <a:ext uri="{FF2B5EF4-FFF2-40B4-BE49-F238E27FC236}">
                <a16:creationId xmlns:a16="http://schemas.microsoft.com/office/drawing/2014/main" id="{75F3D536-D715-5485-D7EA-B448949FA2B1}"/>
              </a:ext>
            </a:extLst>
          </p:cNvPr>
          <p:cNvSpPr>
            <a:spLocks noGrp="1"/>
          </p:cNvSpPr>
          <p:nvPr>
            <p:ph type="ftr" sz="quarter" idx="11"/>
          </p:nvPr>
        </p:nvSpPr>
        <p:spPr/>
        <p:txBody>
          <a:bodyPr/>
          <a:lstStyle/>
          <a:p>
            <a:r>
              <a:rPr lang="en-US" altLang="ja-JP" dirty="0"/>
              <a:t>bluecode inc.</a:t>
            </a:r>
            <a:endParaRPr lang="ja-JP" altLang="en-US"/>
          </a:p>
        </p:txBody>
      </p:sp>
      <p:sp>
        <p:nvSpPr>
          <p:cNvPr id="5" name="スライド番号プレースホルダー 4">
            <a:extLst>
              <a:ext uri="{FF2B5EF4-FFF2-40B4-BE49-F238E27FC236}">
                <a16:creationId xmlns:a16="http://schemas.microsoft.com/office/drawing/2014/main" id="{1C22B9A1-F3DD-F517-60CC-951ED86AF727}"/>
              </a:ext>
            </a:extLst>
          </p:cNvPr>
          <p:cNvSpPr>
            <a:spLocks noGrp="1"/>
          </p:cNvSpPr>
          <p:nvPr>
            <p:ph type="sldNum" sz="quarter" idx="12"/>
          </p:nvPr>
        </p:nvSpPr>
        <p:spPr/>
        <p:txBody>
          <a:bodyPr/>
          <a:lstStyle/>
          <a:p>
            <a:fld id="{462052E6-07CA-9B46-B866-FDE18BF74505}" type="slidenum">
              <a:rPr lang="ja-JP" altLang="en-US" smtClean="0"/>
              <a:pPr/>
              <a:t>13</a:t>
            </a:fld>
            <a:endParaRPr lang="ja-JP" altLang="en-US"/>
          </a:p>
        </p:txBody>
      </p:sp>
      <p:sp>
        <p:nvSpPr>
          <p:cNvPr id="8" name="コンテンツ プレースホルダー 2">
            <a:extLst>
              <a:ext uri="{FF2B5EF4-FFF2-40B4-BE49-F238E27FC236}">
                <a16:creationId xmlns:a16="http://schemas.microsoft.com/office/drawing/2014/main" id="{1DCA6FDA-B579-C732-2013-ECA76866E160}"/>
              </a:ext>
            </a:extLst>
          </p:cNvPr>
          <p:cNvSpPr txBox="1">
            <a:spLocks/>
          </p:cNvSpPr>
          <p:nvPr/>
        </p:nvSpPr>
        <p:spPr>
          <a:xfrm>
            <a:off x="397565" y="805967"/>
            <a:ext cx="11396870" cy="5044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34" charset="-128"/>
                <a:ea typeface="Meiryo UI"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34" charset="-128"/>
                <a:ea typeface="Meiryo UI"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34" charset="-128"/>
                <a:ea typeface="Meiryo UI"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20000"/>
              </a:lnSpc>
            </a:pPr>
            <a:r>
              <a:rPr lang="ja-JP" altLang="en-US" sz="2000"/>
              <a:t>プロジェクト上の留意事項として下記のように定義する</a:t>
            </a:r>
          </a:p>
        </p:txBody>
      </p:sp>
      <p:sp>
        <p:nvSpPr>
          <p:cNvPr id="9" name="正方形/長方形 8">
            <a:extLst>
              <a:ext uri="{FF2B5EF4-FFF2-40B4-BE49-F238E27FC236}">
                <a16:creationId xmlns:a16="http://schemas.microsoft.com/office/drawing/2014/main" id="{03E6E5C1-24DF-473C-37DE-1DBFC4522185}"/>
              </a:ext>
            </a:extLst>
          </p:cNvPr>
          <p:cNvSpPr/>
          <p:nvPr/>
        </p:nvSpPr>
        <p:spPr>
          <a:xfrm>
            <a:off x="491613" y="1908042"/>
            <a:ext cx="2143431" cy="311624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基本要件</a:t>
            </a:r>
            <a:endParaRPr kumimoji="1" lang="ja-JP" altLang="en-US" sz="1400" dirty="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04C07F2B-8DE9-2DA3-AD11-FDCF8F750519}"/>
              </a:ext>
            </a:extLst>
          </p:cNvPr>
          <p:cNvSpPr/>
          <p:nvPr/>
        </p:nvSpPr>
        <p:spPr>
          <a:xfrm>
            <a:off x="2635044" y="1908042"/>
            <a:ext cx="9065343" cy="311624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400">
                <a:latin typeface="Meiryo UI" panose="020B0604030504040204" pitchFamily="34" charset="-128"/>
                <a:ea typeface="Meiryo UI" panose="020B0604030504040204" pitchFamily="34" charset="-128"/>
              </a:rPr>
              <a:t>■対応ブラウザ</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PC</a:t>
            </a:r>
            <a:r>
              <a:rPr lang="ja-JP" altLang="en-US" sz="1400">
                <a:latin typeface="Meiryo UI" panose="020B0604030504040204" pitchFamily="34" charset="-128"/>
                <a:ea typeface="Meiryo UI" panose="020B0604030504040204" pitchFamily="34" charset="-128"/>
              </a:rPr>
              <a:t>：</a:t>
            </a:r>
            <a:r>
              <a:rPr lang="en-US" altLang="ja-JP" sz="1400" dirty="0">
                <a:latin typeface="Meiryo UI" panose="020B0604030504040204" pitchFamily="34" charset="-128"/>
                <a:ea typeface="Meiryo UI" panose="020B0604030504040204" pitchFamily="34" charset="-128"/>
              </a:rPr>
              <a:t>Google Chrome</a:t>
            </a:r>
            <a:r>
              <a:rPr lang="ja-JP" altLang="en-US" sz="1400">
                <a:latin typeface="Meiryo UI" panose="020B0604030504040204" pitchFamily="34" charset="-128"/>
                <a:ea typeface="Meiryo UI" panose="020B0604030504040204" pitchFamily="34" charset="-128"/>
              </a:rPr>
              <a:t>（最新版）</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・スマホ：</a:t>
            </a:r>
            <a:r>
              <a:rPr lang="en-US" altLang="ja-JP" sz="1400" dirty="0">
                <a:latin typeface="Meiryo UI" panose="020B0604030504040204" pitchFamily="34" charset="-128"/>
                <a:ea typeface="Meiryo UI" panose="020B0604030504040204" pitchFamily="34" charset="-128"/>
              </a:rPr>
              <a:t>Google Chrome</a:t>
            </a:r>
            <a:r>
              <a:rPr lang="ja-JP" altLang="en-US" sz="1400">
                <a:latin typeface="Meiryo UI" panose="020B0604030504040204" pitchFamily="34" charset="-128"/>
                <a:ea typeface="Meiryo UI" panose="020B0604030504040204" pitchFamily="34" charset="-128"/>
              </a:rPr>
              <a:t>（最新版）、</a:t>
            </a:r>
            <a:r>
              <a:rPr lang="en-US" altLang="ja-JP" sz="1400" dirty="0">
                <a:latin typeface="Meiryo UI" panose="020B0604030504040204" pitchFamily="34" charset="-128"/>
                <a:ea typeface="Meiryo UI" panose="020B0604030504040204" pitchFamily="34" charset="-128"/>
              </a:rPr>
              <a:t>Safari</a:t>
            </a:r>
            <a:r>
              <a:rPr lang="ja-JP" altLang="en-US" sz="1400">
                <a:latin typeface="Meiryo UI" panose="020B0604030504040204" pitchFamily="34" charset="-128"/>
                <a:ea typeface="Meiryo UI" panose="020B0604030504040204" pitchFamily="34" charset="-128"/>
              </a:rPr>
              <a:t>（最新版）</a:t>
            </a:r>
            <a:endParaRPr lang="en-US" altLang="ja-JP" sz="1400" dirty="0">
              <a:latin typeface="Meiryo UI" panose="020B0604030504040204" pitchFamily="34" charset="-128"/>
              <a:ea typeface="Meiryo UI" panose="020B0604030504040204" pitchFamily="34" charset="-128"/>
            </a:endParaRPr>
          </a:p>
          <a:p>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■利用を前提とするサービス・ツール</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a:t>
            </a:r>
            <a:r>
              <a:rPr lang="en-US" altLang="ja-JP" sz="1400" dirty="0">
                <a:latin typeface="Meiryo UI" panose="020B0604030504040204" pitchFamily="34" charset="-128"/>
                <a:ea typeface="Meiryo UI" panose="020B0604030504040204" pitchFamily="34" charset="-128"/>
              </a:rPr>
              <a:t>Google</a:t>
            </a:r>
            <a:r>
              <a:rPr lang="ja-JP" altLang="en-US" sz="1400">
                <a:latin typeface="Meiryo UI" panose="020B0604030504040204" pitchFamily="34" charset="-128"/>
                <a:ea typeface="Meiryo UI" panose="020B0604030504040204" pitchFamily="34" charset="-128"/>
              </a:rPr>
              <a:t>スプレッドシート（問合せ受付データの保管・管理）</a:t>
            </a:r>
            <a:endParaRPr lang="en-US" altLang="ja-JP" sz="1400" dirty="0">
              <a:latin typeface="Meiryo UI" panose="020B0604030504040204" pitchFamily="34" charset="-128"/>
              <a:ea typeface="Meiryo UI" panose="020B0604030504040204" pitchFamily="34" charset="-128"/>
            </a:endParaRPr>
          </a:p>
          <a:p>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■その他</a:t>
            </a:r>
            <a:endParaRPr lang="en-US" altLang="ja-JP" sz="1400" dirty="0">
              <a:latin typeface="Meiryo UI" panose="020B0604030504040204" pitchFamily="34" charset="-128"/>
              <a:ea typeface="Meiryo UI" panose="020B0604030504040204" pitchFamily="34" charset="-128"/>
            </a:endParaRPr>
          </a:p>
          <a:p>
            <a:r>
              <a:rPr lang="ja-JP" altLang="en-US" sz="1400">
                <a:latin typeface="Meiryo UI" panose="020B0604030504040204" pitchFamily="34" charset="-128"/>
                <a:ea typeface="Meiryo UI" panose="020B0604030504040204" pitchFamily="34" charset="-128"/>
              </a:rPr>
              <a:t>　・クラウドサービスを利用する場合、月額利用料金が</a:t>
            </a:r>
            <a:r>
              <a:rPr lang="en-US" altLang="ja-JP" sz="1400" dirty="0">
                <a:latin typeface="Meiryo UI" panose="020B0604030504040204" pitchFamily="34" charset="-128"/>
                <a:ea typeface="Meiryo UI" panose="020B0604030504040204" pitchFamily="34" charset="-128"/>
              </a:rPr>
              <a:t>10</a:t>
            </a:r>
            <a:r>
              <a:rPr lang="ja-JP" altLang="en-US" sz="1400">
                <a:latin typeface="Meiryo UI" panose="020B0604030504040204" pitchFamily="34" charset="-128"/>
                <a:ea typeface="Meiryo UI" panose="020B0604030504040204" pitchFamily="34" charset="-128"/>
              </a:rPr>
              <a:t>万円を超えないこと（可能な限り無償サービスを利用）</a:t>
            </a:r>
            <a:endParaRPr lang="en-US" altLang="ja-JP" sz="1400" dirty="0">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534C6EE8-BFBB-8AC7-717B-211FA1498D0E}"/>
              </a:ext>
            </a:extLst>
          </p:cNvPr>
          <p:cNvSpPr/>
          <p:nvPr/>
        </p:nvSpPr>
        <p:spPr>
          <a:xfrm>
            <a:off x="491613" y="5024284"/>
            <a:ext cx="2143431" cy="1174443"/>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補足</a:t>
            </a:r>
            <a:endParaRPr kumimoji="1" lang="ja-JP" altLang="en-US" sz="1400" dirty="0">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918262C8-80C8-F080-77D4-44FFD121C323}"/>
              </a:ext>
            </a:extLst>
          </p:cNvPr>
          <p:cNvSpPr/>
          <p:nvPr/>
        </p:nvSpPr>
        <p:spPr>
          <a:xfrm>
            <a:off x="2635044" y="5024284"/>
            <a:ext cx="9065343" cy="117444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ja-JP" altLang="en-US" sz="1400">
                <a:latin typeface="Meiryo UI" panose="020B0604030504040204" pitchFamily="34" charset="-128"/>
                <a:ea typeface="Meiryo UI" panose="020B0604030504040204" pitchFamily="34" charset="-128"/>
              </a:rPr>
              <a:t>・</a:t>
            </a:r>
            <a:r>
              <a:rPr lang="en-US" altLang="ja-JP" sz="1400" dirty="0">
                <a:latin typeface="Meiryo UI" panose="020B0604030504040204" pitchFamily="34" charset="-128"/>
                <a:ea typeface="Meiryo UI" panose="020B0604030504040204" pitchFamily="34" charset="-128"/>
              </a:rPr>
              <a:t>OSS</a:t>
            </a:r>
            <a:r>
              <a:rPr lang="ja-JP" altLang="en-US" sz="1400">
                <a:latin typeface="Meiryo UI" panose="020B0604030504040204" pitchFamily="34" charset="-128"/>
                <a:ea typeface="Meiryo UI" panose="020B0604030504040204" pitchFamily="34" charset="-128"/>
              </a:rPr>
              <a:t>や無償サービスの利用を推進するが、各種権利やライセンスに反しないよう重々留意すること</a:t>
            </a:r>
            <a:endParaRPr lang="en-US" altLang="ja-JP" sz="1400" dirty="0">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EB25D8A4-FDF9-80B2-4660-BE6FF0EFACC0}"/>
              </a:ext>
            </a:extLst>
          </p:cNvPr>
          <p:cNvSpPr/>
          <p:nvPr/>
        </p:nvSpPr>
        <p:spPr>
          <a:xfrm>
            <a:off x="491613" y="1367270"/>
            <a:ext cx="2143431" cy="54077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a:latin typeface="Meiryo UI" panose="020B0604030504040204" pitchFamily="34" charset="-128"/>
                <a:ea typeface="Meiryo UI" panose="020B0604030504040204" pitchFamily="34" charset="-128"/>
              </a:rPr>
              <a:t>管理番号</a:t>
            </a:r>
            <a:endParaRPr kumimoji="1" lang="ja-JP" altLang="en-US" sz="1400" dirty="0">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AC74BC6C-1195-57E5-F771-392B744647D0}"/>
              </a:ext>
            </a:extLst>
          </p:cNvPr>
          <p:cNvSpPr/>
          <p:nvPr/>
        </p:nvSpPr>
        <p:spPr>
          <a:xfrm>
            <a:off x="2635044" y="1367270"/>
            <a:ext cx="9065343" cy="54077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sz="1400" dirty="0">
                <a:latin typeface="Meiryo UI" panose="020B0604030504040204" pitchFamily="34" charset="-128"/>
                <a:ea typeface="Meiryo UI" panose="020B0604030504040204" pitchFamily="34" charset="-128"/>
              </a:rPr>
              <a:t>NR-06</a:t>
            </a:r>
            <a:endParaRPr kumimoji="1" lang="en-US" altLang="ja-JP" sz="14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295846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AED40B-1B23-6948-89B3-220CD171B003}"/>
              </a:ext>
            </a:extLst>
          </p:cNvPr>
          <p:cNvSpPr>
            <a:spLocks noGrp="1"/>
          </p:cNvSpPr>
          <p:nvPr>
            <p:ph type="ctrTitle"/>
          </p:nvPr>
        </p:nvSpPr>
        <p:spPr>
          <a:xfrm>
            <a:off x="838200" y="1397286"/>
            <a:ext cx="10515598" cy="1404458"/>
          </a:xfrm>
        </p:spPr>
        <p:txBody>
          <a:bodyPr>
            <a:normAutofit/>
          </a:bodyPr>
          <a:lstStyle/>
          <a:p>
            <a:r>
              <a:rPr lang="ja-JP" altLang="en-US" sz="3600"/>
              <a:t>参考資料</a:t>
            </a:r>
            <a:endParaRPr kumimoji="1" lang="ja-JP" altLang="en-US" sz="3600"/>
          </a:p>
        </p:txBody>
      </p:sp>
      <p:sp>
        <p:nvSpPr>
          <p:cNvPr id="3" name="字幕 2">
            <a:extLst>
              <a:ext uri="{FF2B5EF4-FFF2-40B4-BE49-F238E27FC236}">
                <a16:creationId xmlns:a16="http://schemas.microsoft.com/office/drawing/2014/main" id="{1AE313A0-35E2-4F4C-BEDF-EC600745265F}"/>
              </a:ext>
            </a:extLst>
          </p:cNvPr>
          <p:cNvSpPr>
            <a:spLocks noGrp="1"/>
          </p:cNvSpPr>
          <p:nvPr>
            <p:ph type="subTitle" idx="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B3D9C38-E1BA-D14B-B9C5-31A6CE1F9907}"/>
              </a:ext>
            </a:extLst>
          </p:cNvPr>
          <p:cNvSpPr>
            <a:spLocks noGrp="1"/>
          </p:cNvSpPr>
          <p:nvPr>
            <p:ph type="sldNum" sz="quarter" idx="12"/>
          </p:nvPr>
        </p:nvSpPr>
        <p:spPr/>
        <p:txBody>
          <a:bodyPr/>
          <a:lstStyle/>
          <a:p>
            <a:fld id="{462052E6-07CA-9B46-B866-FDE18BF74505}" type="slidenum">
              <a:rPr kumimoji="1" lang="ja-JP" altLang="en-US" smtClean="0"/>
              <a:t>14</a:t>
            </a:fld>
            <a:endParaRPr kumimoji="1" lang="ja-JP" altLang="en-US"/>
          </a:p>
        </p:txBody>
      </p:sp>
      <p:pic>
        <p:nvPicPr>
          <p:cNvPr id="7" name="図 6">
            <a:extLst>
              <a:ext uri="{FF2B5EF4-FFF2-40B4-BE49-F238E27FC236}">
                <a16:creationId xmlns:a16="http://schemas.microsoft.com/office/drawing/2014/main" id="{39F6FDFF-CB74-9741-BA6F-60886C4E1627}"/>
              </a:ext>
            </a:extLst>
          </p:cNvPr>
          <p:cNvPicPr>
            <a:picLocks noChangeAspect="1"/>
          </p:cNvPicPr>
          <p:nvPr/>
        </p:nvPicPr>
        <p:blipFill>
          <a:blip r:embed="rId2"/>
          <a:stretch>
            <a:fillRect/>
          </a:stretch>
        </p:blipFill>
        <p:spPr>
          <a:xfrm>
            <a:off x="819150" y="541832"/>
            <a:ext cx="1409700" cy="418504"/>
          </a:xfrm>
          <a:prstGeom prst="rect">
            <a:avLst/>
          </a:prstGeom>
        </p:spPr>
      </p:pic>
      <p:sp>
        <p:nvSpPr>
          <p:cNvPr id="6" name="フッター プレースホルダー 3">
            <a:extLst>
              <a:ext uri="{FF2B5EF4-FFF2-40B4-BE49-F238E27FC236}">
                <a16:creationId xmlns:a16="http://schemas.microsoft.com/office/drawing/2014/main" id="{C8CE59DA-CAB2-5A04-901D-C87080FBCB11}"/>
              </a:ext>
            </a:extLst>
          </p:cNvPr>
          <p:cNvSpPr>
            <a:spLocks noGrp="1"/>
          </p:cNvSpPr>
          <p:nvPr>
            <p:ph type="ftr" sz="quarter" idx="11"/>
          </p:nvPr>
        </p:nvSpPr>
        <p:spPr>
          <a:xfrm>
            <a:off x="4038600" y="6386830"/>
            <a:ext cx="4114800" cy="365125"/>
          </a:xfrm>
        </p:spPr>
        <p:txBody>
          <a:bodyPr/>
          <a:lstStyle/>
          <a:p>
            <a:r>
              <a:rPr lang="en" altLang="ja-JP" dirty="0"/>
              <a:t>bluecode inc.</a:t>
            </a:r>
            <a:endParaRPr lang="ja-JP" altLang="en-US"/>
          </a:p>
        </p:txBody>
      </p:sp>
    </p:spTree>
    <p:extLst>
      <p:ext uri="{BB962C8B-B14F-4D97-AF65-F5344CB8AC3E}">
        <p14:creationId xmlns:p14="http://schemas.microsoft.com/office/powerpoint/2010/main" val="1900418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B8BC9B-8CB3-D79A-40A8-CF1245DA278F}"/>
              </a:ext>
            </a:extLst>
          </p:cNvPr>
          <p:cNvSpPr>
            <a:spLocks noGrp="1"/>
          </p:cNvSpPr>
          <p:nvPr>
            <p:ph type="title"/>
          </p:nvPr>
        </p:nvSpPr>
        <p:spPr/>
        <p:txBody>
          <a:bodyPr>
            <a:normAutofit fontScale="90000"/>
          </a:bodyPr>
          <a:lstStyle/>
          <a:p>
            <a:r>
              <a:rPr lang="ja-JP" altLang="en-US"/>
              <a:t>プロジェクト</a:t>
            </a:r>
            <a:r>
              <a:rPr lang="en-US" altLang="ja-JP"/>
              <a:t> </a:t>
            </a:r>
            <a:r>
              <a:rPr kumimoji="1" lang="ja-JP" altLang="en-US"/>
              <a:t>スケジュール</a:t>
            </a:r>
          </a:p>
        </p:txBody>
      </p:sp>
      <p:sp>
        <p:nvSpPr>
          <p:cNvPr id="3" name="コンテンツ プレースホルダー 2">
            <a:extLst>
              <a:ext uri="{FF2B5EF4-FFF2-40B4-BE49-F238E27FC236}">
                <a16:creationId xmlns:a16="http://schemas.microsoft.com/office/drawing/2014/main" id="{40528B28-CD2D-CA76-96B2-BE4FA1BE90EC}"/>
              </a:ext>
            </a:extLst>
          </p:cNvPr>
          <p:cNvSpPr>
            <a:spLocks noGrp="1"/>
          </p:cNvSpPr>
          <p:nvPr>
            <p:ph idx="1"/>
          </p:nvPr>
        </p:nvSpPr>
        <p:spPr>
          <a:xfrm>
            <a:off x="397565" y="903949"/>
            <a:ext cx="11396870" cy="310082"/>
          </a:xfrm>
        </p:spPr>
        <p:txBody>
          <a:bodyPr>
            <a:normAutofit fontScale="92500" lnSpcReduction="10000"/>
          </a:bodyPr>
          <a:lstStyle/>
          <a:p>
            <a:r>
              <a:rPr lang="en-US" altLang="ja-JP" sz="1800" dirty="0"/>
              <a:t>1</a:t>
            </a:r>
            <a:r>
              <a:rPr lang="ja-JP" altLang="en-US" sz="1800"/>
              <a:t>月より着手し、</a:t>
            </a:r>
            <a:r>
              <a:rPr lang="en-US" altLang="ja-JP" sz="1800" dirty="0"/>
              <a:t>3</a:t>
            </a:r>
            <a:r>
              <a:rPr lang="ja-JP" altLang="en-US" sz="1800"/>
              <a:t>月</a:t>
            </a:r>
            <a:r>
              <a:rPr lang="en-US" altLang="ja-JP" sz="1800" dirty="0"/>
              <a:t>1</a:t>
            </a:r>
            <a:r>
              <a:rPr lang="ja-JP" altLang="en-US" sz="1800"/>
              <a:t>日にリリース予定</a:t>
            </a:r>
            <a:endParaRPr kumimoji="1" lang="ja-JP" altLang="en-US" sz="1800"/>
          </a:p>
        </p:txBody>
      </p:sp>
      <p:sp>
        <p:nvSpPr>
          <p:cNvPr id="4" name="フッター プレースホルダー 3">
            <a:extLst>
              <a:ext uri="{FF2B5EF4-FFF2-40B4-BE49-F238E27FC236}">
                <a16:creationId xmlns:a16="http://schemas.microsoft.com/office/drawing/2014/main" id="{B75F90F8-C5D3-A1DF-C8BC-B9F8B98BD868}"/>
              </a:ext>
            </a:extLst>
          </p:cNvPr>
          <p:cNvSpPr>
            <a:spLocks noGrp="1"/>
          </p:cNvSpPr>
          <p:nvPr>
            <p:ph type="ftr" sz="quarter" idx="11"/>
          </p:nvPr>
        </p:nvSpPr>
        <p:spPr/>
        <p:txBody>
          <a:bodyPr/>
          <a:lstStyle/>
          <a:p>
            <a:r>
              <a:rPr lang="en" altLang="ja-JP" dirty="0"/>
              <a:t>bluecode inc.</a:t>
            </a:r>
            <a:endParaRPr lang="ja-JP" altLang="en-US"/>
          </a:p>
        </p:txBody>
      </p:sp>
      <p:sp>
        <p:nvSpPr>
          <p:cNvPr id="5" name="スライド番号プレースホルダー 4">
            <a:extLst>
              <a:ext uri="{FF2B5EF4-FFF2-40B4-BE49-F238E27FC236}">
                <a16:creationId xmlns:a16="http://schemas.microsoft.com/office/drawing/2014/main" id="{B3C9D3CA-955F-0F40-6AFE-B6CE17B97F58}"/>
              </a:ext>
            </a:extLst>
          </p:cNvPr>
          <p:cNvSpPr>
            <a:spLocks noGrp="1"/>
          </p:cNvSpPr>
          <p:nvPr>
            <p:ph type="sldNum" sz="quarter" idx="12"/>
          </p:nvPr>
        </p:nvSpPr>
        <p:spPr/>
        <p:txBody>
          <a:bodyPr/>
          <a:lstStyle/>
          <a:p>
            <a:fld id="{462052E6-07CA-9B46-B866-FDE18BF74505}" type="slidenum">
              <a:rPr lang="ja-JP" altLang="en-US" smtClean="0"/>
              <a:pPr/>
              <a:t>15</a:t>
            </a:fld>
            <a:endParaRPr lang="ja-JP" altLang="en-US"/>
          </a:p>
        </p:txBody>
      </p:sp>
      <p:sp>
        <p:nvSpPr>
          <p:cNvPr id="16" name="正方形/長方形 15">
            <a:extLst>
              <a:ext uri="{FF2B5EF4-FFF2-40B4-BE49-F238E27FC236}">
                <a16:creationId xmlns:a16="http://schemas.microsoft.com/office/drawing/2014/main" id="{462F8986-FB23-4ED0-DFFF-2177D2FD263F}"/>
              </a:ext>
            </a:extLst>
          </p:cNvPr>
          <p:cNvSpPr/>
          <p:nvPr/>
        </p:nvSpPr>
        <p:spPr>
          <a:xfrm>
            <a:off x="2802075" y="1801152"/>
            <a:ext cx="1265982" cy="4421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W2</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17" name="正方形/長方形 16">
            <a:extLst>
              <a:ext uri="{FF2B5EF4-FFF2-40B4-BE49-F238E27FC236}">
                <a16:creationId xmlns:a16="http://schemas.microsoft.com/office/drawing/2014/main" id="{546CF581-630F-968B-05CA-1D9121368C7D}"/>
              </a:ext>
            </a:extLst>
          </p:cNvPr>
          <p:cNvSpPr/>
          <p:nvPr/>
        </p:nvSpPr>
        <p:spPr>
          <a:xfrm>
            <a:off x="4068057" y="1801152"/>
            <a:ext cx="1265982" cy="4421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W3</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18" name="正方形/長方形 17">
            <a:extLst>
              <a:ext uri="{FF2B5EF4-FFF2-40B4-BE49-F238E27FC236}">
                <a16:creationId xmlns:a16="http://schemas.microsoft.com/office/drawing/2014/main" id="{57005AC7-EEC4-8002-51BC-91FF5123EA68}"/>
              </a:ext>
            </a:extLst>
          </p:cNvPr>
          <p:cNvSpPr/>
          <p:nvPr/>
        </p:nvSpPr>
        <p:spPr>
          <a:xfrm>
            <a:off x="5334039" y="1801152"/>
            <a:ext cx="1265982" cy="4421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W4</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19" name="正方形/長方形 18">
            <a:extLst>
              <a:ext uri="{FF2B5EF4-FFF2-40B4-BE49-F238E27FC236}">
                <a16:creationId xmlns:a16="http://schemas.microsoft.com/office/drawing/2014/main" id="{14C2D171-6AF9-70DF-7E23-20705185A4B2}"/>
              </a:ext>
            </a:extLst>
          </p:cNvPr>
          <p:cNvSpPr/>
          <p:nvPr/>
        </p:nvSpPr>
        <p:spPr>
          <a:xfrm>
            <a:off x="6600021" y="1801152"/>
            <a:ext cx="1265982" cy="4421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W5</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20" name="正方形/長方形 19">
            <a:extLst>
              <a:ext uri="{FF2B5EF4-FFF2-40B4-BE49-F238E27FC236}">
                <a16:creationId xmlns:a16="http://schemas.microsoft.com/office/drawing/2014/main" id="{9469F249-EA97-6DEA-A24A-9D16BE3011A5}"/>
              </a:ext>
            </a:extLst>
          </p:cNvPr>
          <p:cNvSpPr/>
          <p:nvPr/>
        </p:nvSpPr>
        <p:spPr>
          <a:xfrm>
            <a:off x="7866003" y="1801152"/>
            <a:ext cx="1265982" cy="4421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W6</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21" name="正方形/長方形 20">
            <a:extLst>
              <a:ext uri="{FF2B5EF4-FFF2-40B4-BE49-F238E27FC236}">
                <a16:creationId xmlns:a16="http://schemas.microsoft.com/office/drawing/2014/main" id="{AC6AFBA3-13F1-8F01-D583-41484C2037DD}"/>
              </a:ext>
            </a:extLst>
          </p:cNvPr>
          <p:cNvSpPr/>
          <p:nvPr/>
        </p:nvSpPr>
        <p:spPr>
          <a:xfrm>
            <a:off x="9131985" y="1801152"/>
            <a:ext cx="1265982" cy="4421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W7</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22" name="正方形/長方形 21">
            <a:extLst>
              <a:ext uri="{FF2B5EF4-FFF2-40B4-BE49-F238E27FC236}">
                <a16:creationId xmlns:a16="http://schemas.microsoft.com/office/drawing/2014/main" id="{98FD2142-4167-3063-C797-BCF516FF8BB1}"/>
              </a:ext>
            </a:extLst>
          </p:cNvPr>
          <p:cNvSpPr/>
          <p:nvPr/>
        </p:nvSpPr>
        <p:spPr>
          <a:xfrm>
            <a:off x="10397967" y="1801152"/>
            <a:ext cx="1265982" cy="4421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34" charset="-128"/>
                <a:ea typeface="Meiryo UI" panose="020B0604030504040204" pitchFamily="34" charset="-128"/>
              </a:rPr>
              <a:t>W8</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32" name="正方形/長方形 31">
            <a:extLst>
              <a:ext uri="{FF2B5EF4-FFF2-40B4-BE49-F238E27FC236}">
                <a16:creationId xmlns:a16="http://schemas.microsoft.com/office/drawing/2014/main" id="{0FCCD9AD-E786-12BD-2C85-8BC3E65EF3DA}"/>
              </a:ext>
            </a:extLst>
          </p:cNvPr>
          <p:cNvSpPr/>
          <p:nvPr/>
        </p:nvSpPr>
        <p:spPr>
          <a:xfrm>
            <a:off x="2802075" y="2243455"/>
            <a:ext cx="1265982" cy="36758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33" name="正方形/長方形 32">
            <a:extLst>
              <a:ext uri="{FF2B5EF4-FFF2-40B4-BE49-F238E27FC236}">
                <a16:creationId xmlns:a16="http://schemas.microsoft.com/office/drawing/2014/main" id="{D7D355CD-289A-FCA7-1533-866C5AA249D1}"/>
              </a:ext>
            </a:extLst>
          </p:cNvPr>
          <p:cNvSpPr/>
          <p:nvPr/>
        </p:nvSpPr>
        <p:spPr>
          <a:xfrm>
            <a:off x="4068057" y="2243455"/>
            <a:ext cx="1265982" cy="36758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34" name="正方形/長方形 33">
            <a:extLst>
              <a:ext uri="{FF2B5EF4-FFF2-40B4-BE49-F238E27FC236}">
                <a16:creationId xmlns:a16="http://schemas.microsoft.com/office/drawing/2014/main" id="{B0BED5A4-E934-CE54-8D55-A2FBD06028D2}"/>
              </a:ext>
            </a:extLst>
          </p:cNvPr>
          <p:cNvSpPr/>
          <p:nvPr/>
        </p:nvSpPr>
        <p:spPr>
          <a:xfrm>
            <a:off x="5334039" y="2243455"/>
            <a:ext cx="1265982" cy="36758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35" name="正方形/長方形 34">
            <a:extLst>
              <a:ext uri="{FF2B5EF4-FFF2-40B4-BE49-F238E27FC236}">
                <a16:creationId xmlns:a16="http://schemas.microsoft.com/office/drawing/2014/main" id="{CF97EFE1-A859-7561-5B8A-B262F18EA126}"/>
              </a:ext>
            </a:extLst>
          </p:cNvPr>
          <p:cNvSpPr/>
          <p:nvPr/>
        </p:nvSpPr>
        <p:spPr>
          <a:xfrm>
            <a:off x="6600021" y="2243455"/>
            <a:ext cx="1265982" cy="36758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36" name="正方形/長方形 35">
            <a:extLst>
              <a:ext uri="{FF2B5EF4-FFF2-40B4-BE49-F238E27FC236}">
                <a16:creationId xmlns:a16="http://schemas.microsoft.com/office/drawing/2014/main" id="{7161ACDB-13F7-F7CC-D962-01E7C49BB791}"/>
              </a:ext>
            </a:extLst>
          </p:cNvPr>
          <p:cNvSpPr/>
          <p:nvPr/>
        </p:nvSpPr>
        <p:spPr>
          <a:xfrm>
            <a:off x="7866003" y="2243455"/>
            <a:ext cx="1265982" cy="36758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37" name="正方形/長方形 36">
            <a:extLst>
              <a:ext uri="{FF2B5EF4-FFF2-40B4-BE49-F238E27FC236}">
                <a16:creationId xmlns:a16="http://schemas.microsoft.com/office/drawing/2014/main" id="{57AE8F05-49AC-868B-23A0-3F41D664BBA9}"/>
              </a:ext>
            </a:extLst>
          </p:cNvPr>
          <p:cNvSpPr/>
          <p:nvPr/>
        </p:nvSpPr>
        <p:spPr>
          <a:xfrm>
            <a:off x="9131985" y="2243455"/>
            <a:ext cx="1265982" cy="36758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44" name="正方形/長方形 43">
            <a:extLst>
              <a:ext uri="{FF2B5EF4-FFF2-40B4-BE49-F238E27FC236}">
                <a16:creationId xmlns:a16="http://schemas.microsoft.com/office/drawing/2014/main" id="{F3A09E9B-8E11-6215-DE7D-F16CEACD6F4E}"/>
              </a:ext>
            </a:extLst>
          </p:cNvPr>
          <p:cNvSpPr/>
          <p:nvPr/>
        </p:nvSpPr>
        <p:spPr>
          <a:xfrm>
            <a:off x="10397967" y="2243455"/>
            <a:ext cx="1265982" cy="36758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56" name="ホームベース 55">
            <a:extLst>
              <a:ext uri="{FF2B5EF4-FFF2-40B4-BE49-F238E27FC236}">
                <a16:creationId xmlns:a16="http://schemas.microsoft.com/office/drawing/2014/main" id="{B59A9959-CAC1-354B-F2E0-47C5E89F2A5E}"/>
              </a:ext>
            </a:extLst>
          </p:cNvPr>
          <p:cNvSpPr/>
          <p:nvPr/>
        </p:nvSpPr>
        <p:spPr>
          <a:xfrm>
            <a:off x="2791360" y="2346534"/>
            <a:ext cx="1282058" cy="498694"/>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要件定義</a:t>
            </a:r>
          </a:p>
        </p:txBody>
      </p:sp>
      <p:sp>
        <p:nvSpPr>
          <p:cNvPr id="57" name="ホームベース 56">
            <a:extLst>
              <a:ext uri="{FF2B5EF4-FFF2-40B4-BE49-F238E27FC236}">
                <a16:creationId xmlns:a16="http://schemas.microsoft.com/office/drawing/2014/main" id="{9612766F-E1D2-65A0-C91C-C2F35D3724A3}"/>
              </a:ext>
            </a:extLst>
          </p:cNvPr>
          <p:cNvSpPr/>
          <p:nvPr/>
        </p:nvSpPr>
        <p:spPr>
          <a:xfrm>
            <a:off x="4057338" y="2845228"/>
            <a:ext cx="1278646" cy="498694"/>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設計</a:t>
            </a:r>
          </a:p>
        </p:txBody>
      </p:sp>
      <p:sp>
        <p:nvSpPr>
          <p:cNvPr id="58" name="ホームベース 57">
            <a:extLst>
              <a:ext uri="{FF2B5EF4-FFF2-40B4-BE49-F238E27FC236}">
                <a16:creationId xmlns:a16="http://schemas.microsoft.com/office/drawing/2014/main" id="{718F2C31-ED6E-D8E5-E14B-F799A88A9214}"/>
              </a:ext>
            </a:extLst>
          </p:cNvPr>
          <p:cNvSpPr/>
          <p:nvPr/>
        </p:nvSpPr>
        <p:spPr>
          <a:xfrm>
            <a:off x="6596604" y="5169617"/>
            <a:ext cx="2523187" cy="288277"/>
          </a:xfrm>
          <a:prstGeom prst="homePlat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eiryo UI" panose="020B0604030504040204" pitchFamily="34" charset="-128"/>
                <a:ea typeface="Meiryo UI" panose="020B0604030504040204" pitchFamily="34" charset="-128"/>
              </a:rPr>
              <a:t>内部公開</a:t>
            </a:r>
          </a:p>
        </p:txBody>
      </p:sp>
      <p:sp>
        <p:nvSpPr>
          <p:cNvPr id="59" name="ホームベース 58">
            <a:extLst>
              <a:ext uri="{FF2B5EF4-FFF2-40B4-BE49-F238E27FC236}">
                <a16:creationId xmlns:a16="http://schemas.microsoft.com/office/drawing/2014/main" id="{D84446C4-3E64-48AB-9F9E-2DAA33E40824}"/>
              </a:ext>
            </a:extLst>
          </p:cNvPr>
          <p:cNvSpPr/>
          <p:nvPr/>
        </p:nvSpPr>
        <p:spPr>
          <a:xfrm>
            <a:off x="5323321" y="3340307"/>
            <a:ext cx="1257208" cy="498694"/>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latin typeface="Meiryo UI" panose="020B0604030504040204" pitchFamily="34" charset="-128"/>
                <a:ea typeface="Meiryo UI" panose="020B0604030504040204" pitchFamily="34" charset="-128"/>
              </a:rPr>
              <a:t>開発</a:t>
            </a:r>
            <a:endParaRPr kumimoji="1" lang="ja-JP" altLang="en-US" sz="1200">
              <a:latin typeface="Meiryo UI" panose="020B0604030504040204" pitchFamily="34" charset="-128"/>
              <a:ea typeface="Meiryo UI" panose="020B0604030504040204" pitchFamily="34" charset="-128"/>
            </a:endParaRPr>
          </a:p>
        </p:txBody>
      </p:sp>
      <p:sp>
        <p:nvSpPr>
          <p:cNvPr id="60" name="ホームベース 59">
            <a:extLst>
              <a:ext uri="{FF2B5EF4-FFF2-40B4-BE49-F238E27FC236}">
                <a16:creationId xmlns:a16="http://schemas.microsoft.com/office/drawing/2014/main" id="{758A9529-DDD5-4B53-2F49-04ED82529D7A}"/>
              </a:ext>
            </a:extLst>
          </p:cNvPr>
          <p:cNvSpPr/>
          <p:nvPr/>
        </p:nvSpPr>
        <p:spPr>
          <a:xfrm>
            <a:off x="6594661" y="3947535"/>
            <a:ext cx="1282060" cy="498694"/>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latin typeface="Meiryo UI" panose="020B0604030504040204" pitchFamily="34" charset="-128"/>
                <a:ea typeface="Meiryo UI" panose="020B0604030504040204" pitchFamily="34" charset="-128"/>
              </a:rPr>
              <a:t>結合テスト</a:t>
            </a:r>
            <a:endParaRPr kumimoji="1" lang="ja-JP" altLang="en-US" sz="1200">
              <a:latin typeface="Meiryo UI" panose="020B0604030504040204" pitchFamily="34" charset="-128"/>
              <a:ea typeface="Meiryo UI" panose="020B0604030504040204" pitchFamily="34" charset="-128"/>
            </a:endParaRPr>
          </a:p>
        </p:txBody>
      </p:sp>
      <p:sp>
        <p:nvSpPr>
          <p:cNvPr id="61" name="ホームベース 60">
            <a:extLst>
              <a:ext uri="{FF2B5EF4-FFF2-40B4-BE49-F238E27FC236}">
                <a16:creationId xmlns:a16="http://schemas.microsoft.com/office/drawing/2014/main" id="{DCE4ABFC-686B-306B-B139-A21F8C1F4D04}"/>
              </a:ext>
            </a:extLst>
          </p:cNvPr>
          <p:cNvSpPr/>
          <p:nvPr/>
        </p:nvSpPr>
        <p:spPr>
          <a:xfrm>
            <a:off x="5330623" y="3947535"/>
            <a:ext cx="1242602" cy="498694"/>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テスト計画</a:t>
            </a:r>
            <a:endParaRPr kumimoji="1" lang="en-US" altLang="ja-JP" sz="1200" dirty="0">
              <a:latin typeface="Meiryo UI" panose="020B0604030504040204" pitchFamily="34" charset="-128"/>
              <a:ea typeface="Meiryo UI" panose="020B0604030504040204" pitchFamily="34" charset="-128"/>
            </a:endParaRPr>
          </a:p>
          <a:p>
            <a:pPr algn="ctr"/>
            <a:r>
              <a:rPr lang="ja-JP" altLang="en-US" sz="900">
                <a:latin typeface="Meiryo UI" panose="020B0604030504040204" pitchFamily="34" charset="-128"/>
                <a:ea typeface="Meiryo UI" panose="020B0604030504040204" pitchFamily="34" charset="-128"/>
              </a:rPr>
              <a:t>（シナリオ作成）</a:t>
            </a:r>
            <a:endParaRPr kumimoji="1" lang="ja-JP" altLang="en-US" sz="900">
              <a:latin typeface="Meiryo UI" panose="020B0604030504040204" pitchFamily="34" charset="-128"/>
              <a:ea typeface="Meiryo UI" panose="020B0604030504040204" pitchFamily="34" charset="-128"/>
            </a:endParaRPr>
          </a:p>
        </p:txBody>
      </p:sp>
      <p:sp>
        <p:nvSpPr>
          <p:cNvPr id="62" name="ホームベース 61">
            <a:extLst>
              <a:ext uri="{FF2B5EF4-FFF2-40B4-BE49-F238E27FC236}">
                <a16:creationId xmlns:a16="http://schemas.microsoft.com/office/drawing/2014/main" id="{44569038-C75B-A6E8-03DA-A7A65AC7DD06}"/>
              </a:ext>
            </a:extLst>
          </p:cNvPr>
          <p:cNvSpPr/>
          <p:nvPr/>
        </p:nvSpPr>
        <p:spPr>
          <a:xfrm>
            <a:off x="9130041" y="5053066"/>
            <a:ext cx="1269868" cy="498694"/>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latin typeface="Meiryo UI" panose="020B0604030504040204" pitchFamily="34" charset="-128"/>
                <a:ea typeface="Meiryo UI" panose="020B0604030504040204" pitchFamily="34" charset="-128"/>
              </a:rPr>
              <a:t>リリース</a:t>
            </a:r>
            <a:endParaRPr kumimoji="1" lang="en-US" altLang="ja-JP" sz="900" dirty="0">
              <a:latin typeface="Meiryo UI" panose="020B0604030504040204" pitchFamily="34" charset="-128"/>
              <a:ea typeface="Meiryo UI" panose="020B0604030504040204" pitchFamily="34" charset="-128"/>
            </a:endParaRPr>
          </a:p>
          <a:p>
            <a:pPr algn="ctr"/>
            <a:r>
              <a:rPr lang="ja-JP" altLang="en-US" sz="900">
                <a:latin typeface="Meiryo UI" panose="020B0604030504040204" pitchFamily="34" charset="-128"/>
                <a:ea typeface="Meiryo UI" panose="020B0604030504040204" pitchFamily="34" charset="-128"/>
              </a:rPr>
              <a:t>判定</a:t>
            </a:r>
            <a:endParaRPr kumimoji="1" lang="ja-JP" altLang="en-US" sz="900">
              <a:latin typeface="Meiryo UI" panose="020B0604030504040204" pitchFamily="34" charset="-128"/>
              <a:ea typeface="Meiryo UI" panose="020B0604030504040204" pitchFamily="34" charset="-128"/>
            </a:endParaRPr>
          </a:p>
        </p:txBody>
      </p:sp>
      <p:sp>
        <p:nvSpPr>
          <p:cNvPr id="63" name="ホームベース 62">
            <a:extLst>
              <a:ext uri="{FF2B5EF4-FFF2-40B4-BE49-F238E27FC236}">
                <a16:creationId xmlns:a16="http://schemas.microsoft.com/office/drawing/2014/main" id="{6170C198-5664-18B5-5CF8-476F96EBD31E}"/>
              </a:ext>
            </a:extLst>
          </p:cNvPr>
          <p:cNvSpPr/>
          <p:nvPr/>
        </p:nvSpPr>
        <p:spPr>
          <a:xfrm>
            <a:off x="7869420" y="4554763"/>
            <a:ext cx="1280585" cy="498694"/>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latin typeface="Meiryo UI" panose="020B0604030504040204" pitchFamily="34" charset="-128"/>
                <a:ea typeface="Meiryo UI" panose="020B0604030504040204" pitchFamily="34" charset="-128"/>
              </a:rPr>
              <a:t>運用</a:t>
            </a:r>
            <a:endParaRPr lang="en-US" altLang="ja-JP" sz="1200" dirty="0">
              <a:latin typeface="Meiryo UI" panose="020B0604030504040204" pitchFamily="34" charset="-128"/>
              <a:ea typeface="Meiryo UI" panose="020B0604030504040204" pitchFamily="34" charset="-128"/>
            </a:endParaRPr>
          </a:p>
          <a:p>
            <a:pPr algn="ctr"/>
            <a:r>
              <a:rPr lang="ja-JP" altLang="en-US" sz="1200">
                <a:latin typeface="Meiryo UI" panose="020B0604030504040204" pitchFamily="34" charset="-128"/>
                <a:ea typeface="Meiryo UI" panose="020B0604030504040204" pitchFamily="34" charset="-128"/>
              </a:rPr>
              <a:t>テスト</a:t>
            </a:r>
            <a:endParaRPr kumimoji="1" lang="ja-JP" altLang="en-US" sz="1200">
              <a:latin typeface="Meiryo UI" panose="020B0604030504040204" pitchFamily="34" charset="-128"/>
              <a:ea typeface="Meiryo UI" panose="020B0604030504040204" pitchFamily="34" charset="-128"/>
            </a:endParaRPr>
          </a:p>
        </p:txBody>
      </p:sp>
      <p:sp>
        <p:nvSpPr>
          <p:cNvPr id="64" name="ホームベース 63">
            <a:extLst>
              <a:ext uri="{FF2B5EF4-FFF2-40B4-BE49-F238E27FC236}">
                <a16:creationId xmlns:a16="http://schemas.microsoft.com/office/drawing/2014/main" id="{CFDACE0C-CAFE-3B76-BB9D-66F4476C6EE0}"/>
              </a:ext>
            </a:extLst>
          </p:cNvPr>
          <p:cNvSpPr/>
          <p:nvPr/>
        </p:nvSpPr>
        <p:spPr>
          <a:xfrm>
            <a:off x="10680026" y="5064409"/>
            <a:ext cx="989282" cy="49869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latin typeface="Meiryo UI" panose="020B0604030504040204" pitchFamily="34" charset="-128"/>
                <a:ea typeface="Meiryo UI" panose="020B0604030504040204" pitchFamily="34" charset="-128"/>
              </a:rPr>
              <a:t>リリース</a:t>
            </a:r>
            <a:endParaRPr kumimoji="1" lang="ja-JP" altLang="en-US" sz="1200">
              <a:latin typeface="Meiryo UI" panose="020B0604030504040204" pitchFamily="34" charset="-128"/>
              <a:ea typeface="Meiryo UI" panose="020B0604030504040204" pitchFamily="34" charset="-128"/>
            </a:endParaRPr>
          </a:p>
        </p:txBody>
      </p:sp>
      <p:sp>
        <p:nvSpPr>
          <p:cNvPr id="67" name="正方形/長方形 66">
            <a:extLst>
              <a:ext uri="{FF2B5EF4-FFF2-40B4-BE49-F238E27FC236}">
                <a16:creationId xmlns:a16="http://schemas.microsoft.com/office/drawing/2014/main" id="{DFB78A2B-9D87-D95A-035C-E874766DB5C8}"/>
              </a:ext>
            </a:extLst>
          </p:cNvPr>
          <p:cNvSpPr/>
          <p:nvPr/>
        </p:nvSpPr>
        <p:spPr>
          <a:xfrm>
            <a:off x="1536092" y="1801152"/>
            <a:ext cx="1265982" cy="4421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34" charset="-128"/>
                <a:ea typeface="Meiryo UI" panose="020B0604030504040204" pitchFamily="34" charset="-128"/>
              </a:rPr>
              <a:t>W1</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69" name="正方形/長方形 68">
            <a:extLst>
              <a:ext uri="{FF2B5EF4-FFF2-40B4-BE49-F238E27FC236}">
                <a16:creationId xmlns:a16="http://schemas.microsoft.com/office/drawing/2014/main" id="{BF8DC9C1-716D-9919-5112-1AD79D4A2CE8}"/>
              </a:ext>
            </a:extLst>
          </p:cNvPr>
          <p:cNvSpPr/>
          <p:nvPr/>
        </p:nvSpPr>
        <p:spPr>
          <a:xfrm>
            <a:off x="1536092" y="2243455"/>
            <a:ext cx="1265982" cy="3675871"/>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65" name="テキスト ボックス 64">
            <a:extLst>
              <a:ext uri="{FF2B5EF4-FFF2-40B4-BE49-F238E27FC236}">
                <a16:creationId xmlns:a16="http://schemas.microsoft.com/office/drawing/2014/main" id="{90756F15-2C35-BAF6-80BC-F7A1DEAF8D30}"/>
              </a:ext>
            </a:extLst>
          </p:cNvPr>
          <p:cNvSpPr txBox="1"/>
          <p:nvPr/>
        </p:nvSpPr>
        <p:spPr>
          <a:xfrm>
            <a:off x="1690426" y="2892315"/>
            <a:ext cx="957313" cy="230832"/>
          </a:xfrm>
          <a:prstGeom prst="rect">
            <a:avLst/>
          </a:prstGeom>
          <a:noFill/>
        </p:spPr>
        <p:txBody>
          <a:bodyPr wrap="none" rtlCol="0">
            <a:spAutoFit/>
          </a:bodyPr>
          <a:lstStyle/>
          <a:p>
            <a:r>
              <a:rPr kumimoji="1" lang="ja-JP" altLang="en-US" sz="900">
                <a:latin typeface="Meiryo UI" panose="020B0604030504040204" pitchFamily="34" charset="-128"/>
                <a:ea typeface="Meiryo UI" panose="020B0604030504040204" pitchFamily="34" charset="-128"/>
              </a:rPr>
              <a:t>★</a:t>
            </a:r>
            <a:r>
              <a:rPr kumimoji="1" lang="en-US" altLang="ja-JP" sz="900" dirty="0">
                <a:latin typeface="Meiryo UI" panose="020B0604030504040204" pitchFamily="34" charset="-128"/>
                <a:ea typeface="Meiryo UI" panose="020B0604030504040204" pitchFamily="34" charset="-128"/>
              </a:rPr>
              <a:t>1/6</a:t>
            </a:r>
            <a:r>
              <a:rPr kumimoji="1" lang="ja-JP" altLang="en-US" sz="900">
                <a:latin typeface="Meiryo UI" panose="020B0604030504040204" pitchFamily="34" charset="-128"/>
                <a:ea typeface="Meiryo UI" panose="020B0604030504040204" pitchFamily="34" charset="-128"/>
              </a:rPr>
              <a:t>発注予定</a:t>
            </a:r>
          </a:p>
        </p:txBody>
      </p:sp>
      <p:sp>
        <p:nvSpPr>
          <p:cNvPr id="72" name="正方形/長方形 71">
            <a:extLst>
              <a:ext uri="{FF2B5EF4-FFF2-40B4-BE49-F238E27FC236}">
                <a16:creationId xmlns:a16="http://schemas.microsoft.com/office/drawing/2014/main" id="{22D8549E-12DE-9A4C-95F1-B230CC83E1E7}"/>
              </a:ext>
            </a:extLst>
          </p:cNvPr>
          <p:cNvSpPr/>
          <p:nvPr/>
        </p:nvSpPr>
        <p:spPr>
          <a:xfrm>
            <a:off x="498331" y="1801152"/>
            <a:ext cx="1043895" cy="44210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eiryo UI" panose="020B0604030504040204" pitchFamily="34" charset="-128"/>
                <a:ea typeface="Meiryo UI" panose="020B0604030504040204" pitchFamily="34" charset="-128"/>
              </a:rPr>
              <a:t>経過週</a:t>
            </a:r>
          </a:p>
        </p:txBody>
      </p:sp>
      <p:sp>
        <p:nvSpPr>
          <p:cNvPr id="74" name="正方形/長方形 73">
            <a:extLst>
              <a:ext uri="{FF2B5EF4-FFF2-40B4-BE49-F238E27FC236}">
                <a16:creationId xmlns:a16="http://schemas.microsoft.com/office/drawing/2014/main" id="{A9736911-AD69-DFE4-A496-580FEAAB1545}"/>
              </a:ext>
            </a:extLst>
          </p:cNvPr>
          <p:cNvSpPr/>
          <p:nvPr/>
        </p:nvSpPr>
        <p:spPr>
          <a:xfrm>
            <a:off x="498331" y="2243455"/>
            <a:ext cx="1043895" cy="367587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200">
                <a:solidFill>
                  <a:schemeClr val="tx1"/>
                </a:solidFill>
                <a:latin typeface="Meiryo UI" panose="020B0604030504040204" pitchFamily="34" charset="-128"/>
                <a:ea typeface="Meiryo UI" panose="020B0604030504040204" pitchFamily="34" charset="-128"/>
              </a:rPr>
              <a:t>タスクおよびスケジュール</a:t>
            </a:r>
            <a:endParaRPr kumimoji="1" lang="ja-JP" altLang="en-US" sz="1200">
              <a:solidFill>
                <a:schemeClr val="tx1"/>
              </a:solidFill>
              <a:latin typeface="Meiryo UI" panose="020B0604030504040204" pitchFamily="34" charset="-128"/>
              <a:ea typeface="Meiryo UI" panose="020B0604030504040204" pitchFamily="34" charset="-128"/>
            </a:endParaRPr>
          </a:p>
        </p:txBody>
      </p:sp>
      <p:sp>
        <p:nvSpPr>
          <p:cNvPr id="6" name="ホームベース 5">
            <a:extLst>
              <a:ext uri="{FF2B5EF4-FFF2-40B4-BE49-F238E27FC236}">
                <a16:creationId xmlns:a16="http://schemas.microsoft.com/office/drawing/2014/main" id="{FB592C3E-5C5E-492A-1214-6E202A8616BA}"/>
              </a:ext>
            </a:extLst>
          </p:cNvPr>
          <p:cNvSpPr/>
          <p:nvPr/>
        </p:nvSpPr>
        <p:spPr>
          <a:xfrm>
            <a:off x="1547585" y="2346534"/>
            <a:ext cx="1249131" cy="498694"/>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社内手続き</a:t>
            </a:r>
          </a:p>
        </p:txBody>
      </p:sp>
      <p:sp>
        <p:nvSpPr>
          <p:cNvPr id="15" name="ホームベース 14">
            <a:extLst>
              <a:ext uri="{FF2B5EF4-FFF2-40B4-BE49-F238E27FC236}">
                <a16:creationId xmlns:a16="http://schemas.microsoft.com/office/drawing/2014/main" id="{B92C0FDB-8B77-A522-5629-47092F58721B}"/>
              </a:ext>
            </a:extLst>
          </p:cNvPr>
          <p:cNvSpPr/>
          <p:nvPr/>
        </p:nvSpPr>
        <p:spPr>
          <a:xfrm>
            <a:off x="6605380" y="4554372"/>
            <a:ext cx="1282060" cy="498694"/>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latin typeface="Meiryo UI" panose="020B0604030504040204" pitchFamily="34" charset="-128"/>
                <a:ea typeface="Meiryo UI" panose="020B0604030504040204" pitchFamily="34" charset="-128"/>
              </a:rPr>
              <a:t>運用計画</a:t>
            </a:r>
            <a:endParaRPr kumimoji="1" lang="en-US" altLang="ja-JP" sz="1200" dirty="0">
              <a:latin typeface="Meiryo UI" panose="020B0604030504040204" pitchFamily="34" charset="-128"/>
              <a:ea typeface="Meiryo UI" panose="020B0604030504040204" pitchFamily="34" charset="-128"/>
            </a:endParaRPr>
          </a:p>
          <a:p>
            <a:pPr algn="ctr"/>
            <a:r>
              <a:rPr lang="ja-JP" altLang="en-US" sz="900">
                <a:latin typeface="Meiryo UI" panose="020B0604030504040204" pitchFamily="34" charset="-128"/>
                <a:ea typeface="Meiryo UI" panose="020B0604030504040204" pitchFamily="34" charset="-128"/>
              </a:rPr>
              <a:t>（マニュアル作成）</a:t>
            </a:r>
            <a:endParaRPr kumimoji="1" lang="ja-JP" altLang="en-US" sz="900">
              <a:latin typeface="Meiryo UI" panose="020B0604030504040204" pitchFamily="34" charset="-128"/>
              <a:ea typeface="Meiryo UI" panose="020B0604030504040204" pitchFamily="34" charset="-128"/>
            </a:endParaRPr>
          </a:p>
        </p:txBody>
      </p:sp>
      <p:sp>
        <p:nvSpPr>
          <p:cNvPr id="23" name="ホームベース 22">
            <a:extLst>
              <a:ext uri="{FF2B5EF4-FFF2-40B4-BE49-F238E27FC236}">
                <a16:creationId xmlns:a16="http://schemas.microsoft.com/office/drawing/2014/main" id="{4B91DAEF-2391-D483-D932-E5C2E1EA9147}"/>
              </a:ext>
            </a:extLst>
          </p:cNvPr>
          <p:cNvSpPr/>
          <p:nvPr/>
        </p:nvSpPr>
        <p:spPr>
          <a:xfrm>
            <a:off x="7869421" y="5623202"/>
            <a:ext cx="1259148" cy="153252"/>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latin typeface="Meiryo UI" panose="020B0604030504040204" pitchFamily="34" charset="-128"/>
                <a:ea typeface="Meiryo UI" panose="020B0604030504040204" pitchFamily="34" charset="-128"/>
              </a:rPr>
              <a:t>周辺タスク確認</a:t>
            </a:r>
            <a:endParaRPr kumimoji="1" lang="ja-JP" altLang="en-US" sz="1200">
              <a:latin typeface="Meiryo UI" panose="020B0604030504040204" pitchFamily="34" charset="-128"/>
              <a:ea typeface="Meiryo UI" panose="020B0604030504040204" pitchFamily="34" charset="-128"/>
            </a:endParaRPr>
          </a:p>
        </p:txBody>
      </p:sp>
      <p:sp>
        <p:nvSpPr>
          <p:cNvPr id="8" name="テキスト ボックス 7">
            <a:extLst>
              <a:ext uri="{FF2B5EF4-FFF2-40B4-BE49-F238E27FC236}">
                <a16:creationId xmlns:a16="http://schemas.microsoft.com/office/drawing/2014/main" id="{20E30386-C79B-8462-E6D5-A601A81E31F6}"/>
              </a:ext>
            </a:extLst>
          </p:cNvPr>
          <p:cNvSpPr txBox="1"/>
          <p:nvPr/>
        </p:nvSpPr>
        <p:spPr>
          <a:xfrm>
            <a:off x="10680026" y="4769662"/>
            <a:ext cx="1114408" cy="230832"/>
          </a:xfrm>
          <a:prstGeom prst="rect">
            <a:avLst/>
          </a:prstGeom>
          <a:noFill/>
        </p:spPr>
        <p:txBody>
          <a:bodyPr wrap="none" rtlCol="0">
            <a:spAutoFit/>
          </a:bodyPr>
          <a:lstStyle/>
          <a:p>
            <a:r>
              <a:rPr kumimoji="1" lang="ja-JP" altLang="en-US" sz="900">
                <a:latin typeface="Meiryo UI" panose="020B0604030504040204" pitchFamily="34" charset="-128"/>
                <a:ea typeface="Meiryo UI" panose="020B0604030504040204" pitchFamily="34" charset="-128"/>
              </a:rPr>
              <a:t>★</a:t>
            </a:r>
            <a:r>
              <a:rPr kumimoji="1" lang="en-US" altLang="ja-JP" sz="900" dirty="0">
                <a:latin typeface="Meiryo UI" panose="020B0604030504040204" pitchFamily="34" charset="-128"/>
                <a:ea typeface="Meiryo UI" panose="020B0604030504040204" pitchFamily="34" charset="-128"/>
              </a:rPr>
              <a:t>3/1</a:t>
            </a:r>
            <a:r>
              <a:rPr lang="ja-JP" altLang="en-US" sz="900">
                <a:latin typeface="Meiryo UI" panose="020B0604030504040204" pitchFamily="34" charset="-128"/>
                <a:ea typeface="Meiryo UI" panose="020B0604030504040204" pitchFamily="34" charset="-128"/>
              </a:rPr>
              <a:t>本公開予定</a:t>
            </a:r>
            <a:endParaRPr kumimoji="1" lang="ja-JP" altLang="en-US" sz="900">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09877D7B-8969-9CAA-B464-54B9D4FC39ED}"/>
              </a:ext>
            </a:extLst>
          </p:cNvPr>
          <p:cNvSpPr/>
          <p:nvPr/>
        </p:nvSpPr>
        <p:spPr>
          <a:xfrm>
            <a:off x="498331" y="1358947"/>
            <a:ext cx="1043895" cy="44210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solidFill>
                  <a:schemeClr val="tx1"/>
                </a:solidFill>
                <a:latin typeface="Meiryo UI" panose="020B0604030504040204" pitchFamily="34" charset="-128"/>
                <a:ea typeface="Meiryo UI" panose="020B0604030504040204" pitchFamily="34" charset="-128"/>
              </a:rPr>
              <a:t>月</a:t>
            </a: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16225A25-8046-8229-BF0A-DAADE81949D8}"/>
              </a:ext>
            </a:extLst>
          </p:cNvPr>
          <p:cNvSpPr/>
          <p:nvPr/>
        </p:nvSpPr>
        <p:spPr>
          <a:xfrm>
            <a:off x="1542225" y="1358947"/>
            <a:ext cx="5468627" cy="44210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latin typeface="Meiryo UI" panose="020B0604030504040204" pitchFamily="34" charset="-128"/>
                <a:ea typeface="Meiryo UI" panose="020B0604030504040204" pitchFamily="34" charset="-128"/>
              </a:rPr>
              <a:t>1</a:t>
            </a:r>
            <a:r>
              <a:rPr lang="ja-JP" altLang="en-US" sz="1400">
                <a:solidFill>
                  <a:schemeClr val="tx1"/>
                </a:solidFill>
                <a:latin typeface="Meiryo UI" panose="020B0604030504040204" pitchFamily="34" charset="-128"/>
                <a:ea typeface="Meiryo UI" panose="020B0604030504040204" pitchFamily="34" charset="-128"/>
              </a:rPr>
              <a:t>月</a:t>
            </a: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0554C053-88B9-F07A-9B05-CB78B5A4E199}"/>
              </a:ext>
            </a:extLst>
          </p:cNvPr>
          <p:cNvSpPr/>
          <p:nvPr/>
        </p:nvSpPr>
        <p:spPr>
          <a:xfrm>
            <a:off x="7010851" y="1358947"/>
            <a:ext cx="3669175" cy="44210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latin typeface="Meiryo UI" panose="020B0604030504040204" pitchFamily="34" charset="-128"/>
                <a:ea typeface="Meiryo UI" panose="020B0604030504040204" pitchFamily="34" charset="-128"/>
              </a:rPr>
              <a:t>2</a:t>
            </a:r>
            <a:r>
              <a:rPr lang="ja-JP" altLang="en-US" sz="1400">
                <a:solidFill>
                  <a:schemeClr val="tx1"/>
                </a:solidFill>
                <a:latin typeface="Meiryo UI" panose="020B0604030504040204" pitchFamily="34" charset="-128"/>
                <a:ea typeface="Meiryo UI" panose="020B0604030504040204" pitchFamily="34" charset="-128"/>
              </a:rPr>
              <a:t>月</a:t>
            </a: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3397C358-B768-A633-546A-8EC0A65E4B46}"/>
              </a:ext>
            </a:extLst>
          </p:cNvPr>
          <p:cNvSpPr/>
          <p:nvPr/>
        </p:nvSpPr>
        <p:spPr>
          <a:xfrm>
            <a:off x="10680026" y="1358947"/>
            <a:ext cx="977789" cy="44210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latin typeface="Meiryo UI" panose="020B0604030504040204" pitchFamily="34" charset="-128"/>
                <a:ea typeface="Meiryo UI" panose="020B0604030504040204" pitchFamily="34" charset="-128"/>
              </a:rPr>
              <a:t>3</a:t>
            </a:r>
            <a:r>
              <a:rPr lang="ja-JP" altLang="en-US" sz="1400">
                <a:solidFill>
                  <a:schemeClr val="tx1"/>
                </a:solidFill>
                <a:latin typeface="Meiryo UI" panose="020B0604030504040204" pitchFamily="34" charset="-128"/>
                <a:ea typeface="Meiryo UI" panose="020B0604030504040204" pitchFamily="34" charset="-128"/>
              </a:rPr>
              <a:t>月</a:t>
            </a:r>
            <a:endParaRPr kumimoji="1" lang="ja-JP" altLang="en-US" sz="1400">
              <a:solidFill>
                <a:schemeClr val="tx1"/>
              </a:solidFill>
              <a:latin typeface="Meiryo UI" panose="020B0604030504040204" pitchFamily="34" charset="-128"/>
              <a:ea typeface="Meiryo UI" panose="020B0604030504040204" pitchFamily="34" charset="-128"/>
            </a:endParaRPr>
          </a:p>
        </p:txBody>
      </p:sp>
      <p:sp>
        <p:nvSpPr>
          <p:cNvPr id="38" name="ホームベース 37">
            <a:extLst>
              <a:ext uri="{FF2B5EF4-FFF2-40B4-BE49-F238E27FC236}">
                <a16:creationId xmlns:a16="http://schemas.microsoft.com/office/drawing/2014/main" id="{09FDB144-0BB6-37F6-823B-A4BB956F918D}"/>
              </a:ext>
            </a:extLst>
          </p:cNvPr>
          <p:cNvSpPr/>
          <p:nvPr/>
        </p:nvSpPr>
        <p:spPr>
          <a:xfrm>
            <a:off x="1700967" y="6037981"/>
            <a:ext cx="1282058" cy="2577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900">
                <a:latin typeface="Meiryo UI" panose="020B0604030504040204" pitchFamily="34" charset="-128"/>
                <a:ea typeface="Meiryo UI" panose="020B0604030504040204" pitchFamily="34" charset="-128"/>
              </a:rPr>
              <a:t>架空社タスク</a:t>
            </a:r>
          </a:p>
        </p:txBody>
      </p:sp>
      <p:sp>
        <p:nvSpPr>
          <p:cNvPr id="39" name="ホームベース 38">
            <a:extLst>
              <a:ext uri="{FF2B5EF4-FFF2-40B4-BE49-F238E27FC236}">
                <a16:creationId xmlns:a16="http://schemas.microsoft.com/office/drawing/2014/main" id="{C779B2EC-2543-420A-C835-4DE7AFF3CEBB}"/>
              </a:ext>
            </a:extLst>
          </p:cNvPr>
          <p:cNvSpPr/>
          <p:nvPr/>
        </p:nvSpPr>
        <p:spPr>
          <a:xfrm>
            <a:off x="3136228" y="6037981"/>
            <a:ext cx="1282058" cy="257768"/>
          </a:xfrm>
          <a:prstGeom prst="homePlat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900">
                <a:latin typeface="Meiryo UI" panose="020B0604030504040204" pitchFamily="34" charset="-128"/>
                <a:ea typeface="Meiryo UI" panose="020B0604030504040204" pitchFamily="34" charset="-128"/>
              </a:rPr>
              <a:t>当社タスク</a:t>
            </a:r>
            <a:endParaRPr kumimoji="1" lang="ja-JP" altLang="en-US" sz="9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035927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711721-7A1C-4F6A-61F1-5B9AC2C29CD5}"/>
              </a:ext>
            </a:extLst>
          </p:cNvPr>
          <p:cNvSpPr>
            <a:spLocks noGrp="1"/>
          </p:cNvSpPr>
          <p:nvPr>
            <p:ph type="title"/>
          </p:nvPr>
        </p:nvSpPr>
        <p:spPr/>
        <p:txBody>
          <a:bodyPr>
            <a:normAutofit fontScale="90000"/>
          </a:bodyPr>
          <a:lstStyle/>
          <a:p>
            <a:r>
              <a:rPr kumimoji="1" lang="ja-JP" altLang="en-US"/>
              <a:t>プロジェクト</a:t>
            </a:r>
            <a:r>
              <a:rPr kumimoji="1" lang="en-US" altLang="ja-JP"/>
              <a:t> </a:t>
            </a:r>
            <a:r>
              <a:rPr kumimoji="1" lang="ja-JP" altLang="en-US"/>
              <a:t>体制</a:t>
            </a:r>
          </a:p>
        </p:txBody>
      </p:sp>
      <p:sp>
        <p:nvSpPr>
          <p:cNvPr id="4" name="フッター プレースホルダー 3">
            <a:extLst>
              <a:ext uri="{FF2B5EF4-FFF2-40B4-BE49-F238E27FC236}">
                <a16:creationId xmlns:a16="http://schemas.microsoft.com/office/drawing/2014/main" id="{4F45CC41-C817-BC51-05D0-F14E7637D342}"/>
              </a:ext>
            </a:extLst>
          </p:cNvPr>
          <p:cNvSpPr>
            <a:spLocks noGrp="1"/>
          </p:cNvSpPr>
          <p:nvPr>
            <p:ph type="ftr" sz="quarter" idx="11"/>
          </p:nvPr>
        </p:nvSpPr>
        <p:spPr/>
        <p:txBody>
          <a:bodyPr/>
          <a:lstStyle/>
          <a:p>
            <a:r>
              <a:rPr lang="en" altLang="ja-JP" dirty="0"/>
              <a:t>bluecode inc.</a:t>
            </a:r>
            <a:endParaRPr lang="ja-JP" altLang="en-US"/>
          </a:p>
        </p:txBody>
      </p:sp>
      <p:sp>
        <p:nvSpPr>
          <p:cNvPr id="5" name="スライド番号プレースホルダー 4">
            <a:extLst>
              <a:ext uri="{FF2B5EF4-FFF2-40B4-BE49-F238E27FC236}">
                <a16:creationId xmlns:a16="http://schemas.microsoft.com/office/drawing/2014/main" id="{D50EB6D8-FA51-7000-9D8B-3B41EA9C5A52}"/>
              </a:ext>
            </a:extLst>
          </p:cNvPr>
          <p:cNvSpPr>
            <a:spLocks noGrp="1"/>
          </p:cNvSpPr>
          <p:nvPr>
            <p:ph type="sldNum" sz="quarter" idx="12"/>
          </p:nvPr>
        </p:nvSpPr>
        <p:spPr/>
        <p:txBody>
          <a:bodyPr/>
          <a:lstStyle/>
          <a:p>
            <a:fld id="{462052E6-07CA-9B46-B866-FDE18BF74505}" type="slidenum">
              <a:rPr lang="ja-JP" altLang="en-US" smtClean="0"/>
              <a:pPr/>
              <a:t>16</a:t>
            </a:fld>
            <a:endParaRPr lang="ja-JP" altLang="en-US"/>
          </a:p>
        </p:txBody>
      </p:sp>
      <p:sp>
        <p:nvSpPr>
          <p:cNvPr id="7" name="正方形/長方形 6">
            <a:extLst>
              <a:ext uri="{FF2B5EF4-FFF2-40B4-BE49-F238E27FC236}">
                <a16:creationId xmlns:a16="http://schemas.microsoft.com/office/drawing/2014/main" id="{F382AF7A-EEA5-1121-BC5C-07060898B73C}"/>
              </a:ext>
            </a:extLst>
          </p:cNvPr>
          <p:cNvSpPr/>
          <p:nvPr/>
        </p:nvSpPr>
        <p:spPr>
          <a:xfrm>
            <a:off x="4873871" y="1776646"/>
            <a:ext cx="1627347" cy="450436"/>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Meiryo UI" panose="020B0604030504040204" pitchFamily="34" charset="-128"/>
                <a:ea typeface="Meiryo UI" panose="020B0604030504040204" pitchFamily="34" charset="-128"/>
              </a:rPr>
              <a:t>プロジェクトオーナー</a:t>
            </a:r>
            <a:endParaRPr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a:solidFill>
                  <a:schemeClr val="tx1"/>
                </a:solidFill>
                <a:latin typeface="Meiryo UI" panose="020B0604030504040204" pitchFamily="34" charset="-128"/>
                <a:ea typeface="Meiryo UI" panose="020B0604030504040204" pitchFamily="34" charset="-128"/>
              </a:rPr>
              <a:t>佐藤</a:t>
            </a:r>
            <a:endParaRPr lang="en-US" altLang="ja-JP" sz="1200" dirty="0">
              <a:solidFill>
                <a:schemeClr val="tx1"/>
              </a:solidFill>
              <a:latin typeface="Meiryo UI" panose="020B0604030504040204" pitchFamily="34" charset="-128"/>
              <a:ea typeface="Meiryo UI" panose="020B0604030504040204" pitchFamily="34" charset="-128"/>
            </a:endParaRPr>
          </a:p>
        </p:txBody>
      </p:sp>
      <p:sp>
        <p:nvSpPr>
          <p:cNvPr id="8" name="正方形/長方形 7">
            <a:extLst>
              <a:ext uri="{FF2B5EF4-FFF2-40B4-BE49-F238E27FC236}">
                <a16:creationId xmlns:a16="http://schemas.microsoft.com/office/drawing/2014/main" id="{334E37D1-8DE3-9DDE-8DD1-DFD65907B89D}"/>
              </a:ext>
            </a:extLst>
          </p:cNvPr>
          <p:cNvSpPr/>
          <p:nvPr/>
        </p:nvSpPr>
        <p:spPr>
          <a:xfrm>
            <a:off x="4873871" y="2801874"/>
            <a:ext cx="1627347" cy="450436"/>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Meiryo UI" panose="020B0604030504040204" pitchFamily="34" charset="-128"/>
                <a:ea typeface="Meiryo UI" panose="020B0604030504040204" pitchFamily="34" charset="-128"/>
              </a:rPr>
              <a:t>プロジェクトマネージャー</a:t>
            </a:r>
            <a:endParaRPr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a:solidFill>
                  <a:schemeClr val="tx1"/>
                </a:solidFill>
                <a:latin typeface="Meiryo UI" panose="020B0604030504040204" pitchFamily="34" charset="-128"/>
                <a:ea typeface="Meiryo UI" panose="020B0604030504040204" pitchFamily="34" charset="-128"/>
              </a:rPr>
              <a:t>鈴木</a:t>
            </a:r>
            <a:endParaRPr kumimoji="1" lang="en-US" altLang="ja-JP" sz="1200" dirty="0">
              <a:solidFill>
                <a:schemeClr val="tx1"/>
              </a:solidFill>
              <a:latin typeface="Meiryo UI" panose="020B0604030504040204" pitchFamily="34" charset="-128"/>
              <a:ea typeface="Meiryo UI" panose="020B0604030504040204" pitchFamily="34" charset="-128"/>
            </a:endParaRPr>
          </a:p>
        </p:txBody>
      </p:sp>
      <p:sp>
        <p:nvSpPr>
          <p:cNvPr id="9" name="正方形/長方形 8">
            <a:extLst>
              <a:ext uri="{FF2B5EF4-FFF2-40B4-BE49-F238E27FC236}">
                <a16:creationId xmlns:a16="http://schemas.microsoft.com/office/drawing/2014/main" id="{870083BE-8FDE-7B4F-B85C-43B0A7F55BB8}"/>
              </a:ext>
            </a:extLst>
          </p:cNvPr>
          <p:cNvSpPr/>
          <p:nvPr/>
        </p:nvSpPr>
        <p:spPr>
          <a:xfrm>
            <a:off x="2913429" y="3888711"/>
            <a:ext cx="1627347" cy="450436"/>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Meiryo UI" panose="020B0604030504040204" pitchFamily="34" charset="-128"/>
                <a:ea typeface="Meiryo UI" panose="020B0604030504040204" pitchFamily="34" charset="-128"/>
              </a:rPr>
              <a:t>開発チームリーダー</a:t>
            </a:r>
            <a:endParaRPr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a:solidFill>
                  <a:schemeClr val="tx1"/>
                </a:solidFill>
                <a:latin typeface="Meiryo UI" panose="020B0604030504040204" pitchFamily="34" charset="-128"/>
                <a:ea typeface="Meiryo UI" panose="020B0604030504040204" pitchFamily="34" charset="-128"/>
              </a:rPr>
              <a:t>伊藤</a:t>
            </a:r>
            <a:r>
              <a:rPr kumimoji="1" lang="en-US" altLang="ja-JP" sz="1200" dirty="0">
                <a:solidFill>
                  <a:schemeClr val="tx1"/>
                </a:solidFill>
                <a:latin typeface="Meiryo UI" panose="020B0604030504040204" pitchFamily="34" charset="-128"/>
                <a:ea typeface="Meiryo UI" panose="020B0604030504040204" pitchFamily="34" charset="-128"/>
              </a:rPr>
              <a:t>@</a:t>
            </a:r>
            <a:r>
              <a:rPr kumimoji="1" lang="ja-JP" altLang="en-US" sz="1200">
                <a:solidFill>
                  <a:schemeClr val="tx1"/>
                </a:solidFill>
                <a:latin typeface="Meiryo UI" panose="020B0604030504040204" pitchFamily="34" charset="-128"/>
                <a:ea typeface="Meiryo UI" panose="020B0604030504040204" pitchFamily="34" charset="-128"/>
              </a:rPr>
              <a:t>架空</a:t>
            </a:r>
            <a:endParaRPr kumimoji="1" lang="en-US" altLang="ja-JP" sz="1200" dirty="0">
              <a:solidFill>
                <a:schemeClr val="tx1"/>
              </a:solidFill>
              <a:latin typeface="Meiryo UI" panose="020B0604030504040204" pitchFamily="34" charset="-128"/>
              <a:ea typeface="Meiryo UI" panose="020B0604030504040204" pitchFamily="34" charset="-128"/>
            </a:endParaRPr>
          </a:p>
        </p:txBody>
      </p:sp>
      <p:sp>
        <p:nvSpPr>
          <p:cNvPr id="10" name="正方形/長方形 9">
            <a:extLst>
              <a:ext uri="{FF2B5EF4-FFF2-40B4-BE49-F238E27FC236}">
                <a16:creationId xmlns:a16="http://schemas.microsoft.com/office/drawing/2014/main" id="{363CA18D-0FF9-C6AC-F8FF-5AFAA7C7E7A3}"/>
              </a:ext>
            </a:extLst>
          </p:cNvPr>
          <p:cNvSpPr/>
          <p:nvPr/>
        </p:nvSpPr>
        <p:spPr>
          <a:xfrm>
            <a:off x="8967392" y="3888710"/>
            <a:ext cx="1627347" cy="450436"/>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Meiryo UI" panose="020B0604030504040204" pitchFamily="34" charset="-128"/>
                <a:ea typeface="Meiryo UI" panose="020B0604030504040204" pitchFamily="34" charset="-128"/>
              </a:rPr>
              <a:t>業務チームリーダー</a:t>
            </a:r>
            <a:endParaRPr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a:solidFill>
                  <a:schemeClr val="tx1"/>
                </a:solidFill>
                <a:latin typeface="Meiryo UI" panose="020B0604030504040204" pitchFamily="34" charset="-128"/>
                <a:ea typeface="Meiryo UI" panose="020B0604030504040204" pitchFamily="34" charset="-128"/>
              </a:rPr>
              <a:t>高橋</a:t>
            </a:r>
            <a:endParaRPr kumimoji="1" lang="en-US" altLang="ja-JP" sz="1200" dirty="0">
              <a:solidFill>
                <a:schemeClr val="tx1"/>
              </a:solidFill>
              <a:latin typeface="Meiryo UI" panose="020B0604030504040204" pitchFamily="34" charset="-128"/>
              <a:ea typeface="Meiryo UI" panose="020B0604030504040204" pitchFamily="34" charset="-128"/>
            </a:endParaRPr>
          </a:p>
        </p:txBody>
      </p:sp>
      <p:sp>
        <p:nvSpPr>
          <p:cNvPr id="11" name="正方形/長方形 10">
            <a:extLst>
              <a:ext uri="{FF2B5EF4-FFF2-40B4-BE49-F238E27FC236}">
                <a16:creationId xmlns:a16="http://schemas.microsoft.com/office/drawing/2014/main" id="{95F9B5AC-0AC8-9EC6-80A6-A03C3476963A}"/>
              </a:ext>
            </a:extLst>
          </p:cNvPr>
          <p:cNvSpPr/>
          <p:nvPr/>
        </p:nvSpPr>
        <p:spPr>
          <a:xfrm>
            <a:off x="2913429" y="4975549"/>
            <a:ext cx="1627347" cy="450436"/>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Meiryo UI" panose="020B0604030504040204" pitchFamily="34" charset="-128"/>
                <a:ea typeface="Meiryo UI" panose="020B0604030504040204" pitchFamily="34" charset="-128"/>
              </a:rPr>
              <a:t>開発者</a:t>
            </a:r>
            <a:endParaRPr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a:solidFill>
                  <a:schemeClr val="tx1"/>
                </a:solidFill>
                <a:latin typeface="Meiryo UI" panose="020B0604030504040204" pitchFamily="34" charset="-128"/>
                <a:ea typeface="Meiryo UI" panose="020B0604030504040204" pitchFamily="34" charset="-128"/>
              </a:rPr>
              <a:t>山本</a:t>
            </a:r>
            <a:r>
              <a:rPr kumimoji="1" lang="en-US" altLang="ja-JP" sz="1200" dirty="0">
                <a:solidFill>
                  <a:schemeClr val="tx1"/>
                </a:solidFill>
                <a:latin typeface="Meiryo UI" panose="020B0604030504040204" pitchFamily="34" charset="-128"/>
                <a:ea typeface="Meiryo UI" panose="020B0604030504040204" pitchFamily="34" charset="-128"/>
              </a:rPr>
              <a:t>@</a:t>
            </a:r>
            <a:r>
              <a:rPr kumimoji="1" lang="ja-JP" altLang="en-US" sz="1200">
                <a:solidFill>
                  <a:schemeClr val="tx1"/>
                </a:solidFill>
                <a:latin typeface="Meiryo UI" panose="020B0604030504040204" pitchFamily="34" charset="-128"/>
                <a:ea typeface="Meiryo UI" panose="020B0604030504040204" pitchFamily="34" charset="-128"/>
              </a:rPr>
              <a:t>架空</a:t>
            </a:r>
            <a:endParaRPr kumimoji="1" lang="en-US" altLang="ja-JP" sz="1200" dirty="0">
              <a:solidFill>
                <a:schemeClr val="tx1"/>
              </a:solidFill>
              <a:latin typeface="Meiryo UI" panose="020B0604030504040204" pitchFamily="34" charset="-128"/>
              <a:ea typeface="Meiryo UI" panose="020B0604030504040204" pitchFamily="34" charset="-128"/>
            </a:endParaRPr>
          </a:p>
        </p:txBody>
      </p:sp>
      <p:sp>
        <p:nvSpPr>
          <p:cNvPr id="12" name="正方形/長方形 11">
            <a:extLst>
              <a:ext uri="{FF2B5EF4-FFF2-40B4-BE49-F238E27FC236}">
                <a16:creationId xmlns:a16="http://schemas.microsoft.com/office/drawing/2014/main" id="{18F8E807-930C-02B0-E270-F396A4D9ABC9}"/>
              </a:ext>
            </a:extLst>
          </p:cNvPr>
          <p:cNvSpPr/>
          <p:nvPr/>
        </p:nvSpPr>
        <p:spPr>
          <a:xfrm>
            <a:off x="4984096" y="4975549"/>
            <a:ext cx="1627347" cy="450436"/>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Meiryo UI" panose="020B0604030504040204" pitchFamily="34" charset="-128"/>
                <a:ea typeface="Meiryo UI" panose="020B0604030504040204" pitchFamily="34" charset="-128"/>
              </a:rPr>
              <a:t>テストエンジニア</a:t>
            </a:r>
            <a:endParaRPr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a:solidFill>
                  <a:schemeClr val="tx1"/>
                </a:solidFill>
                <a:latin typeface="Meiryo UI" panose="020B0604030504040204" pitchFamily="34" charset="-128"/>
                <a:ea typeface="Meiryo UI" panose="020B0604030504040204" pitchFamily="34" charset="-128"/>
              </a:rPr>
              <a:t>中村</a:t>
            </a:r>
            <a:r>
              <a:rPr lang="en-US" altLang="ja-JP" sz="1200" dirty="0">
                <a:solidFill>
                  <a:schemeClr val="tx1"/>
                </a:solidFill>
                <a:latin typeface="Meiryo UI" panose="020B0604030504040204" pitchFamily="34" charset="-128"/>
                <a:ea typeface="Meiryo UI" panose="020B0604030504040204" pitchFamily="34" charset="-128"/>
              </a:rPr>
              <a:t>@</a:t>
            </a:r>
            <a:r>
              <a:rPr lang="ja-JP" altLang="en-US" sz="1200">
                <a:solidFill>
                  <a:schemeClr val="tx1"/>
                </a:solidFill>
                <a:latin typeface="Meiryo UI" panose="020B0604030504040204" pitchFamily="34" charset="-128"/>
                <a:ea typeface="Meiryo UI" panose="020B0604030504040204" pitchFamily="34" charset="-128"/>
              </a:rPr>
              <a:t>架空</a:t>
            </a:r>
            <a:endParaRPr kumimoji="1" lang="en-US" altLang="ja-JP" sz="1200" dirty="0">
              <a:solidFill>
                <a:schemeClr val="tx1"/>
              </a:solidFill>
              <a:latin typeface="Meiryo UI" panose="020B0604030504040204" pitchFamily="34" charset="-128"/>
              <a:ea typeface="Meiryo UI" panose="020B0604030504040204" pitchFamily="34" charset="-128"/>
            </a:endParaRPr>
          </a:p>
        </p:txBody>
      </p:sp>
      <p:sp>
        <p:nvSpPr>
          <p:cNvPr id="13" name="正方形/長方形 12">
            <a:extLst>
              <a:ext uri="{FF2B5EF4-FFF2-40B4-BE49-F238E27FC236}">
                <a16:creationId xmlns:a16="http://schemas.microsoft.com/office/drawing/2014/main" id="{5A1E21BE-E877-753A-ADB5-EEAF8C3590EA}"/>
              </a:ext>
            </a:extLst>
          </p:cNvPr>
          <p:cNvSpPr/>
          <p:nvPr/>
        </p:nvSpPr>
        <p:spPr>
          <a:xfrm>
            <a:off x="842761" y="4975549"/>
            <a:ext cx="1627347" cy="450436"/>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Meiryo UI" panose="020B0604030504040204" pitchFamily="34" charset="-128"/>
                <a:ea typeface="Meiryo UI" panose="020B0604030504040204" pitchFamily="34" charset="-128"/>
              </a:rPr>
              <a:t>デザイナー</a:t>
            </a:r>
            <a:endParaRPr lang="en-US" altLang="ja-JP" sz="1200" dirty="0">
              <a:solidFill>
                <a:schemeClr val="tx1"/>
              </a:solidFill>
              <a:latin typeface="Meiryo UI" panose="020B0604030504040204" pitchFamily="34" charset="-128"/>
              <a:ea typeface="Meiryo UI" panose="020B0604030504040204" pitchFamily="34" charset="-128"/>
            </a:endParaRPr>
          </a:p>
          <a:p>
            <a:pPr algn="ctr"/>
            <a:r>
              <a:rPr kumimoji="1" lang="ja-JP" altLang="en-US" sz="1200">
                <a:solidFill>
                  <a:schemeClr val="tx1"/>
                </a:solidFill>
                <a:latin typeface="Meiryo UI" panose="020B0604030504040204" pitchFamily="34" charset="-128"/>
                <a:ea typeface="Meiryo UI" panose="020B0604030504040204" pitchFamily="34" charset="-128"/>
              </a:rPr>
              <a:t>渡辺</a:t>
            </a:r>
            <a:r>
              <a:rPr kumimoji="1" lang="en-US" altLang="ja-JP" sz="1200" dirty="0">
                <a:solidFill>
                  <a:schemeClr val="tx1"/>
                </a:solidFill>
                <a:latin typeface="Meiryo UI" panose="020B0604030504040204" pitchFamily="34" charset="-128"/>
                <a:ea typeface="Meiryo UI" panose="020B0604030504040204" pitchFamily="34" charset="-128"/>
              </a:rPr>
              <a:t>@</a:t>
            </a:r>
            <a:r>
              <a:rPr kumimoji="1" lang="ja-JP" altLang="en-US" sz="1200">
                <a:solidFill>
                  <a:schemeClr val="tx1"/>
                </a:solidFill>
                <a:latin typeface="Meiryo UI" panose="020B0604030504040204" pitchFamily="34" charset="-128"/>
                <a:ea typeface="Meiryo UI" panose="020B0604030504040204" pitchFamily="34" charset="-128"/>
              </a:rPr>
              <a:t>架空</a:t>
            </a:r>
            <a:endParaRPr kumimoji="1" lang="en-US" altLang="ja-JP" sz="1200" dirty="0">
              <a:solidFill>
                <a:schemeClr val="tx1"/>
              </a:solidFill>
              <a:latin typeface="Meiryo UI" panose="020B0604030504040204" pitchFamily="34" charset="-128"/>
              <a:ea typeface="Meiryo UI" panose="020B0604030504040204" pitchFamily="34" charset="-128"/>
            </a:endParaRPr>
          </a:p>
        </p:txBody>
      </p:sp>
      <p:cxnSp>
        <p:nvCxnSpPr>
          <p:cNvPr id="14" name="直線コネクタ 13">
            <a:extLst>
              <a:ext uri="{FF2B5EF4-FFF2-40B4-BE49-F238E27FC236}">
                <a16:creationId xmlns:a16="http://schemas.microsoft.com/office/drawing/2014/main" id="{F9527482-6D39-CE2B-CB52-5D595D1067DB}"/>
              </a:ext>
            </a:extLst>
          </p:cNvPr>
          <p:cNvCxnSpPr>
            <a:stCxn id="7" idx="2"/>
            <a:endCxn id="8" idx="0"/>
          </p:cNvCxnSpPr>
          <p:nvPr/>
        </p:nvCxnSpPr>
        <p:spPr>
          <a:xfrm>
            <a:off x="5687544" y="2227082"/>
            <a:ext cx="0" cy="57479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カギ線コネクタ 14">
            <a:extLst>
              <a:ext uri="{FF2B5EF4-FFF2-40B4-BE49-F238E27FC236}">
                <a16:creationId xmlns:a16="http://schemas.microsoft.com/office/drawing/2014/main" id="{ECAF0F6D-9857-3B81-8285-3BF992F940B9}"/>
              </a:ext>
            </a:extLst>
          </p:cNvPr>
          <p:cNvCxnSpPr>
            <a:stCxn id="8" idx="2"/>
            <a:endCxn id="9" idx="0"/>
          </p:cNvCxnSpPr>
          <p:nvPr/>
        </p:nvCxnSpPr>
        <p:spPr>
          <a:xfrm rot="5400000">
            <a:off x="4389123" y="2590289"/>
            <a:ext cx="636402" cy="1960442"/>
          </a:xfrm>
          <a:prstGeom prst="bentConnector3">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カギ線コネクタ 15">
            <a:extLst>
              <a:ext uri="{FF2B5EF4-FFF2-40B4-BE49-F238E27FC236}">
                <a16:creationId xmlns:a16="http://schemas.microsoft.com/office/drawing/2014/main" id="{5B2D1E2D-89D1-6952-F1B3-61319C12755B}"/>
              </a:ext>
            </a:extLst>
          </p:cNvPr>
          <p:cNvCxnSpPr>
            <a:cxnSpLocks/>
            <a:stCxn id="8" idx="2"/>
            <a:endCxn id="10" idx="0"/>
          </p:cNvCxnSpPr>
          <p:nvPr/>
        </p:nvCxnSpPr>
        <p:spPr>
          <a:xfrm rot="16200000" flipH="1">
            <a:off x="7416105" y="1523749"/>
            <a:ext cx="636400" cy="4093521"/>
          </a:xfrm>
          <a:prstGeom prst="bentConnector3">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カギ線コネクタ 16">
            <a:extLst>
              <a:ext uri="{FF2B5EF4-FFF2-40B4-BE49-F238E27FC236}">
                <a16:creationId xmlns:a16="http://schemas.microsoft.com/office/drawing/2014/main" id="{43EA9078-8AFB-3EA3-F028-78BC24B3101C}"/>
              </a:ext>
            </a:extLst>
          </p:cNvPr>
          <p:cNvCxnSpPr>
            <a:cxnSpLocks/>
            <a:stCxn id="9" idx="2"/>
            <a:endCxn id="13" idx="0"/>
          </p:cNvCxnSpPr>
          <p:nvPr/>
        </p:nvCxnSpPr>
        <p:spPr>
          <a:xfrm rot="5400000">
            <a:off x="2373567" y="3622014"/>
            <a:ext cx="636402" cy="2070668"/>
          </a:xfrm>
          <a:prstGeom prst="bentConnector3">
            <a:avLst>
              <a:gd name="adj1"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カギ線コネクタ 17">
            <a:extLst>
              <a:ext uri="{FF2B5EF4-FFF2-40B4-BE49-F238E27FC236}">
                <a16:creationId xmlns:a16="http://schemas.microsoft.com/office/drawing/2014/main" id="{921B3390-7155-506D-49E8-AABA0426E3D8}"/>
              </a:ext>
            </a:extLst>
          </p:cNvPr>
          <p:cNvCxnSpPr>
            <a:stCxn id="9" idx="2"/>
            <a:endCxn id="12" idx="0"/>
          </p:cNvCxnSpPr>
          <p:nvPr/>
        </p:nvCxnSpPr>
        <p:spPr>
          <a:xfrm rot="16200000" flipH="1">
            <a:off x="4444235" y="3622014"/>
            <a:ext cx="636402" cy="2070668"/>
          </a:xfrm>
          <a:prstGeom prst="bentConnector3">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62CA526E-97E3-F26D-E64B-0D2E8EF07CCC}"/>
              </a:ext>
            </a:extLst>
          </p:cNvPr>
          <p:cNvCxnSpPr>
            <a:stCxn id="9" idx="2"/>
            <a:endCxn id="11" idx="0"/>
          </p:cNvCxnSpPr>
          <p:nvPr/>
        </p:nvCxnSpPr>
        <p:spPr>
          <a:xfrm>
            <a:off x="3727102" y="4339147"/>
            <a:ext cx="0" cy="6364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コンテンツ プレースホルダー 2">
            <a:extLst>
              <a:ext uri="{FF2B5EF4-FFF2-40B4-BE49-F238E27FC236}">
                <a16:creationId xmlns:a16="http://schemas.microsoft.com/office/drawing/2014/main" id="{353EF303-0292-A361-C789-6F0B422DDA9F}"/>
              </a:ext>
            </a:extLst>
          </p:cNvPr>
          <p:cNvSpPr>
            <a:spLocks noGrp="1"/>
          </p:cNvSpPr>
          <p:nvPr>
            <p:ph idx="1"/>
          </p:nvPr>
        </p:nvSpPr>
        <p:spPr>
          <a:xfrm>
            <a:off x="397565" y="861009"/>
            <a:ext cx="11396870" cy="751679"/>
          </a:xfrm>
        </p:spPr>
        <p:txBody>
          <a:bodyPr>
            <a:normAutofit/>
          </a:bodyPr>
          <a:lstStyle/>
          <a:p>
            <a:r>
              <a:rPr kumimoji="1" lang="ja-JP" altLang="en-US" sz="1800"/>
              <a:t>以下の体制でプロジェクトを推進する</a:t>
            </a:r>
            <a:endParaRPr kumimoji="1" lang="en-US" altLang="ja-JP" sz="1800" dirty="0"/>
          </a:p>
          <a:p>
            <a:pPr lvl="1"/>
            <a:r>
              <a:rPr lang="ja-JP" altLang="en-US" sz="1400"/>
              <a:t>開発については株式会社</a:t>
            </a:r>
            <a:r>
              <a:rPr lang="en-US" altLang="ja-JP" sz="1400" dirty="0"/>
              <a:t> </a:t>
            </a:r>
            <a:r>
              <a:rPr lang="ja-JP" altLang="en-US" sz="1400"/>
              <a:t>架空開発への委託を想定</a:t>
            </a:r>
            <a:endParaRPr kumimoji="1" lang="ja-JP" altLang="en-US" sz="1400"/>
          </a:p>
        </p:txBody>
      </p:sp>
      <p:sp>
        <p:nvSpPr>
          <p:cNvPr id="25" name="テキスト ボックス 24">
            <a:extLst>
              <a:ext uri="{FF2B5EF4-FFF2-40B4-BE49-F238E27FC236}">
                <a16:creationId xmlns:a16="http://schemas.microsoft.com/office/drawing/2014/main" id="{534BC736-D556-E212-9336-57C112DF102E}"/>
              </a:ext>
            </a:extLst>
          </p:cNvPr>
          <p:cNvSpPr txBox="1"/>
          <p:nvPr/>
        </p:nvSpPr>
        <p:spPr>
          <a:xfrm>
            <a:off x="2024426" y="5624667"/>
            <a:ext cx="3663118" cy="276999"/>
          </a:xfrm>
          <a:prstGeom prst="rect">
            <a:avLst/>
          </a:prstGeom>
          <a:noFill/>
        </p:spPr>
        <p:txBody>
          <a:bodyPr wrap="square" rtlCol="0">
            <a:spAutoFit/>
          </a:bodyPr>
          <a:lstStyle/>
          <a:p>
            <a:r>
              <a:rPr kumimoji="1" lang="ja-JP" altLang="en-US" sz="1200">
                <a:latin typeface="Meiryo UI" panose="020B0604030504040204" pitchFamily="34" charset="-128"/>
                <a:ea typeface="Meiryo UI" panose="020B0604030504040204" pitchFamily="34" charset="-128"/>
              </a:rPr>
              <a:t>株式会社</a:t>
            </a:r>
            <a:r>
              <a:rPr kumimoji="1" lang="en-US" altLang="ja-JP" sz="1200" dirty="0">
                <a:latin typeface="Meiryo UI" panose="020B0604030504040204" pitchFamily="34" charset="-128"/>
                <a:ea typeface="Meiryo UI" panose="020B0604030504040204" pitchFamily="34" charset="-128"/>
              </a:rPr>
              <a:t> </a:t>
            </a:r>
            <a:r>
              <a:rPr lang="ja-JP" altLang="en-US" sz="1200">
                <a:latin typeface="Meiryo UI" panose="020B0604030504040204" pitchFamily="34" charset="-128"/>
                <a:ea typeface="Meiryo UI" panose="020B0604030504040204" pitchFamily="34" charset="-128"/>
              </a:rPr>
              <a:t>架空開発の詳細、選定理由については別紙</a:t>
            </a:r>
            <a:endParaRPr kumimoji="1" lang="ja-JP" altLang="en-US" sz="1200">
              <a:latin typeface="Meiryo UI" panose="020B0604030504040204" pitchFamily="34" charset="-128"/>
              <a:ea typeface="Meiryo UI" panose="020B0604030504040204" pitchFamily="34" charset="-128"/>
            </a:endParaRPr>
          </a:p>
        </p:txBody>
      </p:sp>
      <p:sp>
        <p:nvSpPr>
          <p:cNvPr id="3" name="正方形/長方形 2">
            <a:extLst>
              <a:ext uri="{FF2B5EF4-FFF2-40B4-BE49-F238E27FC236}">
                <a16:creationId xmlns:a16="http://schemas.microsoft.com/office/drawing/2014/main" id="{ACE4D59A-CAE9-EB38-40BD-F502B50E4AA2}"/>
              </a:ext>
            </a:extLst>
          </p:cNvPr>
          <p:cNvSpPr/>
          <p:nvPr/>
        </p:nvSpPr>
        <p:spPr>
          <a:xfrm>
            <a:off x="8967392" y="4975549"/>
            <a:ext cx="1627347" cy="450436"/>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eiryo UI" panose="020B0604030504040204" pitchFamily="34" charset="-128"/>
                <a:ea typeface="Meiryo UI" panose="020B0604030504040204" pitchFamily="34" charset="-128"/>
              </a:rPr>
              <a:t>運用担当</a:t>
            </a:r>
            <a:endParaRPr kumimoji="1" lang="en-US" altLang="ja-JP" sz="1200" dirty="0">
              <a:solidFill>
                <a:schemeClr val="tx1"/>
              </a:solidFill>
              <a:latin typeface="Meiryo UI" panose="020B0604030504040204" pitchFamily="34" charset="-128"/>
              <a:ea typeface="Meiryo UI" panose="020B0604030504040204" pitchFamily="34" charset="-128"/>
            </a:endParaRPr>
          </a:p>
          <a:p>
            <a:pPr algn="ctr"/>
            <a:r>
              <a:rPr lang="ja-JP" altLang="en-US" sz="1200">
                <a:solidFill>
                  <a:schemeClr val="tx1"/>
                </a:solidFill>
                <a:latin typeface="Meiryo UI" panose="020B0604030504040204" pitchFamily="34" charset="-128"/>
                <a:ea typeface="Meiryo UI" panose="020B0604030504040204" pitchFamily="34" charset="-128"/>
              </a:rPr>
              <a:t>田中</a:t>
            </a:r>
            <a:endParaRPr kumimoji="1" lang="en-US" altLang="ja-JP" sz="1200" dirty="0">
              <a:solidFill>
                <a:schemeClr val="tx1"/>
              </a:solidFill>
              <a:latin typeface="Meiryo UI" panose="020B0604030504040204" pitchFamily="34" charset="-128"/>
              <a:ea typeface="Meiryo UI" panose="020B0604030504040204" pitchFamily="34" charset="-128"/>
            </a:endParaRPr>
          </a:p>
        </p:txBody>
      </p:sp>
      <p:cxnSp>
        <p:nvCxnSpPr>
          <p:cNvPr id="20" name="直線コネクタ 19">
            <a:extLst>
              <a:ext uri="{FF2B5EF4-FFF2-40B4-BE49-F238E27FC236}">
                <a16:creationId xmlns:a16="http://schemas.microsoft.com/office/drawing/2014/main" id="{7C823AF4-488F-D1B3-0254-21F12221C2C2}"/>
              </a:ext>
            </a:extLst>
          </p:cNvPr>
          <p:cNvCxnSpPr>
            <a:stCxn id="10" idx="2"/>
            <a:endCxn id="3" idx="0"/>
          </p:cNvCxnSpPr>
          <p:nvPr/>
        </p:nvCxnSpPr>
        <p:spPr>
          <a:xfrm>
            <a:off x="9781066" y="4339146"/>
            <a:ext cx="0" cy="6364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23791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sz="1200" dirty="0">
            <a:latin typeface="Meiryo UI" panose="020B0604030504040204" pitchFamily="34" charset="-128"/>
            <a:ea typeface="Meiryo UI" panose="020B0604030504040204" pitchFamily="34" charset="-128"/>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sz="1200" smtClean="0">
            <a:latin typeface="Meiryo UI" panose="020B0604030504040204" pitchFamily="34" charset="-128"/>
            <a:ea typeface="Meiryo UI" panose="020B0604030504040204" pitchFamily="34" charset="-128"/>
          </a:defRPr>
        </a:defPPr>
      </a:lstStyle>
    </a:txDef>
  </a:objectDefaults>
  <a:extraClrSchemeLst/>
  <a:extLst>
    <a:ext uri="{05A4C25C-085E-4340-85A3-A5531E510DB2}">
      <thm15:themeFamily xmlns:thm15="http://schemas.microsoft.com/office/thememl/2012/main" name="00_bluecode_2021テンプレpptx.pptx" id="{4AC11F32-13B2-F346-8483-75E65E631398}" vid="{B64C0586-CBAE-2E46-A836-FB0DA1B7282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1482</TotalTime>
  <Words>2887</Words>
  <Application>Microsoft Office PowerPoint</Application>
  <PresentationFormat>ワイド画面</PresentationFormat>
  <Paragraphs>488</Paragraphs>
  <Slides>16</Slides>
  <Notes>12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Meiryo UI</vt:lpstr>
      <vt:lpstr>游ゴシック</vt:lpstr>
      <vt:lpstr>Arial</vt:lpstr>
      <vt:lpstr>Office テーマ</vt:lpstr>
      <vt:lpstr>勤怠管理Slack 要件定義書</vt:lpstr>
      <vt:lpstr>目次</vt:lpstr>
      <vt:lpstr>システム化の目的と範囲</vt:lpstr>
      <vt:lpstr>業務要件（一覧）</vt:lpstr>
      <vt:lpstr>業務要件（フロー図）</vt:lpstr>
      <vt:lpstr>機能要件（一覧）</vt:lpstr>
      <vt:lpstr>補足：機能と配置イメージ</vt:lpstr>
      <vt:lpstr>非機能要件</vt:lpstr>
      <vt:lpstr>非機能要件：可用性</vt:lpstr>
      <vt:lpstr>非機能要件：性能</vt:lpstr>
      <vt:lpstr>非機能要件：セキュリティー</vt:lpstr>
      <vt:lpstr>非機能要件：移行性</vt:lpstr>
      <vt:lpstr>非機能要件：プロジェクト上の留意事項</vt:lpstr>
      <vt:lpstr>参考資料</vt:lpstr>
      <vt:lpstr>プロジェクト スケジュール</vt:lpstr>
      <vt:lpstr>プロジェクト 体制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ウェブサイト構築プロジェクト 要件定義書</dc:title>
  <dc:creator>小澤 慧利子</dc:creator>
  <cp:lastModifiedBy>清水 彩加</cp:lastModifiedBy>
  <cp:revision>387</cp:revision>
  <dcterms:created xsi:type="dcterms:W3CDTF">2022-06-24T04:57:59Z</dcterms:created>
  <dcterms:modified xsi:type="dcterms:W3CDTF">2026-02-16T11:11:07Z</dcterms:modified>
</cp:coreProperties>
</file>