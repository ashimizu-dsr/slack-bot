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22572663" cy="12960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DD"/>
    <a:srgbClr val="FFFFCC"/>
    <a:srgbClr val="E5FADA"/>
    <a:srgbClr val="FAFEF8"/>
    <a:srgbClr val="F9D7E2"/>
    <a:srgbClr val="FDF3ED"/>
    <a:srgbClr val="27477B"/>
    <a:srgbClr val="DCE5F4"/>
    <a:srgbClr val="C5D3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91" autoAdjust="0"/>
    <p:restoredTop sz="94660"/>
  </p:normalViewPr>
  <p:slideViewPr>
    <p:cSldViewPr snapToGrid="0">
      <p:cViewPr varScale="1">
        <p:scale>
          <a:sx n="51" d="100"/>
          <a:sy n="51" d="100"/>
        </p:scale>
        <p:origin x="116" y="1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21583" y="2121058"/>
            <a:ext cx="16929497" cy="4512122"/>
          </a:xfrm>
        </p:spPr>
        <p:txBody>
          <a:bodyPr anchor="b"/>
          <a:lstStyle>
            <a:lvl1pPr algn="ctr"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21583" y="6807185"/>
            <a:ext cx="16929497" cy="3129084"/>
          </a:xfrm>
        </p:spPr>
        <p:txBody>
          <a:bodyPr/>
          <a:lstStyle>
            <a:lvl1pPr marL="0" indent="0" algn="ctr">
              <a:buNone/>
              <a:defRPr sz="4443"/>
            </a:lvl1pPr>
            <a:lvl2pPr marL="846460" indent="0" algn="ctr">
              <a:buNone/>
              <a:defRPr sz="3703"/>
            </a:lvl2pPr>
            <a:lvl3pPr marL="1692920" indent="0" algn="ctr">
              <a:buNone/>
              <a:defRPr sz="3333"/>
            </a:lvl3pPr>
            <a:lvl4pPr marL="2539380" indent="0" algn="ctr">
              <a:buNone/>
              <a:defRPr sz="2962"/>
            </a:lvl4pPr>
            <a:lvl5pPr marL="3385840" indent="0" algn="ctr">
              <a:buNone/>
              <a:defRPr sz="2962"/>
            </a:lvl5pPr>
            <a:lvl6pPr marL="4232300" indent="0" algn="ctr">
              <a:buNone/>
              <a:defRPr sz="2962"/>
            </a:lvl6pPr>
            <a:lvl7pPr marL="5078760" indent="0" algn="ctr">
              <a:buNone/>
              <a:defRPr sz="2962"/>
            </a:lvl7pPr>
            <a:lvl8pPr marL="5925221" indent="0" algn="ctr">
              <a:buNone/>
              <a:defRPr sz="2962"/>
            </a:lvl8pPr>
            <a:lvl9pPr marL="6771681" indent="0" algn="ctr">
              <a:buNone/>
              <a:defRPr sz="2962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3082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636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0114" y="3231089"/>
            <a:ext cx="19468922" cy="5391145"/>
          </a:xfrm>
        </p:spPr>
        <p:txBody>
          <a:bodyPr anchor="b"/>
          <a:lstStyle>
            <a:lvl1pPr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40114" y="8673236"/>
            <a:ext cx="19468922" cy="2835076"/>
          </a:xfrm>
        </p:spPr>
        <p:txBody>
          <a:bodyPr/>
          <a:lstStyle>
            <a:lvl1pPr marL="0" indent="0">
              <a:buNone/>
              <a:defRPr sz="4443">
                <a:solidFill>
                  <a:schemeClr val="tx1">
                    <a:tint val="75000"/>
                  </a:schemeClr>
                </a:solidFill>
              </a:defRPr>
            </a:lvl1pPr>
            <a:lvl2pPr marL="846460" indent="0">
              <a:buNone/>
              <a:defRPr sz="3703">
                <a:solidFill>
                  <a:schemeClr val="tx1">
                    <a:tint val="75000"/>
                  </a:schemeClr>
                </a:solidFill>
              </a:defRPr>
            </a:lvl2pPr>
            <a:lvl3pPr marL="1692920" indent="0">
              <a:buNone/>
              <a:defRPr sz="3333">
                <a:solidFill>
                  <a:schemeClr val="tx1">
                    <a:tint val="75000"/>
                  </a:schemeClr>
                </a:solidFill>
              </a:defRPr>
            </a:lvl3pPr>
            <a:lvl4pPr marL="253938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4pPr>
            <a:lvl5pPr marL="338584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5pPr>
            <a:lvl6pPr marL="423230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6pPr>
            <a:lvl7pPr marL="507876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7pPr>
            <a:lvl8pPr marL="592522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8pPr>
            <a:lvl9pPr marL="677168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4559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51870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27411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6307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690019"/>
            <a:ext cx="19468922" cy="250506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811" y="3177087"/>
            <a:ext cx="9549294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54811" y="4734128"/>
            <a:ext cx="9549294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427411" y="3177087"/>
            <a:ext cx="9596322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27411" y="4734128"/>
            <a:ext cx="9596322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291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746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0949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6322" y="1866051"/>
            <a:ext cx="11427411" cy="9210249"/>
          </a:xfrm>
        </p:spPr>
        <p:txBody>
          <a:bodyPr/>
          <a:lstStyle>
            <a:lvl1pPr>
              <a:defRPr sz="5924"/>
            </a:lvl1pPr>
            <a:lvl2pPr>
              <a:defRPr sz="5184"/>
            </a:lvl2pPr>
            <a:lvl3pPr>
              <a:defRPr sz="4443"/>
            </a:lvl3pPr>
            <a:lvl4pPr>
              <a:defRPr sz="3703"/>
            </a:lvl4pPr>
            <a:lvl5pPr>
              <a:defRPr sz="3703"/>
            </a:lvl5pPr>
            <a:lvl6pPr>
              <a:defRPr sz="3703"/>
            </a:lvl6pPr>
            <a:lvl7pPr>
              <a:defRPr sz="3703"/>
            </a:lvl7pPr>
            <a:lvl8pPr>
              <a:defRPr sz="3703"/>
            </a:lvl8pPr>
            <a:lvl9pPr>
              <a:defRPr sz="370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283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596322" y="1866051"/>
            <a:ext cx="11427411" cy="9210249"/>
          </a:xfrm>
        </p:spPr>
        <p:txBody>
          <a:bodyPr anchor="t"/>
          <a:lstStyle>
            <a:lvl1pPr marL="0" indent="0">
              <a:buNone/>
              <a:defRPr sz="5924"/>
            </a:lvl1pPr>
            <a:lvl2pPr marL="846460" indent="0">
              <a:buNone/>
              <a:defRPr sz="5184"/>
            </a:lvl2pPr>
            <a:lvl3pPr marL="1692920" indent="0">
              <a:buNone/>
              <a:defRPr sz="4443"/>
            </a:lvl3pPr>
            <a:lvl4pPr marL="2539380" indent="0">
              <a:buNone/>
              <a:defRPr sz="3703"/>
            </a:lvl4pPr>
            <a:lvl5pPr marL="3385840" indent="0">
              <a:buNone/>
              <a:defRPr sz="3703"/>
            </a:lvl5pPr>
            <a:lvl6pPr marL="4232300" indent="0">
              <a:buNone/>
              <a:defRPr sz="3703"/>
            </a:lvl6pPr>
            <a:lvl7pPr marL="5078760" indent="0">
              <a:buNone/>
              <a:defRPr sz="3703"/>
            </a:lvl7pPr>
            <a:lvl8pPr marL="5925221" indent="0">
              <a:buNone/>
              <a:defRPr sz="3703"/>
            </a:lvl8pPr>
            <a:lvl9pPr marL="6771681" indent="0">
              <a:buNone/>
              <a:defRPr sz="370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4074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7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153562" y="690018"/>
            <a:ext cx="4867230" cy="109832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51871" y="690018"/>
            <a:ext cx="14319533" cy="109832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9908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1871" y="690019"/>
            <a:ext cx="19468922" cy="25050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1871" y="3450093"/>
            <a:ext cx="19468922" cy="8223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51871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77195" y="12012325"/>
            <a:ext cx="7618274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941943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4113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92920" rtl="0" eaLnBrk="1" latinLnBrk="0" hangingPunct="1">
        <a:lnSpc>
          <a:spcPct val="90000"/>
        </a:lnSpc>
        <a:spcBef>
          <a:spcPct val="0"/>
        </a:spcBef>
        <a:buNone/>
        <a:defRPr kumimoji="1" sz="81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3230" indent="-423230" algn="l" defTabSz="1692920" rtl="0" eaLnBrk="1" latinLnBrk="0" hangingPunct="1">
        <a:lnSpc>
          <a:spcPct val="90000"/>
        </a:lnSpc>
        <a:spcBef>
          <a:spcPts val="1851"/>
        </a:spcBef>
        <a:buFont typeface="Arial" panose="020B0604020202020204" pitchFamily="34" charset="0"/>
        <a:buChar char="•"/>
        <a:defRPr kumimoji="1" sz="5184" kern="1200">
          <a:solidFill>
            <a:schemeClr val="tx1"/>
          </a:solidFill>
          <a:latin typeface="+mn-lt"/>
          <a:ea typeface="+mn-ea"/>
          <a:cs typeface="+mn-cs"/>
        </a:defRPr>
      </a:lvl1pPr>
      <a:lvl2pPr marL="126969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4443" kern="1200">
          <a:solidFill>
            <a:schemeClr val="tx1"/>
          </a:solidFill>
          <a:latin typeface="+mn-lt"/>
          <a:ea typeface="+mn-ea"/>
          <a:cs typeface="+mn-cs"/>
        </a:defRPr>
      </a:lvl2pPr>
      <a:lvl3pPr marL="211615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703" kern="1200">
          <a:solidFill>
            <a:schemeClr val="tx1"/>
          </a:solidFill>
          <a:latin typeface="+mn-lt"/>
          <a:ea typeface="+mn-ea"/>
          <a:cs typeface="+mn-cs"/>
        </a:defRPr>
      </a:lvl3pPr>
      <a:lvl4pPr marL="296261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80907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65553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50199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634845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719491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1pPr>
      <a:lvl2pPr marL="8464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2pPr>
      <a:lvl3pPr marL="169292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53938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38584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23230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0787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592522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677168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グループ化 1047">
            <a:extLst>
              <a:ext uri="{FF2B5EF4-FFF2-40B4-BE49-F238E27FC236}">
                <a16:creationId xmlns:a16="http://schemas.microsoft.com/office/drawing/2014/main" id="{7027217A-B3C2-48F1-A79C-043CF3C84295}"/>
              </a:ext>
            </a:extLst>
          </p:cNvPr>
          <p:cNvGrpSpPr/>
          <p:nvPr/>
        </p:nvGrpSpPr>
        <p:grpSpPr>
          <a:xfrm>
            <a:off x="1403296" y="479885"/>
            <a:ext cx="19766070" cy="12000579"/>
            <a:chOff x="1002082" y="274172"/>
            <a:chExt cx="19766070" cy="12000579"/>
          </a:xfrm>
        </p:grpSpPr>
        <p:grpSp>
          <p:nvGrpSpPr>
            <p:cNvPr id="1033" name="グループ化 1032">
              <a:extLst>
                <a:ext uri="{FF2B5EF4-FFF2-40B4-BE49-F238E27FC236}">
                  <a16:creationId xmlns:a16="http://schemas.microsoft.com/office/drawing/2014/main" id="{DBF999E4-0C85-4CAC-A45B-74627799D47B}"/>
                </a:ext>
              </a:extLst>
            </p:cNvPr>
            <p:cNvGrpSpPr/>
            <p:nvPr/>
          </p:nvGrpSpPr>
          <p:grpSpPr>
            <a:xfrm>
              <a:off x="4643665" y="5643473"/>
              <a:ext cx="2284238" cy="1362596"/>
              <a:chOff x="6030683" y="4587744"/>
              <a:chExt cx="2284238" cy="1362596"/>
            </a:xfrm>
          </p:grpSpPr>
          <p:sp>
            <p:nvSpPr>
              <p:cNvPr id="85" name="正方形/長方形 84">
                <a:extLst>
                  <a:ext uri="{FF2B5EF4-FFF2-40B4-BE49-F238E27FC236}">
                    <a16:creationId xmlns:a16="http://schemas.microsoft.com/office/drawing/2014/main" id="{1C849B83-4921-4225-8549-1B42F62319BF}"/>
                  </a:ext>
                </a:extLst>
              </p:cNvPr>
              <p:cNvSpPr/>
              <p:nvPr/>
            </p:nvSpPr>
            <p:spPr>
              <a:xfrm>
                <a:off x="6030683" y="4587744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<a:extLst>
                  <a:ext uri="{FF2B5EF4-FFF2-40B4-BE49-F238E27FC236}">
                    <a16:creationId xmlns:a16="http://schemas.microsoft.com/office/drawing/2014/main" id="{F5457915-13CB-4366-8D5E-AED8CCEC5C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213" t="-4693" r="73510" b="29075"/>
              <a:stretch/>
            </p:blipFill>
            <p:spPr bwMode="auto">
              <a:xfrm>
                <a:off x="6185204" y="4725556"/>
                <a:ext cx="1063406" cy="10378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AD1B9559-D7F5-424A-923F-8F829A6174FC}"/>
                  </a:ext>
                </a:extLst>
              </p:cNvPr>
              <p:cNvSpPr txBox="1"/>
              <p:nvPr/>
            </p:nvSpPr>
            <p:spPr>
              <a:xfrm>
                <a:off x="7373232" y="5121536"/>
                <a:ext cx="782320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Slack</a:t>
                </a:r>
              </a:p>
            </p:txBody>
          </p:sp>
        </p:grp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86B1C22E-AF8A-4D94-9FF0-896E5D234084}"/>
                </a:ext>
              </a:extLst>
            </p:cNvPr>
            <p:cNvSpPr/>
            <p:nvPr/>
          </p:nvSpPr>
          <p:spPr>
            <a:xfrm>
              <a:off x="11286331" y="4767322"/>
              <a:ext cx="9232818" cy="2871730"/>
            </a:xfrm>
            <a:prstGeom prst="rect">
              <a:avLst/>
            </a:prstGeom>
            <a:solidFill>
              <a:srgbClr val="DCE5F4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Region (asia-northeast1 / </a:t>
              </a:r>
              <a:r>
                <a: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東京</a:t>
              </a:r>
              <a:r>
                <a:rPr kumimoji="1" lang="en-US" altLang="ja-JP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)</a:t>
              </a:r>
              <a:endParaRPr kumimoji="1" lang="ja-JP" altLang="en-US" dirty="0">
                <a:solidFill>
                  <a:schemeClr val="bg1"/>
                </a:solidFill>
                <a:highlight>
                  <a:srgbClr val="27477B"/>
                </a:highlight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1027" name="正方形/長方形 1026">
              <a:extLst>
                <a:ext uri="{FF2B5EF4-FFF2-40B4-BE49-F238E27FC236}">
                  <a16:creationId xmlns:a16="http://schemas.microsoft.com/office/drawing/2014/main" id="{0C1D5D69-975F-419D-8A54-490A7585736C}"/>
                </a:ext>
              </a:extLst>
            </p:cNvPr>
            <p:cNvSpPr/>
            <p:nvPr/>
          </p:nvSpPr>
          <p:spPr>
            <a:xfrm>
              <a:off x="1002082" y="1308894"/>
              <a:ext cx="15445476" cy="254056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/>
            </a:p>
          </p:txBody>
        </p:sp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E1B4269C-8FD0-42DF-B04E-040FEE7496FF}"/>
                </a:ext>
              </a:extLst>
            </p:cNvPr>
            <p:cNvGrpSpPr/>
            <p:nvPr/>
          </p:nvGrpSpPr>
          <p:grpSpPr>
            <a:xfrm>
              <a:off x="9003261" y="1545460"/>
              <a:ext cx="2284238" cy="1362596"/>
              <a:chOff x="7811676" y="207325"/>
              <a:chExt cx="2284238" cy="1362596"/>
            </a:xfrm>
          </p:grpSpPr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08787F34-3549-4018-86CE-BB432F55D0FF}"/>
                  </a:ext>
                </a:extLst>
              </p:cNvPr>
              <p:cNvSpPr/>
              <p:nvPr/>
            </p:nvSpPr>
            <p:spPr>
              <a:xfrm>
                <a:off x="7811676" y="207325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1959D133-E280-4CCE-870B-37FAE2261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07515" y="334809"/>
                <a:ext cx="1063412" cy="1063412"/>
              </a:xfrm>
              <a:prstGeom prst="rect">
                <a:avLst/>
              </a:prstGeom>
            </p:spPr>
          </p:pic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63F66351-F35A-4A75-A893-7975F9B7186A}"/>
                  </a:ext>
                </a:extLst>
              </p:cNvPr>
              <p:cNvSpPr txBox="1"/>
              <p:nvPr/>
            </p:nvSpPr>
            <p:spPr>
              <a:xfrm>
                <a:off x="9038425" y="565457"/>
                <a:ext cx="97246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Cloud</a:t>
                </a:r>
              </a:p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Build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5D3248F9-69C6-406F-B1D6-1D2998BE0DE2}"/>
                </a:ext>
              </a:extLst>
            </p:cNvPr>
            <p:cNvGrpSpPr/>
            <p:nvPr/>
          </p:nvGrpSpPr>
          <p:grpSpPr>
            <a:xfrm>
              <a:off x="13494928" y="1553778"/>
              <a:ext cx="2284238" cy="1446177"/>
              <a:chOff x="9255485" y="5637245"/>
              <a:chExt cx="2284238" cy="1446177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D8F20FCF-5DA1-497F-8473-A275BB8E8237}"/>
                  </a:ext>
                </a:extLst>
              </p:cNvPr>
              <p:cNvSpPr/>
              <p:nvPr/>
            </p:nvSpPr>
            <p:spPr>
              <a:xfrm>
                <a:off x="9255485" y="5637245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030308D-2499-48A0-AC1D-6AA3812853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21439" y="5790929"/>
                <a:ext cx="1063412" cy="1063412"/>
              </a:xfrm>
              <a:prstGeom prst="rect">
                <a:avLst/>
              </a:prstGeom>
            </p:spPr>
          </p:pic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726CD11-1D52-47B1-921C-526833A22A88}"/>
                  </a:ext>
                </a:extLst>
              </p:cNvPr>
              <p:cNvSpPr txBox="1"/>
              <p:nvPr/>
            </p:nvSpPr>
            <p:spPr>
              <a:xfrm>
                <a:off x="10504730" y="5999471"/>
                <a:ext cx="1034993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Artifact Registry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8C4F84A3-D11D-49FA-B769-38E412A50325}"/>
                </a:ext>
              </a:extLst>
            </p:cNvPr>
            <p:cNvSpPr txBox="1"/>
            <p:nvPr/>
          </p:nvSpPr>
          <p:spPr>
            <a:xfrm>
              <a:off x="13362057" y="2954281"/>
              <a:ext cx="2724474" cy="753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rPr>
                <a:t>ビルド済コンテナイメージの保存・管理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HGPｺﾞｼｯｸM" panose="020B0600000000000000" pitchFamily="50" charset="-128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45B930A2-4E43-4B13-93B6-2BBB27B0FFED}"/>
                </a:ext>
              </a:extLst>
            </p:cNvPr>
            <p:cNvCxnSpPr>
              <a:cxnSpLocks/>
            </p:cNvCxnSpPr>
            <p:nvPr/>
          </p:nvCxnSpPr>
          <p:spPr>
            <a:xfrm>
              <a:off x="16072139" y="7099006"/>
              <a:ext cx="2353946" cy="23539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" name="グループ化 54">
              <a:extLst>
                <a:ext uri="{FF2B5EF4-FFF2-40B4-BE49-F238E27FC236}">
                  <a16:creationId xmlns:a16="http://schemas.microsoft.com/office/drawing/2014/main" id="{548E97A1-62C3-46C2-89AB-812A999DB698}"/>
                </a:ext>
              </a:extLst>
            </p:cNvPr>
            <p:cNvGrpSpPr/>
            <p:nvPr/>
          </p:nvGrpSpPr>
          <p:grpSpPr>
            <a:xfrm>
              <a:off x="14709535" y="3677847"/>
              <a:ext cx="1079757" cy="1781387"/>
              <a:chOff x="12863008" y="2405271"/>
              <a:chExt cx="1079757" cy="1781387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8294E087-3790-4228-BD6E-23B673B2C5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972314" y="329596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96439FE2-B64F-4B4A-AEB4-72A9195079F1}"/>
                  </a:ext>
                </a:extLst>
              </p:cNvPr>
              <p:cNvSpPr txBox="1"/>
              <p:nvPr/>
            </p:nvSpPr>
            <p:spPr>
              <a:xfrm>
                <a:off x="12879353" y="2881532"/>
                <a:ext cx="1063412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デプロイ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5" name="グループ化 1024">
              <a:extLst>
                <a:ext uri="{FF2B5EF4-FFF2-40B4-BE49-F238E27FC236}">
                  <a16:creationId xmlns:a16="http://schemas.microsoft.com/office/drawing/2014/main" id="{0BF7BAA2-F8E9-4D8D-8126-C3AE55C13BAD}"/>
                </a:ext>
              </a:extLst>
            </p:cNvPr>
            <p:cNvGrpSpPr/>
            <p:nvPr/>
          </p:nvGrpSpPr>
          <p:grpSpPr>
            <a:xfrm>
              <a:off x="13494928" y="5520533"/>
              <a:ext cx="2403938" cy="1612961"/>
              <a:chOff x="11694703" y="4440238"/>
              <a:chExt cx="2403938" cy="1612961"/>
            </a:xfrm>
          </p:grpSpPr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72A3CAE9-B75B-4C64-B854-3B12CEB3EF7F}"/>
                  </a:ext>
                </a:extLst>
              </p:cNvPr>
              <p:cNvSpPr/>
              <p:nvPr/>
            </p:nvSpPr>
            <p:spPr>
              <a:xfrm>
                <a:off x="11814403" y="4440238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F45C3853-42BE-4FDB-A1F5-FACA32B84C74}"/>
                  </a:ext>
                </a:extLst>
              </p:cNvPr>
              <p:cNvSpPr/>
              <p:nvPr/>
            </p:nvSpPr>
            <p:spPr>
              <a:xfrm>
                <a:off x="11694703" y="4563179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65783604-5095-424A-963C-65E92B5446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799692" y="4716863"/>
                <a:ext cx="1063406" cy="1063406"/>
              </a:xfrm>
              <a:prstGeom prst="rect">
                <a:avLst/>
              </a:prstGeom>
            </p:spPr>
          </p:pic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EE703A7-E1B1-4B5A-9293-6C51349F80EC}"/>
                  </a:ext>
                </a:extLst>
              </p:cNvPr>
              <p:cNvSpPr txBox="1"/>
              <p:nvPr/>
            </p:nvSpPr>
            <p:spPr>
              <a:xfrm>
                <a:off x="12985023" y="4969248"/>
                <a:ext cx="877147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Cloud</a:t>
                </a:r>
              </a:p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Run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FF08C1FB-9CFE-4418-AE7F-769A2F112943}"/>
                </a:ext>
              </a:extLst>
            </p:cNvPr>
            <p:cNvGrpSpPr/>
            <p:nvPr/>
          </p:nvGrpSpPr>
          <p:grpSpPr>
            <a:xfrm>
              <a:off x="3864574" y="1553777"/>
              <a:ext cx="2380077" cy="1362596"/>
              <a:chOff x="3511017" y="235859"/>
              <a:chExt cx="2380077" cy="1362596"/>
            </a:xfrm>
          </p:grpSpPr>
          <p:sp>
            <p:nvSpPr>
              <p:cNvPr id="40" name="正方形/長方形 39">
                <a:extLst>
                  <a:ext uri="{FF2B5EF4-FFF2-40B4-BE49-F238E27FC236}">
                    <a16:creationId xmlns:a16="http://schemas.microsoft.com/office/drawing/2014/main" id="{61586DDC-FCBF-4DA7-97DD-EAF06BD5AF76}"/>
                  </a:ext>
                </a:extLst>
              </p:cNvPr>
              <p:cNvSpPr/>
              <p:nvPr/>
            </p:nvSpPr>
            <p:spPr>
              <a:xfrm>
                <a:off x="3511017" y="235859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054A0BBD-6CF2-4932-8E89-39A30AF896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18743" y="431558"/>
                <a:ext cx="974451" cy="954564"/>
              </a:xfrm>
              <a:prstGeom prst="rect">
                <a:avLst/>
              </a:prstGeom>
            </p:spPr>
          </p:pic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1AF63369-5588-4258-81BC-26B4F80DF332}"/>
                  </a:ext>
                </a:extLst>
              </p:cNvPr>
              <p:cNvSpPr txBox="1"/>
              <p:nvPr/>
            </p:nvSpPr>
            <p:spPr>
              <a:xfrm>
                <a:off x="4785356" y="762363"/>
                <a:ext cx="1105738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GitHub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DD55D376-C6D2-4CB6-BBC4-17B22D114671}"/>
                </a:ext>
              </a:extLst>
            </p:cNvPr>
            <p:cNvGrpSpPr/>
            <p:nvPr/>
          </p:nvGrpSpPr>
          <p:grpSpPr>
            <a:xfrm>
              <a:off x="6368929" y="2173457"/>
              <a:ext cx="2473641" cy="768057"/>
              <a:chOff x="5198840" y="870289"/>
              <a:chExt cx="2473641" cy="768057"/>
            </a:xfrm>
          </p:grpSpPr>
          <p:cxnSp>
            <p:nvCxnSpPr>
              <p:cNvPr id="24" name="直線矢印コネクタ 23">
                <a:extLst>
                  <a:ext uri="{FF2B5EF4-FFF2-40B4-BE49-F238E27FC236}">
                    <a16:creationId xmlns:a16="http://schemas.microsoft.com/office/drawing/2014/main" id="{C99783A5-70AD-4A13-97BA-1CC807C6E5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8840" y="870289"/>
                <a:ext cx="2473641" cy="0"/>
              </a:xfrm>
              <a:prstGeom prst="straightConnector1">
                <a:avLst/>
              </a:prstGeom>
              <a:ln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773E2AC-7C5A-4230-AD0A-A4044C0EB088}"/>
                  </a:ext>
                </a:extLst>
              </p:cNvPr>
              <p:cNvSpPr txBox="1"/>
              <p:nvPr/>
            </p:nvSpPr>
            <p:spPr>
              <a:xfrm>
                <a:off x="5369845" y="884935"/>
                <a:ext cx="1669625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変更を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検知・監視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0A8EDBAD-1306-4C3E-A67C-8A42A1E05BA1}"/>
                </a:ext>
              </a:extLst>
            </p:cNvPr>
            <p:cNvGrpSpPr/>
            <p:nvPr/>
          </p:nvGrpSpPr>
          <p:grpSpPr>
            <a:xfrm>
              <a:off x="2405653" y="2198426"/>
              <a:ext cx="1187766" cy="805032"/>
              <a:chOff x="1296782" y="886939"/>
              <a:chExt cx="1187766" cy="805032"/>
            </a:xfrm>
          </p:grpSpPr>
          <p:cxnSp>
            <p:nvCxnSpPr>
              <p:cNvPr id="26" name="直線矢印コネクタ 25">
                <a:extLst>
                  <a:ext uri="{FF2B5EF4-FFF2-40B4-BE49-F238E27FC236}">
                    <a16:creationId xmlns:a16="http://schemas.microsoft.com/office/drawing/2014/main" id="{F15314EF-5B6D-4A35-A5DE-1F77DEEAE8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6782" y="886939"/>
                <a:ext cx="117419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4CC4C144-4C33-41BA-8B2B-CD406552EA1A}"/>
                  </a:ext>
                </a:extLst>
              </p:cNvPr>
              <p:cNvSpPr txBox="1"/>
              <p:nvPr/>
            </p:nvSpPr>
            <p:spPr>
              <a:xfrm>
                <a:off x="1296782" y="938560"/>
                <a:ext cx="1187766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ソースの更新</a:t>
                </a:r>
              </a:p>
            </p:txBody>
          </p:sp>
        </p:grp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E9C0712E-BE93-4375-8345-72CCDFF3D171}"/>
                </a:ext>
              </a:extLst>
            </p:cNvPr>
            <p:cNvGrpSpPr/>
            <p:nvPr/>
          </p:nvGrpSpPr>
          <p:grpSpPr>
            <a:xfrm>
              <a:off x="17966828" y="1553777"/>
              <a:ext cx="2284238" cy="1457338"/>
              <a:chOff x="4373241" y="8848876"/>
              <a:chExt cx="2284238" cy="1457338"/>
            </a:xfrm>
          </p:grpSpPr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E461E8AD-8C3A-4B25-9D4C-CED71EB13644}"/>
                  </a:ext>
                </a:extLst>
              </p:cNvPr>
              <p:cNvSpPr/>
              <p:nvPr/>
            </p:nvSpPr>
            <p:spPr>
              <a:xfrm>
                <a:off x="4373241" y="8848876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BB54CDFE-7E87-4E14-8CE6-C106011630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5344" y="8998469"/>
                <a:ext cx="1063413" cy="1063413"/>
              </a:xfrm>
              <a:prstGeom prst="rect">
                <a:avLst/>
              </a:prstGeom>
            </p:spPr>
          </p:pic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F876EF95-AC6B-4D85-943E-27CC01D5AD64}"/>
                  </a:ext>
                </a:extLst>
              </p:cNvPr>
              <p:cNvSpPr txBox="1"/>
              <p:nvPr/>
            </p:nvSpPr>
            <p:spPr>
              <a:xfrm>
                <a:off x="5386104" y="9222263"/>
                <a:ext cx="1271375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Cloud</a:t>
                </a:r>
              </a:p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Scheduler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046EF8E9-D397-4A94-9278-7B47188F1665}"/>
                </a:ext>
              </a:extLst>
            </p:cNvPr>
            <p:cNvSpPr txBox="1"/>
            <p:nvPr/>
          </p:nvSpPr>
          <p:spPr>
            <a:xfrm>
              <a:off x="16774454" y="3940194"/>
              <a:ext cx="33032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定期レポート作成要求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HTTP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リクエスト </a:t>
              </a:r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(/job/report)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948CEA27-7A2A-4295-B762-D8762413E1E8}"/>
                </a:ext>
              </a:extLst>
            </p:cNvPr>
            <p:cNvSpPr txBox="1"/>
            <p:nvPr/>
          </p:nvSpPr>
          <p:spPr>
            <a:xfrm>
              <a:off x="18052758" y="3007749"/>
              <a:ext cx="2091010" cy="1083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平日朝</a:t>
              </a:r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9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時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定期実行のトリガー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40A116C2-6FF4-4802-B945-F11986C64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3053" y="6409876"/>
              <a:ext cx="60693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2ECA31D7-6BFF-4967-A9F2-1F9387868DD4}"/>
                </a:ext>
              </a:extLst>
            </p:cNvPr>
            <p:cNvGrpSpPr/>
            <p:nvPr/>
          </p:nvGrpSpPr>
          <p:grpSpPr>
            <a:xfrm>
              <a:off x="18016311" y="5643473"/>
              <a:ext cx="2284238" cy="1362596"/>
              <a:chOff x="4281498" y="3110451"/>
              <a:chExt cx="2284238" cy="1362596"/>
            </a:xfrm>
          </p:grpSpPr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0914569E-84DB-4FFB-B24B-A1DA4A16E7A7}"/>
                  </a:ext>
                </a:extLst>
              </p:cNvPr>
              <p:cNvSpPr/>
              <p:nvPr/>
            </p:nvSpPr>
            <p:spPr>
              <a:xfrm>
                <a:off x="4281498" y="3110451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716DF112-D1DE-41E2-8A20-EBD73903BE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360210" y="3262977"/>
                <a:ext cx="1063407" cy="1063407"/>
              </a:xfrm>
              <a:prstGeom prst="rect">
                <a:avLst/>
              </a:prstGeom>
            </p:spPr>
          </p:pic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A3F9CDD8-F507-4EDA-BC67-809A483AF78E}"/>
                  </a:ext>
                </a:extLst>
              </p:cNvPr>
              <p:cNvSpPr txBox="1"/>
              <p:nvPr/>
            </p:nvSpPr>
            <p:spPr>
              <a:xfrm>
                <a:off x="5390196" y="3631648"/>
                <a:ext cx="1149105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err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Firestore</a:t>
                </a:r>
                <a:endPara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6F48539C-F392-449C-90DB-1EF5776A0C1C}"/>
                </a:ext>
              </a:extLst>
            </p:cNvPr>
            <p:cNvGrpSpPr/>
            <p:nvPr/>
          </p:nvGrpSpPr>
          <p:grpSpPr>
            <a:xfrm>
              <a:off x="1242033" y="1625256"/>
              <a:ext cx="1063412" cy="1382565"/>
              <a:chOff x="233370" y="313770"/>
              <a:chExt cx="1063412" cy="1382565"/>
            </a:xfrm>
          </p:grpSpPr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0678379E-C4E5-45E4-A7E6-AED440CA5FD7}"/>
                  </a:ext>
                </a:extLst>
              </p:cNvPr>
              <p:cNvSpPr txBox="1"/>
              <p:nvPr/>
            </p:nvSpPr>
            <p:spPr>
              <a:xfrm>
                <a:off x="233370" y="1273462"/>
                <a:ext cx="1063412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開発者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pic>
            <p:nvPicPr>
              <p:cNvPr id="39" name="グラフィックス 38" descr="プログラマー">
                <a:extLst>
                  <a:ext uri="{FF2B5EF4-FFF2-40B4-BE49-F238E27FC236}">
                    <a16:creationId xmlns:a16="http://schemas.microsoft.com/office/drawing/2014/main" id="{3DF5B81D-C131-41A1-B6D9-8713C2AD61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07876" y="31377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95C797B6-2257-4F4A-B31A-39F44D5A2B17}"/>
                </a:ext>
              </a:extLst>
            </p:cNvPr>
            <p:cNvGrpSpPr/>
            <p:nvPr/>
          </p:nvGrpSpPr>
          <p:grpSpPr>
            <a:xfrm>
              <a:off x="11448192" y="2173457"/>
              <a:ext cx="1918596" cy="806712"/>
              <a:chOff x="9670071" y="900883"/>
              <a:chExt cx="1918596" cy="806712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B76330FE-F952-4BC3-B517-1C37095869D6}"/>
                  </a:ext>
                </a:extLst>
              </p:cNvPr>
              <p:cNvSpPr txBox="1"/>
              <p:nvPr/>
            </p:nvSpPr>
            <p:spPr>
              <a:xfrm>
                <a:off x="9670071" y="954184"/>
                <a:ext cx="1918596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コンテナイメージの作成</a:t>
                </a:r>
              </a:p>
            </p:txBody>
          </p:sp>
          <p:cxnSp>
            <p:nvCxnSpPr>
              <p:cNvPr id="54" name="直線矢印コネクタ 53">
                <a:extLst>
                  <a:ext uri="{FF2B5EF4-FFF2-40B4-BE49-F238E27FC236}">
                    <a16:creationId xmlns:a16="http://schemas.microsoft.com/office/drawing/2014/main" id="{0318F9C2-27BE-4335-9398-41ACED8F86A8}"/>
                  </a:ext>
                </a:extLst>
              </p:cNvPr>
              <p:cNvCxnSpPr/>
              <p:nvPr/>
            </p:nvCxnSpPr>
            <p:spPr>
              <a:xfrm>
                <a:off x="9706088" y="900883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2992BD25-8410-4A20-A004-C5FF7C74CE2E}"/>
                </a:ext>
              </a:extLst>
            </p:cNvPr>
            <p:cNvCxnSpPr>
              <a:cxnSpLocks/>
            </p:cNvCxnSpPr>
            <p:nvPr/>
          </p:nvCxnSpPr>
          <p:spPr>
            <a:xfrm>
              <a:off x="7234073" y="6164670"/>
              <a:ext cx="60483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C69C5203-FE2D-4D9B-A31F-4A209FC090EF}"/>
                </a:ext>
              </a:extLst>
            </p:cNvPr>
            <p:cNvCxnSpPr/>
            <p:nvPr/>
          </p:nvCxnSpPr>
          <p:spPr>
            <a:xfrm>
              <a:off x="16085758" y="6239412"/>
              <a:ext cx="17813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テキスト ボックス 66">
              <a:extLst>
                <a:ext uri="{FF2B5EF4-FFF2-40B4-BE49-F238E27FC236}">
                  <a16:creationId xmlns:a16="http://schemas.microsoft.com/office/drawing/2014/main" id="{FD838DEF-9012-493F-87B9-FC0E39BE8D10}"/>
                </a:ext>
              </a:extLst>
            </p:cNvPr>
            <p:cNvSpPr txBox="1"/>
            <p:nvPr/>
          </p:nvSpPr>
          <p:spPr>
            <a:xfrm>
              <a:off x="16004013" y="6286407"/>
              <a:ext cx="2091010" cy="753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データ保存・参照・削除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1ED87144-9A0F-44FC-B9A0-9CCFA9EA2F7B}"/>
                </a:ext>
              </a:extLst>
            </p:cNvPr>
            <p:cNvSpPr txBox="1"/>
            <p:nvPr/>
          </p:nvSpPr>
          <p:spPr>
            <a:xfrm>
              <a:off x="3644455" y="3013584"/>
              <a:ext cx="2724474" cy="753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rPr>
                <a:t>ソースコード管理システム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HGPｺﾞｼｯｸM" panose="020B0600000000000000" pitchFamily="50" charset="-128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71" name="テキスト ボックス 70">
              <a:extLst>
                <a:ext uri="{FF2B5EF4-FFF2-40B4-BE49-F238E27FC236}">
                  <a16:creationId xmlns:a16="http://schemas.microsoft.com/office/drawing/2014/main" id="{6FBDEE2D-46DE-475F-8A1C-CA87929B0C78}"/>
                </a:ext>
              </a:extLst>
            </p:cNvPr>
            <p:cNvSpPr txBox="1"/>
            <p:nvPr/>
          </p:nvSpPr>
          <p:spPr>
            <a:xfrm>
              <a:off x="8842569" y="3033670"/>
              <a:ext cx="2724474" cy="4228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rPr>
                <a:t>CI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rPr>
                <a:t>・ビルドサーバ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HGPｺﾞｼｯｸM" panose="020B0600000000000000" pitchFamily="50" charset="-128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grpSp>
          <p:nvGrpSpPr>
            <p:cNvPr id="1031" name="グループ化 1030">
              <a:extLst>
                <a:ext uri="{FF2B5EF4-FFF2-40B4-BE49-F238E27FC236}">
                  <a16:creationId xmlns:a16="http://schemas.microsoft.com/office/drawing/2014/main" id="{83CAE3D4-6EAE-4034-AF09-0461EC8BE192}"/>
                </a:ext>
              </a:extLst>
            </p:cNvPr>
            <p:cNvGrpSpPr/>
            <p:nvPr/>
          </p:nvGrpSpPr>
          <p:grpSpPr>
            <a:xfrm>
              <a:off x="18033212" y="9678611"/>
              <a:ext cx="2284238" cy="1449959"/>
              <a:chOff x="3528931" y="4081933"/>
              <a:chExt cx="2284238" cy="1449959"/>
            </a:xfrm>
          </p:grpSpPr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E3083198-E6DC-48BF-A38F-7C97DD3EFFEA}"/>
                  </a:ext>
                </a:extLst>
              </p:cNvPr>
              <p:cNvSpPr/>
              <p:nvPr/>
            </p:nvSpPr>
            <p:spPr>
              <a:xfrm>
                <a:off x="3528931" y="4081933"/>
                <a:ext cx="2284238" cy="1362596"/>
              </a:xfrm>
              <a:prstGeom prst="rect">
                <a:avLst/>
              </a:prstGeom>
              <a:solidFill>
                <a:srgbClr val="FDF3ED"/>
              </a:solidFill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 dirty="0"/>
              </a:p>
            </p:txBody>
          </p:sp>
          <p:pic>
            <p:nvPicPr>
              <p:cNvPr id="1029" name="図 1028">
                <a:extLst>
                  <a:ext uri="{FF2B5EF4-FFF2-40B4-BE49-F238E27FC236}">
                    <a16:creationId xmlns:a16="http://schemas.microsoft.com/office/drawing/2014/main" id="{6F4FE586-AC1C-4B93-8658-C1432536C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79941" y="4161490"/>
                <a:ext cx="1239954" cy="1239954"/>
              </a:xfrm>
              <a:prstGeom prst="rect">
                <a:avLst/>
              </a:prstGeom>
            </p:spPr>
          </p:pic>
          <p:sp>
            <p:nvSpPr>
              <p:cNvPr id="76" name="テキスト ボックス 75">
                <a:extLst>
                  <a:ext uri="{FF2B5EF4-FFF2-40B4-BE49-F238E27FC236}">
                    <a16:creationId xmlns:a16="http://schemas.microsoft.com/office/drawing/2014/main" id="{355D6551-0702-4808-90C0-563049C9355D}"/>
                  </a:ext>
                </a:extLst>
              </p:cNvPr>
              <p:cNvSpPr txBox="1"/>
              <p:nvPr/>
            </p:nvSpPr>
            <p:spPr>
              <a:xfrm>
                <a:off x="4819895" y="4447941"/>
                <a:ext cx="98939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GPT-4o mini</a:t>
                </a:r>
              </a:p>
            </p:txBody>
          </p:sp>
        </p:grp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4764639D-9E47-494B-9936-A1FE7C97C267}"/>
                </a:ext>
              </a:extLst>
            </p:cNvPr>
            <p:cNvSpPr txBox="1"/>
            <p:nvPr/>
          </p:nvSpPr>
          <p:spPr>
            <a:xfrm>
              <a:off x="17462923" y="8295411"/>
              <a:ext cx="2482551" cy="753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メッセージ解析要求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HTTPS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リクエスト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2478A3D-07F1-46AC-9BF2-9FFD548921A8}"/>
                </a:ext>
              </a:extLst>
            </p:cNvPr>
            <p:cNvSpPr txBox="1"/>
            <p:nvPr/>
          </p:nvSpPr>
          <p:spPr>
            <a:xfrm>
              <a:off x="15715731" y="8525155"/>
              <a:ext cx="1497835" cy="753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抽出データ（</a:t>
              </a:r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JSON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）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8A84CBC2-8D3F-4D59-B6EC-CC2E695DFA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53320" y="7280225"/>
              <a:ext cx="2179892" cy="217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384E30E2-601F-4FF3-834B-5BEFEEA81709}"/>
                </a:ext>
              </a:extLst>
            </p:cNvPr>
            <p:cNvSpPr txBox="1"/>
            <p:nvPr/>
          </p:nvSpPr>
          <p:spPr>
            <a:xfrm>
              <a:off x="17941920" y="11190800"/>
              <a:ext cx="2594130" cy="1083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チャンネル投稿内容から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  <a:p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勤怠情報を抽出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67682AA9-3496-47FC-9D3A-D8A2BC23098D}"/>
                </a:ext>
              </a:extLst>
            </p:cNvPr>
            <p:cNvSpPr txBox="1"/>
            <p:nvPr/>
          </p:nvSpPr>
          <p:spPr>
            <a:xfrm>
              <a:off x="8127548" y="5503694"/>
              <a:ext cx="32279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モーダル表示・勤怠連絡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HTTP</a:t>
              </a:r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リクエスト</a:t>
              </a:r>
              <a:r>
                <a: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 (/slack/events)</a:t>
              </a:r>
            </a:p>
          </p:txBody>
        </p: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AF30B177-FD53-49EB-9BBC-8C8DCD000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98866" y="3330986"/>
              <a:ext cx="1988021" cy="19880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8E696BBB-DDEE-4A31-AFF0-B74A0396C4F3}"/>
                </a:ext>
              </a:extLst>
            </p:cNvPr>
            <p:cNvSpPr/>
            <p:nvPr/>
          </p:nvSpPr>
          <p:spPr>
            <a:xfrm>
              <a:off x="8120825" y="274172"/>
              <a:ext cx="12647327" cy="7755011"/>
            </a:xfrm>
            <a:prstGeom prst="rect">
              <a:avLst/>
            </a:prstGeom>
            <a:noFill/>
            <a:ln w="3175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kumimoji="1" lang="en-US" altLang="ja-JP" dirty="0">
                  <a:solidFill>
                    <a:schemeClr val="bg1"/>
                  </a:solidFill>
                  <a:highlight>
                    <a:srgbClr val="008000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Google Cloud Platform</a:t>
              </a:r>
              <a:endParaRPr kumimoji="1" lang="ja-JP" altLang="en-US" dirty="0">
                <a:solidFill>
                  <a:schemeClr val="bg1"/>
                </a:solidFill>
                <a:highlight>
                  <a:srgbClr val="008000"/>
                </a:highlight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grpSp>
          <p:nvGrpSpPr>
            <p:cNvPr id="1047" name="グループ化 1046">
              <a:extLst>
                <a:ext uri="{FF2B5EF4-FFF2-40B4-BE49-F238E27FC236}">
                  <a16:creationId xmlns:a16="http://schemas.microsoft.com/office/drawing/2014/main" id="{68E2E1A0-C27A-4FCF-9B96-863E22710AF9}"/>
                </a:ext>
              </a:extLst>
            </p:cNvPr>
            <p:cNvGrpSpPr/>
            <p:nvPr/>
          </p:nvGrpSpPr>
          <p:grpSpPr>
            <a:xfrm>
              <a:off x="1235137" y="5636015"/>
              <a:ext cx="1063412" cy="1497479"/>
              <a:chOff x="1272805" y="5833199"/>
              <a:chExt cx="1063412" cy="1497479"/>
            </a:xfrm>
          </p:grpSpPr>
          <p:pic>
            <p:nvPicPr>
              <p:cNvPr id="1046" name="グラフィックス 1045" descr="男性のプロフィール">
                <a:extLst>
                  <a:ext uri="{FF2B5EF4-FFF2-40B4-BE49-F238E27FC236}">
                    <a16:creationId xmlns:a16="http://schemas.microsoft.com/office/drawing/2014/main" id="{3A1164DC-C279-4491-AF77-58366AAA27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347311" y="5833199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AC915DD5-113E-42CC-B76E-0CB4E1316FE1}"/>
                  </a:ext>
                </a:extLst>
              </p:cNvPr>
              <p:cNvSpPr txBox="1"/>
              <p:nvPr/>
            </p:nvSpPr>
            <p:spPr>
              <a:xfrm>
                <a:off x="1272805" y="6684347"/>
                <a:ext cx="106341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Slack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ユーザ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F06C9D40-FFAE-41C4-891A-9F2972BDE072}"/>
                </a:ext>
              </a:extLst>
            </p:cNvPr>
            <p:cNvCxnSpPr/>
            <p:nvPr/>
          </p:nvCxnSpPr>
          <p:spPr>
            <a:xfrm>
              <a:off x="2581448" y="6121075"/>
              <a:ext cx="17813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3E86519E-A634-4F78-91B2-C9F4EA2496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81448" y="6345181"/>
              <a:ext cx="17813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96D6DEC9-EB96-4EDD-8DB1-F021BC8245FC}"/>
                </a:ext>
              </a:extLst>
            </p:cNvPr>
            <p:cNvSpPr txBox="1"/>
            <p:nvPr/>
          </p:nvSpPr>
          <p:spPr>
            <a:xfrm>
              <a:off x="2688094" y="6409876"/>
              <a:ext cx="1640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勤怠の確認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D13949B-D56E-49D8-A6A3-CB8F823C889F}"/>
                </a:ext>
              </a:extLst>
            </p:cNvPr>
            <p:cNvSpPr txBox="1"/>
            <p:nvPr/>
          </p:nvSpPr>
          <p:spPr>
            <a:xfrm>
              <a:off x="2727004" y="5687049"/>
              <a:ext cx="16405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rPr>
                <a:t>勤怠の連絡</a:t>
              </a:r>
              <a:endParaRPr lang="en-US" altLang="ja-JP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HGPｺﾞｼｯｸM" panose="020B0600000000000000" pitchFamily="50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6672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</TotalTime>
  <Words>110</Words>
  <Application>Microsoft Office PowerPoint</Application>
  <PresentationFormat>ユーザー設定</PresentationFormat>
  <Paragraphs>37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HGPｺﾞｼｯｸM</vt:lpstr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清水 彩加</dc:creator>
  <cp:lastModifiedBy>清水 彩加</cp:lastModifiedBy>
  <cp:revision>60</cp:revision>
  <dcterms:created xsi:type="dcterms:W3CDTF">2026-01-19T04:51:34Z</dcterms:created>
  <dcterms:modified xsi:type="dcterms:W3CDTF">2026-01-19T07:25:11Z</dcterms:modified>
</cp:coreProperties>
</file>